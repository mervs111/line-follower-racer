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fcd4a80e-28eb-ce7a-2f32-bddc5c008fe6}">
          <p14:sldIdLst>
            <p14:sldId id="256"/>
            <p14:sldId id="257"/>
          </p14:sldIdLst>
        </p14:section>
        <p14:section name="Masalah dan solusi" id="{f2956ee4-ca64-e99b-0465-80f891742f8e}">
          <p14:sldIdLst>
            <p14:sldId id="258"/>
            <p14:sldId id="259"/>
            <p14:sldId id="260"/>
            <p14:sldId id="261"/>
          </p14:sldIdLst>
        </p14:section>
        <p14:section name="Rancangan" id="{03657843-cdf9-bf05-177b-5d0f7dd95b4e}">
          <p14:sldIdLst>
            <p14:sldId id="262"/>
            <p14:sldId id="263"/>
            <p14:sldId id="264"/>
            <p14:sldId id="265"/>
          </p14:sldIdLst>
        </p14:section>
        <p14:section name="Anggaran" id="{f6bfdb64-ff9e-c613-8a9e-0c3005a3c778}">
          <p14:sldIdLst>
            <p14:sldId id="266"/>
            <p14:sldId id="267"/>
            <p14:sldId id="268"/>
          </p14:sldIdLst>
        </p14:section>
        <p14:section name="Penutup" id="{80e22ff7-7b2a-4def-f063-5696bd1b71bc}">
          <p14:sldIdLst>
            <p14:sldId id="269"/>
            <p14:sldId id="270"/>
          </p14:sldIdLst>
        </p14:section>
        <p14:section name="Lampiran" id="{8778c8e6-8743-dad0-ac8f-46ef874a6be0}">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BFD3E6"/>
                </a:solidFill>
                <a:latin typeface="+mn-lt"/>
              </a:defRPr>
            </a:pPr>
            <a:r>
              <a:rPr sz="1400" b="0" i="0" u="none" strike="noStrike">
                <a:solidFill>
                  <a:srgbClr val="BFD3E6"/>
                </a:solidFill>
                <a:latin typeface="+mn-lt"/>
              </a:rPr>
              <a:t>Biaya per kelompok (ribu rupiah)</a:t>
            </a:r>
          </a:p>
        </c:rich>
      </c:tx>
      <c:layout/>
      <c:overlay val="0"/>
    </c:title>
    <c:autoTitleDeleted val="0"/>
    <c:plotArea>
      <c:layout/>
      <c:barChart>
        <c:barDir val="bar"/>
        <c:grouping val="clustered"/>
        <c:varyColors val="0"/>
        <c:ser>
          <c:idx val="0"/>
          <c:order val="0"/>
          <c:tx>
            <c:strRef>
              <c:f>Sheet1!$B$1</c:f>
              <c:strCache>
                <c:ptCount val="1"/>
                <c:pt idx="0">
                  <c:v>Biaya (ribu rupiah)</c:v>
                </c:pt>
              </c:strCache>
            </c:strRef>
          </c:tx>
          <c:spPr>
            <a:solidFill>
              <a:srgbClr val="9CC7EE"/>
            </a:solidFill>
            <a:effectLst/>
          </c:spPr>
          <c:invertIfNegative val="0"/>
          <c:dLbls>
            <c:numFmt formatCode="&quot;Rp&quot;0&quot; rb&quot;"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cat>
            <c:multiLvlStrRef>
              <c:f>Sheet1!$A$2:$A$7</c:f>
              <c:multiLvlStrCache>
                <c:ptCount val="6"/>
                <c:lvl>
                  <c:pt idx="0">
                    <c:v>PCB &amp; konektor</c:v>
                  </c:pt>
                  <c:pt idx="1">
                    <c:v>Sensor garis</c:v>
                  </c:pt>
                  <c:pt idx="2">
                    <c:v>Penggerak</c:v>
                  </c:pt>
                  <c:pt idx="3">
                    <c:v>Daya &amp; baterai</c:v>
                  </c:pt>
                  <c:pt idx="4">
                    <c:v>Otak &amp; antarmuka</c:v>
                  </c:pt>
                  <c:pt idx="5">
                    <c:v>Mekanik lain</c:v>
                  </c:pt>
                </c:lvl>
              </c:multiLvlStrCache>
            </c:multiLvlStrRef>
          </c:cat>
          <c:val>
            <c:numRef>
              <c:f>Sheet1!$B$2:$B$7</c:f>
              <c:numCache>
                <c:formatCode>General</c:formatCode>
                <c:ptCount val="6"/>
                <c:pt idx="0">
                  <c:v>240</c:v>
                </c:pt>
                <c:pt idx="1">
                  <c:v>218</c:v>
                </c:pt>
                <c:pt idx="2">
                  <c:v>170</c:v>
                </c:pt>
                <c:pt idx="3">
                  <c:v>136</c:v>
                </c:pt>
                <c:pt idx="4">
                  <c:v>118</c:v>
                </c:pt>
                <c:pt idx="5">
                  <c:v>20</c:v>
                </c:pt>
              </c:numCache>
            </c:numRef>
          </c:val>
        </c:ser>
        <c:dLbls>
          <c:numFmt formatCode="&quot;Rp&quot;0&quot; rb&quot;"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autoZero"/>
        <c:auto val="1"/>
        <c:lblAlgn val="ctr"/>
        <c:noMultiLvlLbl val="1"/>
      </c:catAx>
      <c:valAx>
        <c:axId val="2094734552"/>
        <c:scaling>
          <c:orientation val="minMax"/>
          <c:max val="3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BFD3E6"/>
                </a:solidFill>
                <a:latin typeface="+mn-lt"/>
              </a:defRPr>
            </a:pPr>
            <a:r>
              <a:rPr sz="1400" b="0" i="0" u="none" strike="noStrike">
                <a:solidFill>
                  <a:srgbClr val="BFD3E6"/>
                </a:solidFill>
                <a:latin typeface="+mn-lt"/>
              </a:rPr>
              <a:t>Total RAB per revisi (ribu rupiah)</a:t>
            </a:r>
          </a:p>
        </c:rich>
      </c:tx>
      <c:layout/>
      <c:overlay val="0"/>
    </c:title>
    <c:autoTitleDeleted val="0"/>
    <c:plotArea>
      <c:layout/>
      <c:lineChart>
        <c:varyColors val="0"/>
        <c:ser>
          <c:idx val="0"/>
          <c:order val="0"/>
          <c:tx>
            <c:strRef>
              <c:f>Sheet1!$B$1</c:f>
              <c:strCache>
                <c:ptCount val="1"/>
                <c:pt idx="0">
                  <c:v>Total RAB</c:v>
                </c:pt>
              </c:strCache>
            </c:strRef>
          </c:tx>
          <c:spPr>
            <a:solidFill>
              <a:srgbClr val="9CC7EE"/>
            </a:solidFill>
            <a:ln w="38100" cap="flat">
              <a:solidFill>
                <a:srgbClr val="9CC7EE"/>
              </a:solidFill>
              <a:prstDash val="solid"/>
              <a:round/>
            </a:ln>
            <a:effectLst/>
          </c:spPr>
          <c:invertIfNegative val="0"/>
          <c:dLbls>
            <c:numFmt formatCode="General" sourceLinked="0"/>
            <c:txPr>
              <a:bodyPr/>
              <a:lstStyle/>
              <a:p>
                <a:pPr>
                  <a:defRPr b="0" i="0" strike="noStrike" sz="1200" u="none">
                    <a:solidFill>
                      <a:srgbClr val="FFFFFF"/>
                    </a:solidFill>
                    <a:latin typeface="+mn-lt"/>
                  </a:defRPr>
                </a:pPr>
              </a:p>
            </c:txPr>
            <c:dLblPos val="t"/>
            <c:showLegendKey val="0"/>
            <c:showVal val="1"/>
            <c:showCatName val="0"/>
            <c:showSerName val="0"/>
            <c:showPercent val="0"/>
            <c:showBubbleSize val="0"/>
            <c:showLeaderLines val="0"/>
          </c:dLbls>
          <c:marker>
            <c:symbol val="circle"/>
            <c:size val="9"/>
            <c:spPr>
              <a:solidFill>
                <a:srgbClr val="9CC7EE"/>
              </a:solidFill>
              <a:ln w="9525" cap="flat">
                <a:solidFill>
                  <a:srgbClr val="9CC7EE"/>
                </a:solidFill>
                <a:prstDash val="solid"/>
                <a:round/>
              </a:ln>
              <a:effectLst/>
            </c:spPr>
          </c:marker>
          <c:cat>
            <c:multiLvlStrRef>
              <c:f>Sheet1!$A$2:$A$10</c:f>
              <c:multiLvlStrCache>
                <c:ptCount val="9"/>
                <c:lvl>
                  <c:pt idx="0">
                    <c:v>Rev 3.2</c:v>
                  </c:pt>
                  <c:pt idx="1">
                    <c:v>Rev 3.3</c:v>
                  </c:pt>
                  <c:pt idx="2">
                    <c:v>Rev 3.4</c:v>
                  </c:pt>
                  <c:pt idx="3">
                    <c:v>13/10</c:v>
                  </c:pt>
                  <c:pt idx="4">
                    <c:v>15/10</c:v>
                  </c:pt>
                  <c:pt idx="5">
                    <c:v>20/10 (1)</c:v>
                  </c:pt>
                  <c:pt idx="6">
                    <c:v>20/10 (2)</c:v>
                  </c:pt>
                  <c:pt idx="7">
                    <c:v>21/10</c:v>
                  </c:pt>
                  <c:pt idx="8">
                    <c:v>22/10</c:v>
                  </c:pt>
                </c:lvl>
              </c:multiLvlStrCache>
            </c:multiLvlStrRef>
          </c:cat>
          <c:val>
            <c:numRef>
              <c:f>Sheet1!$B$2:$B$10</c:f>
              <c:numCache>
                <c:formatCode>General</c:formatCode>
                <c:ptCount val="9"/>
                <c:pt idx="0">
                  <c:v>845</c:v>
                </c:pt>
                <c:pt idx="1">
                  <c:v>858</c:v>
                </c:pt>
                <c:pt idx="2">
                  <c:v>833</c:v>
                </c:pt>
                <c:pt idx="3">
                  <c:v>896</c:v>
                </c:pt>
                <c:pt idx="4">
                  <c:v>879.5</c:v>
                </c:pt>
                <c:pt idx="5">
                  <c:v>859.5</c:v>
                </c:pt>
                <c:pt idx="6">
                  <c:v>867</c:v>
                </c:pt>
                <c:pt idx="7">
                  <c:v>887</c:v>
                </c:pt>
                <c:pt idx="8">
                  <c:v>902</c:v>
                </c:pt>
              </c:numCache>
            </c:numRef>
          </c:val>
          <c:smooth val="0"/>
        </c:ser>
        <c:dLbls>
          <c:numFmt formatCode="General" sourceLinked="0"/>
          <c:txPr>
            <a:bodyPr/>
            <a:lstStyle/>
            <a:p>
              <a:pPr>
                <a:defRPr b="0" i="0" strike="noStrike" sz="1200" u="none">
                  <a:solidFill>
                    <a:srgbClr val="FFFFFF"/>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Batas Rp900 rb</c:v>
                </c:pt>
              </c:strCache>
            </c:strRef>
          </c:tx>
          <c:spPr>
            <a:solidFill>
              <a:srgbClr val="E57373"/>
            </a:solidFill>
            <a:ln w="25400" cap="flat">
              <a:solidFill>
                <a:srgbClr val="E57373"/>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57373"/>
              </a:solidFill>
              <a:ln w="9525" cap="flat">
                <a:solidFill>
                  <a:srgbClr val="E57373"/>
                </a:solidFill>
                <a:prstDash val="solid"/>
                <a:round/>
              </a:ln>
              <a:effectLst/>
            </c:spPr>
          </c:marker>
          <c:cat>
            <c:multiLvlStrRef>
              <c:f>Sheet1!$A$2:$A$10</c:f>
              <c:multiLvlStrCache>
                <c:ptCount val="9"/>
                <c:lvl>
                  <c:pt idx="0">
                    <c:v>Rev 3.2</c:v>
                  </c:pt>
                  <c:pt idx="1">
                    <c:v>Rev 3.3</c:v>
                  </c:pt>
                  <c:pt idx="2">
                    <c:v>Rev 3.4</c:v>
                  </c:pt>
                  <c:pt idx="3">
                    <c:v>13/10</c:v>
                  </c:pt>
                  <c:pt idx="4">
                    <c:v>15/10</c:v>
                  </c:pt>
                  <c:pt idx="5">
                    <c:v>20/10 (1)</c:v>
                  </c:pt>
                  <c:pt idx="6">
                    <c:v>20/10 (2)</c:v>
                  </c:pt>
                  <c:pt idx="7">
                    <c:v>21/10</c:v>
                  </c:pt>
                  <c:pt idx="8">
                    <c:v>22/10</c:v>
                  </c:pt>
                </c:lvl>
              </c:multiLvlStrCache>
            </c:multiLvlStrRef>
          </c:cat>
          <c:val>
            <c:numRef>
              <c:f>Sheet1!$C$2:$C$10</c:f>
              <c:numCache>
                <c:formatCode>General</c:formatCode>
                <c:ptCount val="9"/>
                <c:pt idx="0">
                  <c:v>900</c:v>
                </c:pt>
                <c:pt idx="1">
                  <c:v>900</c:v>
                </c:pt>
                <c:pt idx="2">
                  <c:v>900</c:v>
                </c:pt>
                <c:pt idx="3">
                  <c:v>900</c:v>
                </c:pt>
                <c:pt idx="4">
                  <c:v>900</c:v>
                </c:pt>
                <c:pt idx="5">
                  <c:v>900</c:v>
                </c:pt>
                <c:pt idx="6">
                  <c:v>900</c:v>
                </c:pt>
                <c:pt idx="7">
                  <c:v>900</c:v>
                </c:pt>
                <c:pt idx="8">
                  <c:v>900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FD3E6"/>
                </a:solidFill>
                <a:latin typeface="+mn-lt"/>
              </a:defRPr>
            </a:pPr>
            <a:endParaRPr lang="en-US"/>
          </a:p>
        </c:txPr>
        <c:crossAx val="2094734552"/>
        <c:crosses val="autoZero"/>
        <c:auto val="1"/>
        <c:lblAlgn val="ctr"/>
        <c:noMultiLvlLbl val="1"/>
      </c:catAx>
      <c:valAx>
        <c:axId val="2094734552"/>
        <c:scaling>
          <c:orientation val="minMax"/>
          <c:max val="920"/>
          <c:min val="800"/>
        </c:scaling>
        <c:delete val="0"/>
        <c:axPos val="l"/>
        <c:majorGridlines>
          <c:spPr>
            <a:ln w="9525" cap="flat">
              <a:solidFill>
                <a:srgbClr val="2A446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BFD3E6"/>
                </a:solidFill>
                <a:latin typeface="+mn-lt"/>
              </a:defRPr>
            </a:pPr>
            <a:endParaRPr lang="en-US"/>
          </a:p>
        </c:txPr>
        <c:crossAx val="2094734554"/>
        <c:crosses val="autoZero"/>
        <c:crossBetween val="between"/>
        <c:majorUnit val="40"/>
      </c:valAx>
      <c:spPr>
        <a:noFill/>
        <a:ln>
          <a:noFill/>
        </a:ln>
        <a:effectLst/>
      </c:spPr>
    </c:plotArea>
    <c:legend>
      <c:legendPos val="b"/>
      <c:overlay val="0"/>
      <c:txPr>
        <a:bodyPr/>
        <a:lstStyle/>
        <a:p>
          <a:pPr>
            <a:defRPr sz="1200">
              <a:solidFill>
                <a:srgbClr val="FFFFF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Kami kelompok P01-5 dengan proyek Line Follower Micro: robot edukasi pengikut garis yang bisa merencanakan rute, hasil reverse engineering kit Ichiduino Pro. Hari ini kami mengajukan RAB untuk pembelian komponen dan fabrikasi PCB.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tim dan pembagian peran. Isi peran tiap anggota sebelum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kit edukasi mahal, sekitar dua juta rupiah, dan dirancang untuk lomba. Dari dosen kami mendapat batas: reverse engineering, anggaran maksimal 900 ribu, minimal bisa ikut garis dan path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kami empat fitur utama: ikut garis dengan PID, path planning dengan peta by index seperti Ichiduino (rute ditulis sebagai urutan langkah: pola sensor lalu aksi), block coding berbasis web, dan fitur keamanan. Biayanya sekitar 45 persen harga kit pembanding.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reverse engineering: fungsi utama kit dipertahankan (12 sensor, OLED), komponen yang mahal atau kurang cocok untuk edukasi diganti. Path planning di kit disusun per indeks lewat mBlock dengan aksi berbasis waktu (ms). Kami pakai cara yang sama, tapi aksi belok dan maju diukur encoder sehingga tidak tergantung tegangan baterai, dan di lintasan grid urutan indeksnya bisa dibuat otomatis dari rute terpendek. Fitur lomba ditiadakan. Kinerja nyata kit akan diukur di lintasan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Sasaran terukur dari charter. Semua bernilai, bersatuan, dan punya cara uji. Sasaran biaya dibahas di bagian RAB.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Arsitektur: input sensor lewat multiplexer ke ESP32, ESP32 mengatur driver motor, encoder memberi umpan balik, OLED dan tombol untuk menu. Sistem daya dari dua baterai 18650 dengan BMS.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Kendali loop tertutup: posisi garis diumpankan ke PID; encoder dipakai untuk jarak dan belok 90 derajat. Path planning memakai peta yang ditentukan di awal (pre-defined map by index, usulan Bu Fira), seperti blok path planning Ichiduino di mBlock: rute ditulis sebagai urutan indeks. Tiap indeks berisi pola sensor pemicu (misalnya persimpangan kiri), aksi (maju, belok kiri, belok kanan), lalu ikuti garis lagi sampai indeks berikutnya. Contoh di grid: dari S, indeks 1 belok kiri, 2 kanan, 3 kiri, 4 kanan, 5 kiri, 6 berhenti di T. Bedanya dengan kit: aksi kami diukur encoder, bukan waktu, dan di lintasan grid urutan indeks bisa dibuat otomatis dari rute terpendek (BFS). Robot tidak perlu menjelajah dulu.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PCB custom, dibuat di KiCad 10. PCB sensor sudah DRC 0 error dan siap cetak; jarak sensor 8 mm dipilih untuk garis lomba 2 cm. PCB utama sudah dirouting, semua jalur tersambung, tinggal 11 error DRC dari dua footprint (transistor Q1 dan saklar SW1) sebelum dicetak. Aturan cetak mengikuti tempat cetak: jalur minimal 0,3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3D versi 16 dari CAD: ukuran sekitar 11,6 x 16,5 x 6,2 cm, setara kit pembanding. PCB menjadi sasis. Body 3D print belum dianggarkan karena menunggu info printer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RAB 902 ribu rupiah. Terbesar untuk fabrikasi dua PCB dan 12 sensor. Rincian lengkap tiap item ada di lampiran.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Alasan pemilihan enam komponen dengan biaya terbesar. Semua harga dari daftar harga toko (tautan di charter).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RAB sudah sembilan kali direvisi dan dijaga dekat batas. Sekarang 902 ribu, lebih 2 ribu (0,2 persen) karena harga QRE1113GR lokal ternyata tiga kali perkiraan. Kalau diminta pas 900 ribu: push button di RAB 4 buah, rancangan memakai 2 (tombol A dan B); mengurangi 2 buah menutup selisih 2 ribu.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Jadwal mengikuti gerbang PjBL. G1 sudah lulus 2 Oktober, hari ini bagian dari G2. Sesudah dana cair: beli komponen, uji di breadboard, lalu pesan PCB paling lambat minggu 10 untuk G3. Tiga risiko yang berkaitan dengan dana dan penanganannya.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kami mohon persetujuan dana 902 ribu rupiah. Rencana sesudah dana cair ada di sisi kanan. Terima kasih, kami siap menjawab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Rincian RAB elektrikal bagian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Rincian RAB elektrikal bagian kedua; total elektrikal 847 ribu.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RAB mekanik dan rekap total 902 ribu. Lintasan uji, breadboard, dan timah di luar RAB.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JUDUL-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SI_A-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SI_B-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SI_TENGAH-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PENUTUP-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875520" y="603504"/>
            <a:ext cx="1371600" cy="457200"/>
          </a:xfrm>
          <a:prstGeom prst="rect">
            <a:avLst/>
          </a:prstGeom>
          <a:noFill/>
          <a:ln/>
        </p:spPr>
        <p:txBody>
          <a:bodyPr wrap="square" lIns="0" tIns="0" rIns="0" bIns="0" rtlCol="0" anchor="ctr"/>
          <a:lstStyle/>
          <a:p>
            <a:pPr algn="r" indent="0" marL="0">
              <a:buNone/>
            </a:pPr>
            <a:r>
              <a:rPr lang="en-US" sz="2500" dirty="0">
                <a:solidFill>
                  <a:schemeClr val="bg1"/>
                </a:solidFill>
              </a:rPr>
              <a:t>2026</a:t>
            </a:r>
            <a:endParaRPr lang="en-US" sz="2500" dirty="0"/>
          </a:p>
        </p:txBody>
      </p:sp>
      <p:sp>
        <p:nvSpPr>
          <p:cNvPr id="3" name="Text 1"/>
          <p:cNvSpPr/>
          <p:nvPr>
            <p:ph idx="101" type="title" hasCustomPrompt="1"/>
          </p:nvPr>
        </p:nvSpPr>
        <p:spPr>
          <a:xfrm>
            <a:off x="1417320" y="1810512"/>
            <a:ext cx="6309360" cy="2697480"/>
          </a:xfrm>
          <a:prstGeom prst="rect">
            <a:avLst/>
          </a:prstGeom>
          <a:noFill/>
          <a:ln/>
        </p:spPr>
        <p:txBody>
          <a:bodyPr wrap="square" rtlCol="0"/>
          <a:lstStyle>
            <a:lvl1pPr algn="l" indent="0" marL="0">
              <a:lnSpc>
                <a:spcPct val="80000"/>
              </a:lnSpc>
              <a:buNone/>
              <a:defRPr lang="en-US" sz="7400" b="1" dirty="0">
                <a:solidFill>
                  <a:schemeClr val="bg1"/>
                </a:solidFill>
              </a:defRPr>
            </a:lvl1pPr>
          </a:lstStyle>
          <a:p>
            <a:pPr algn="l" indent="0" marL="0">
              <a:lnSpc>
                <a:spcPct val="80000"/>
              </a:lnSpc>
              <a:buNone/>
            </a:pPr>
            <a:endParaRPr lang="en-US" sz="7400" dirty="0"/>
          </a:p>
        </p:txBody>
      </p:sp>
      <p:sp>
        <p:nvSpPr>
          <p:cNvPr id="4" name="Text 1"/>
          <p:cNvSpPr/>
          <p:nvPr>
            <p:ph idx="102" type="body" hasCustomPrompt="1"/>
          </p:nvPr>
        </p:nvSpPr>
        <p:spPr>
          <a:xfrm>
            <a:off x="1417320" y="4498848"/>
            <a:ext cx="5852160" cy="384048"/>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5" name="Text 1"/>
          <p:cNvSpPr/>
          <p:nvPr>
            <p:ph idx="103" type="body" hasCustomPrompt="1"/>
          </p:nvPr>
        </p:nvSpPr>
        <p:spPr>
          <a:xfrm>
            <a:off x="1417320" y="4901184"/>
            <a:ext cx="5486400" cy="347472"/>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SI_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124712" y="603504"/>
            <a:ext cx="5029200" cy="365760"/>
          </a:xfrm>
          <a:prstGeom prst="rect">
            <a:avLst/>
          </a:prstGeom>
          <a:noFill/>
          <a:ln/>
        </p:spPr>
        <p:txBody>
          <a:bodyPr wrap="square" lIns="0" tIns="0" rIns="0" bIns="0" rtlCol="0" anchor="ctr"/>
          <a:lstStyle/>
          <a:p>
            <a:pPr indent="0" marL="0">
              <a:buNone/>
            </a:pPr>
            <a:r>
              <a:rPr lang="en-US" sz="1600" dirty="0">
                <a:solidFill>
                  <a:schemeClr val="bg1"/>
                </a:solidFill>
              </a:rPr>
              <a:t>Presentation by Group P01-5</a:t>
            </a:r>
            <a:endParaRPr lang="en-US" sz="1600" dirty="0"/>
          </a:p>
        </p:txBody>
      </p:sp>
      <p:sp>
        <p:nvSpPr>
          <p:cNvPr id="3" name="Text 1"/>
          <p:cNvSpPr/>
          <p:nvPr/>
        </p:nvSpPr>
        <p:spPr>
          <a:xfrm>
            <a:off x="9473184" y="603504"/>
            <a:ext cx="1828800" cy="365760"/>
          </a:xfrm>
          <a:prstGeom prst="rect">
            <a:avLst/>
          </a:prstGeom>
          <a:noFill/>
          <a:ln/>
        </p:spPr>
        <p:txBody>
          <a:bodyPr wrap="square" lIns="0" tIns="0" rIns="0" bIns="0" rtlCol="0" anchor="ctr"/>
          <a:lstStyle/>
          <a:p>
            <a:pPr algn="r" indent="0" marL="0">
              <a:buNone/>
            </a:pPr>
            <a:r>
              <a:rPr lang="en-US" sz="1600" dirty="0">
                <a:solidFill>
                  <a:schemeClr val="bg1"/>
                </a:solidFill>
              </a:rPr>
              <a:t>2026</a:t>
            </a:r>
            <a:endParaRPr lang="en-US" sz="1600" dirty="0"/>
          </a:p>
        </p:txBody>
      </p:sp>
      <p:sp>
        <p:nvSpPr>
          <p:cNvPr id="4" name="Shape 2"/>
          <p:cNvSpPr/>
          <p:nvPr/>
        </p:nvSpPr>
        <p:spPr>
          <a:xfrm>
            <a:off x="1124712" y="1133856"/>
            <a:ext cx="41148" cy="658368"/>
          </a:xfrm>
          <a:prstGeom prst="rect">
            <a:avLst/>
          </a:prstGeom>
          <a:solidFill>
            <a:schemeClr val="bg1"/>
          </a:solidFill>
          <a:ln/>
        </p:spPr>
      </p:sp>
      <p:sp>
        <p:nvSpPr>
          <p:cNvPr id="5" name="Text 3"/>
          <p:cNvSpPr/>
          <p:nvPr>
            <p:ph idx="103" type="title" hasCustomPrompt="1"/>
          </p:nvPr>
        </p:nvSpPr>
        <p:spPr>
          <a:xfrm>
            <a:off x="1353312" y="1069848"/>
            <a:ext cx="9784080" cy="786384"/>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_B">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124712" y="548640"/>
            <a:ext cx="5029200" cy="365760"/>
          </a:xfrm>
          <a:prstGeom prst="rect">
            <a:avLst/>
          </a:prstGeom>
          <a:noFill/>
          <a:ln/>
        </p:spPr>
        <p:txBody>
          <a:bodyPr wrap="square" lIns="0" tIns="0" rIns="0" bIns="0" rtlCol="0" anchor="ctr"/>
          <a:lstStyle/>
          <a:p>
            <a:pPr indent="0" marL="0">
              <a:buNone/>
            </a:pPr>
            <a:r>
              <a:rPr lang="en-US" sz="1600" dirty="0">
                <a:solidFill>
                  <a:schemeClr val="bg1"/>
                </a:solidFill>
              </a:rPr>
              <a:t>Presentation by Group P01-5</a:t>
            </a:r>
            <a:endParaRPr lang="en-US" sz="1600" dirty="0"/>
          </a:p>
        </p:txBody>
      </p:sp>
      <p:sp>
        <p:nvSpPr>
          <p:cNvPr id="3" name="Text 1"/>
          <p:cNvSpPr/>
          <p:nvPr/>
        </p:nvSpPr>
        <p:spPr>
          <a:xfrm>
            <a:off x="9473184" y="548640"/>
            <a:ext cx="1828800" cy="365760"/>
          </a:xfrm>
          <a:prstGeom prst="rect">
            <a:avLst/>
          </a:prstGeom>
          <a:noFill/>
          <a:ln/>
        </p:spPr>
        <p:txBody>
          <a:bodyPr wrap="square" lIns="0" tIns="0" rIns="0" bIns="0" rtlCol="0" anchor="ctr"/>
          <a:lstStyle/>
          <a:p>
            <a:pPr algn="r" indent="0" marL="0">
              <a:buNone/>
            </a:pPr>
            <a:r>
              <a:rPr lang="en-US" sz="1600" dirty="0">
                <a:solidFill>
                  <a:schemeClr val="bg1"/>
                </a:solidFill>
              </a:rPr>
              <a:t>2026</a:t>
            </a:r>
            <a:endParaRPr lang="en-US" sz="1600" dirty="0"/>
          </a:p>
        </p:txBody>
      </p:sp>
      <p:sp>
        <p:nvSpPr>
          <p:cNvPr id="4" name="Shape 2"/>
          <p:cNvSpPr/>
          <p:nvPr/>
        </p:nvSpPr>
        <p:spPr>
          <a:xfrm>
            <a:off x="1124712" y="1133856"/>
            <a:ext cx="41148" cy="658368"/>
          </a:xfrm>
          <a:prstGeom prst="rect">
            <a:avLst/>
          </a:prstGeom>
          <a:solidFill>
            <a:schemeClr val="bg1"/>
          </a:solidFill>
          <a:ln/>
        </p:spPr>
      </p:sp>
      <p:sp>
        <p:nvSpPr>
          <p:cNvPr id="5" name="Text 3"/>
          <p:cNvSpPr/>
          <p:nvPr>
            <p:ph idx="103" type="title" hasCustomPrompt="1"/>
          </p:nvPr>
        </p:nvSpPr>
        <p:spPr>
          <a:xfrm>
            <a:off x="1353312" y="1069848"/>
            <a:ext cx="9784080" cy="786384"/>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SI_TENGAH">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124712" y="603504"/>
            <a:ext cx="5029200" cy="365760"/>
          </a:xfrm>
          <a:prstGeom prst="rect">
            <a:avLst/>
          </a:prstGeom>
          <a:noFill/>
          <a:ln/>
        </p:spPr>
        <p:txBody>
          <a:bodyPr wrap="square" lIns="0" tIns="0" rIns="0" bIns="0" rtlCol="0" anchor="ctr"/>
          <a:lstStyle/>
          <a:p>
            <a:pPr indent="0" marL="0">
              <a:buNone/>
            </a:pPr>
            <a:r>
              <a:rPr lang="en-US" sz="1600" dirty="0">
                <a:solidFill>
                  <a:schemeClr val="bg1"/>
                </a:solidFill>
              </a:rPr>
              <a:t>Presentation by Group P01-5</a:t>
            </a:r>
            <a:endParaRPr lang="en-US" sz="1600" dirty="0"/>
          </a:p>
        </p:txBody>
      </p:sp>
      <p:sp>
        <p:nvSpPr>
          <p:cNvPr id="3" name="Text 1"/>
          <p:cNvSpPr/>
          <p:nvPr/>
        </p:nvSpPr>
        <p:spPr>
          <a:xfrm>
            <a:off x="9473184" y="603504"/>
            <a:ext cx="1828800" cy="365760"/>
          </a:xfrm>
          <a:prstGeom prst="rect">
            <a:avLst/>
          </a:prstGeom>
          <a:noFill/>
          <a:ln/>
        </p:spPr>
        <p:txBody>
          <a:bodyPr wrap="square" lIns="0" tIns="0" rIns="0" bIns="0" rtlCol="0" anchor="ctr"/>
          <a:lstStyle/>
          <a:p>
            <a:pPr algn="r" indent="0" marL="0">
              <a:buNone/>
            </a:pPr>
            <a:r>
              <a:rPr lang="en-US" sz="1600" dirty="0">
                <a:solidFill>
                  <a:schemeClr val="bg1"/>
                </a:solidFill>
              </a:rPr>
              <a:t>2026</a:t>
            </a:r>
            <a:endParaRPr lang="en-US" sz="1600" dirty="0"/>
          </a:p>
        </p:txBody>
      </p:sp>
      <p:sp>
        <p:nvSpPr>
          <p:cNvPr id="4" name="Text 2"/>
          <p:cNvSpPr/>
          <p:nvPr>
            <p:ph idx="102" type="title" hasCustomPrompt="1"/>
          </p:nvPr>
        </p:nvSpPr>
        <p:spPr>
          <a:xfrm>
            <a:off x="1463040" y="1024128"/>
            <a:ext cx="9262872" cy="786384"/>
          </a:xfrm>
          <a:prstGeom prst="rect">
            <a:avLst/>
          </a:prstGeom>
          <a:noFill/>
          <a:ln/>
        </p:spPr>
        <p:txBody>
          <a:bodyPr wrap="square" rtlCol="0"/>
          <a:lstStyle>
            <a:lvl1pPr algn="ctr" indent="0" marL="0">
              <a:buNone/>
              <a:defRPr lang="en-US" sz="4000" b="1" dirty="0">
                <a:solidFill>
                  <a:schemeClr val="bg1"/>
                </a:solidFill>
              </a:defRPr>
            </a:lvl1pPr>
          </a:lstStyle>
          <a:p>
            <a:pPr algn="ctr" indent="0" marL="0">
              <a:buNone/>
            </a:pPr>
            <a:endParaRPr lang="en-US" sz="4000" dirty="0"/>
          </a:p>
        </p:txBody>
      </p:sp>
      <p:sp>
        <p:nvSpPr>
          <p:cNvPr id="5" name="Shape 2"/>
          <p:cNvSpPr/>
          <p:nvPr/>
        </p:nvSpPr>
        <p:spPr>
          <a:xfrm>
            <a:off x="3017520" y="1892808"/>
            <a:ext cx="6153912" cy="32004"/>
          </a:xfrm>
          <a:prstGeom prst="rect">
            <a:avLst/>
          </a:prstGeom>
          <a:solidFill>
            <a:schemeClr val="bg1"/>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ENUTUP">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124712" y="658368"/>
            <a:ext cx="5029200" cy="365760"/>
          </a:xfrm>
          <a:prstGeom prst="rect">
            <a:avLst/>
          </a:prstGeom>
          <a:noFill/>
          <a:ln/>
        </p:spPr>
        <p:txBody>
          <a:bodyPr wrap="square" lIns="0" tIns="0" rIns="0" bIns="0" rtlCol="0" anchor="ctr"/>
          <a:lstStyle/>
          <a:p>
            <a:pPr indent="0" marL="0">
              <a:buNone/>
            </a:pPr>
            <a:r>
              <a:rPr lang="en-US" sz="1600" dirty="0">
                <a:solidFill>
                  <a:schemeClr val="bg1"/>
                </a:solidFill>
              </a:rPr>
              <a:t>Presentation by Group P01-5</a:t>
            </a:r>
            <a:endParaRPr lang="en-US" sz="1600" dirty="0"/>
          </a:p>
        </p:txBody>
      </p:sp>
      <p:sp>
        <p:nvSpPr>
          <p:cNvPr id="3" name="Text 1"/>
          <p:cNvSpPr/>
          <p:nvPr/>
        </p:nvSpPr>
        <p:spPr>
          <a:xfrm>
            <a:off x="9473184" y="658368"/>
            <a:ext cx="1828800" cy="365760"/>
          </a:xfrm>
          <a:prstGeom prst="rect">
            <a:avLst/>
          </a:prstGeom>
          <a:noFill/>
          <a:ln/>
        </p:spPr>
        <p:txBody>
          <a:bodyPr wrap="square" lIns="0" tIns="0" rIns="0" bIns="0" rtlCol="0" anchor="ctr"/>
          <a:lstStyle/>
          <a:p>
            <a:pPr algn="r" indent="0" marL="0">
              <a:buNone/>
            </a:pPr>
            <a:r>
              <a:rPr lang="en-US" sz="1600" dirty="0">
                <a:solidFill>
                  <a:schemeClr val="bg1"/>
                </a:solidFill>
              </a:rPr>
              <a:t>2026</a:t>
            </a:r>
            <a:endParaRPr lang="en-US" sz="1600" dirty="0"/>
          </a:p>
        </p:txBody>
      </p:sp>
      <p:sp>
        <p:nvSpPr>
          <p:cNvPr id="4" name="Shape 2"/>
          <p:cNvSpPr/>
          <p:nvPr/>
        </p:nvSpPr>
        <p:spPr>
          <a:xfrm>
            <a:off x="1298448" y="1938528"/>
            <a:ext cx="41148" cy="2788920"/>
          </a:xfrm>
          <a:prstGeom prst="rect">
            <a:avLst/>
          </a:prstGeom>
          <a:solidFill>
            <a:schemeClr val="bg1"/>
          </a:solidFill>
          <a:ln/>
        </p:spPr>
      </p:sp>
      <p:sp>
        <p:nvSpPr>
          <p:cNvPr id="5" name="Text 3"/>
          <p:cNvSpPr/>
          <p:nvPr>
            <p:ph idx="103" type="title" hasCustomPrompt="1"/>
          </p:nvPr>
        </p:nvSpPr>
        <p:spPr>
          <a:xfrm>
            <a:off x="1536192" y="1828800"/>
            <a:ext cx="5669280" cy="3017520"/>
          </a:xfrm>
          <a:prstGeom prst="rect">
            <a:avLst/>
          </a:prstGeom>
          <a:noFill/>
          <a:ln/>
        </p:spPr>
        <p:txBody>
          <a:bodyPr wrap="square" rtlCol="0"/>
          <a:lstStyle>
            <a:lvl1pPr algn="l" indent="0" marL="0">
              <a:lnSpc>
                <a:spcPct val="85000"/>
              </a:lnSpc>
              <a:buNone/>
              <a:defRPr lang="en-US" sz="8800" b="1" dirty="0">
                <a:solidFill>
                  <a:schemeClr val="bg1"/>
                </a:solidFill>
              </a:defRPr>
            </a:lvl1pPr>
          </a:lstStyle>
          <a:p>
            <a:pPr algn="l" indent="0" marL="0">
              <a:lnSpc>
                <a:spcPct val="85000"/>
              </a:lnSpc>
              <a:buNone/>
            </a:pPr>
            <a:endParaRPr lang="en-US" sz="8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1417320" y="1810512"/>
            <a:ext cx="6309360" cy="2697480"/>
          </a:xfrm>
          <a:prstGeom prst="rect">
            <a:avLst/>
          </a:prstGeom>
          <a:noFill/>
          <a:ln/>
        </p:spPr>
        <p:txBody>
          <a:bodyPr wrap="square" lIns="0" tIns="0" rIns="0" bIns="0" rtlCol="0" anchor="t"/>
          <a:lstStyle/>
          <a:p>
            <a:pPr algn="l" indent="0" marL="0">
              <a:lnSpc>
                <a:spcPct val="80000"/>
              </a:lnSpc>
              <a:buNone/>
            </a:pPr>
            <a:r>
              <a:rPr lang="en-US" sz="7400" b="1" dirty="0">
                <a:solidFill>
                  <a:schemeClr val="bg1"/>
                </a:solidFill>
              </a:rPr>
              <a:t>LINE</a:t>
            </a:r>
            <a:endParaRPr lang="en-US" sz="7400" dirty="0"/>
          </a:p>
          <a:p>
            <a:pPr algn="l" indent="0" marL="0">
              <a:lnSpc>
                <a:spcPct val="80000"/>
              </a:lnSpc>
              <a:buNone/>
            </a:pPr>
            <a:r>
              <a:rPr lang="en-US" sz="7400" b="1" dirty="0">
                <a:solidFill>
                  <a:schemeClr val="bg1"/>
                </a:solidFill>
              </a:rPr>
              <a:t>FOLLOWER</a:t>
            </a:r>
            <a:endParaRPr lang="en-US" sz="7400" dirty="0"/>
          </a:p>
          <a:p>
            <a:pPr algn="l" indent="0" marL="0">
              <a:lnSpc>
                <a:spcPct val="80000"/>
              </a:lnSpc>
              <a:buNone/>
            </a:pPr>
            <a:r>
              <a:rPr lang="en-US" sz="7400" b="1" dirty="0">
                <a:solidFill>
                  <a:schemeClr val="bg1"/>
                </a:solidFill>
              </a:rPr>
              <a:t>MICRO</a:t>
            </a:r>
            <a:endParaRPr lang="en-US" sz="7400" dirty="0"/>
          </a:p>
        </p:txBody>
      </p:sp>
      <p:sp>
        <p:nvSpPr>
          <p:cNvPr id="3" name="Text 1"/>
          <p:cNvSpPr/>
          <p:nvPr>
            <p:ph idx="102" type="body" hasCustomPrompt="1"/>
          </p:nvPr>
        </p:nvSpPr>
        <p:spPr>
          <a:xfrm>
            <a:off x="1417320" y="4498848"/>
            <a:ext cx="5852160" cy="384048"/>
          </a:xfrm>
          <a:prstGeom prst="rect">
            <a:avLst/>
          </a:prstGeom>
          <a:noFill/>
          <a:ln/>
        </p:spPr>
        <p:txBody>
          <a:bodyPr wrap="square" lIns="0" tIns="0" rIns="0" bIns="0" rtlCol="0" anchor="ctr"/>
          <a:lstStyle/>
          <a:p>
            <a:pPr algn="l" indent="0" marL="0">
              <a:buNone/>
            </a:pPr>
            <a:r>
              <a:rPr lang="en-US" sz="2000" dirty="0">
                <a:solidFill>
                  <a:schemeClr val="bg1"/>
                </a:solidFill>
              </a:rPr>
              <a:t>Presentation by Group P01-5</a:t>
            </a:r>
            <a:endParaRPr lang="en-US" sz="2000" dirty="0"/>
          </a:p>
        </p:txBody>
      </p:sp>
      <p:sp>
        <p:nvSpPr>
          <p:cNvPr id="4" name="Text 1"/>
          <p:cNvSpPr/>
          <p:nvPr>
            <p:ph idx="103" type="body" hasCustomPrompt="1"/>
          </p:nvPr>
        </p:nvSpPr>
        <p:spPr>
          <a:xfrm>
            <a:off x="1417320" y="4901184"/>
            <a:ext cx="5486400" cy="347472"/>
          </a:xfrm>
          <a:prstGeom prst="rect">
            <a:avLst/>
          </a:prstGeom>
          <a:noFill/>
          <a:ln/>
        </p:spPr>
        <p:txBody>
          <a:bodyPr wrap="square" lIns="0" tIns="0" rIns="0" bIns="0" rtlCol="0" anchor="t"/>
          <a:lstStyle/>
          <a:p>
            <a:pPr algn="l" indent="0" marL="0">
              <a:buNone/>
            </a:pPr>
            <a:r>
              <a:rPr lang="en-US" sz="1600" dirty="0">
                <a:solidFill>
                  <a:schemeClr val="bg2"/>
                </a:solidFill>
              </a:rPr>
              <a:t>Pitching RAB · 27 Oktober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TIM KAMI</a:t>
            </a:r>
            <a:endParaRPr lang="en-US" sz="4000" dirty="0"/>
          </a:p>
        </p:txBody>
      </p:sp>
      <p:sp>
        <p:nvSpPr>
          <p:cNvPr id="3" name="Kartu anggota 1"/>
          <p:cNvSpPr/>
          <p:nvPr/>
        </p:nvSpPr>
        <p:spPr>
          <a:xfrm>
            <a:off x="1124712" y="2148840"/>
            <a:ext cx="2331720" cy="2514600"/>
          </a:xfrm>
          <a:prstGeom prst="rect">
            <a:avLst/>
          </a:prstGeom>
          <a:solidFill>
            <a:schemeClr val="accent5"/>
          </a:solidFill>
          <a:ln/>
        </p:spPr>
      </p:sp>
      <p:sp>
        <p:nvSpPr>
          <p:cNvPr id="4" name="Inisial 1 lingkaran"/>
          <p:cNvSpPr/>
          <p:nvPr/>
        </p:nvSpPr>
        <p:spPr>
          <a:xfrm>
            <a:off x="1307592" y="2350008"/>
            <a:ext cx="713232" cy="713232"/>
          </a:xfrm>
          <a:prstGeom prst="ellipse">
            <a:avLst/>
          </a:prstGeom>
          <a:solidFill>
            <a:schemeClr val="accent1"/>
          </a:solidFill>
          <a:ln/>
        </p:spPr>
      </p:sp>
      <p:sp>
        <p:nvSpPr>
          <p:cNvPr id="5" name="Inisial 1"/>
          <p:cNvSpPr txBox="1"/>
          <p:nvPr/>
        </p:nvSpPr>
        <p:spPr>
          <a:xfrm>
            <a:off x="1307592" y="2350008"/>
            <a:ext cx="713232" cy="713232"/>
          </a:xfrm>
          <a:prstGeom prst="rect">
            <a:avLst/>
          </a:prstGeom>
          <a:noFill/>
          <a:ln/>
        </p:spPr>
        <p:txBody>
          <a:bodyPr wrap="square" lIns="0" tIns="0" rIns="0" bIns="0" rtlCol="0" anchor="ctr"/>
          <a:lstStyle/>
          <a:p>
            <a:pPr algn="ctr" indent="0" marL="0">
              <a:buNone/>
            </a:pPr>
            <a:r>
              <a:rPr lang="en-US" sz="1800" b="1" dirty="0">
                <a:solidFill>
                  <a:schemeClr val="bg1"/>
                </a:solidFill>
              </a:rPr>
              <a:t>MS</a:t>
            </a:r>
            <a:endParaRPr lang="en-US" sz="1800" dirty="0"/>
          </a:p>
        </p:txBody>
      </p:sp>
      <p:sp>
        <p:nvSpPr>
          <p:cNvPr id="6" name="Anggota 1"/>
          <p:cNvSpPr txBox="1"/>
          <p:nvPr/>
        </p:nvSpPr>
        <p:spPr>
          <a:xfrm>
            <a:off x="1307592" y="3200400"/>
            <a:ext cx="1965960" cy="13258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Mararevi Subagyo</a:t>
            </a:r>
            <a:endParaRPr lang="en-US" sz="1600" dirty="0"/>
          </a:p>
          <a:p>
            <a:pPr indent="0" marL="0">
              <a:spcAft>
                <a:spcPts val="800"/>
              </a:spcAft>
              <a:buNone/>
            </a:pPr>
            <a:r>
              <a:rPr lang="en-US" sz="1400" dirty="0">
                <a:solidFill>
                  <a:schemeClr val="bg2"/>
                </a:solidFill>
              </a:rPr>
              <a:t>NRP 2040241036</a:t>
            </a:r>
            <a:endParaRPr lang="en-US" sz="1600" dirty="0"/>
          </a:p>
          <a:p>
            <a:pPr indent="0" marL="0">
              <a:buNone/>
            </a:pPr>
            <a:r>
              <a:rPr lang="en-US" sz="1400" dirty="0">
                <a:solidFill>
                  <a:schemeClr val="bg1"/>
                </a:solidFill>
              </a:rPr>
              <a:t>Project Manager, [isi peran]</a:t>
            </a:r>
            <a:endParaRPr lang="en-US" sz="1600" dirty="0"/>
          </a:p>
        </p:txBody>
      </p:sp>
      <p:sp>
        <p:nvSpPr>
          <p:cNvPr id="7" name="Kartu anggota 2"/>
          <p:cNvSpPr/>
          <p:nvPr/>
        </p:nvSpPr>
        <p:spPr>
          <a:xfrm>
            <a:off x="3657600" y="2148840"/>
            <a:ext cx="2331720" cy="2514600"/>
          </a:xfrm>
          <a:prstGeom prst="rect">
            <a:avLst/>
          </a:prstGeom>
          <a:solidFill>
            <a:schemeClr val="accent5"/>
          </a:solidFill>
          <a:ln/>
        </p:spPr>
      </p:sp>
      <p:sp>
        <p:nvSpPr>
          <p:cNvPr id="8" name="Inisial 2 lingkaran"/>
          <p:cNvSpPr/>
          <p:nvPr/>
        </p:nvSpPr>
        <p:spPr>
          <a:xfrm>
            <a:off x="3840480" y="2350008"/>
            <a:ext cx="713232" cy="713232"/>
          </a:xfrm>
          <a:prstGeom prst="ellipse">
            <a:avLst/>
          </a:prstGeom>
          <a:solidFill>
            <a:schemeClr val="accent1"/>
          </a:solidFill>
          <a:ln/>
        </p:spPr>
      </p:sp>
      <p:sp>
        <p:nvSpPr>
          <p:cNvPr id="9" name="Inisial 2"/>
          <p:cNvSpPr txBox="1"/>
          <p:nvPr/>
        </p:nvSpPr>
        <p:spPr>
          <a:xfrm>
            <a:off x="3840480" y="2350008"/>
            <a:ext cx="713232" cy="713232"/>
          </a:xfrm>
          <a:prstGeom prst="rect">
            <a:avLst/>
          </a:prstGeom>
          <a:noFill/>
          <a:ln/>
        </p:spPr>
        <p:txBody>
          <a:bodyPr wrap="square" lIns="0" tIns="0" rIns="0" bIns="0" rtlCol="0" anchor="ctr"/>
          <a:lstStyle/>
          <a:p>
            <a:pPr algn="ctr" indent="0" marL="0">
              <a:buNone/>
            </a:pPr>
            <a:r>
              <a:rPr lang="en-US" sz="1800" b="1" dirty="0">
                <a:solidFill>
                  <a:schemeClr val="bg1"/>
                </a:solidFill>
              </a:rPr>
              <a:t>FR</a:t>
            </a:r>
            <a:endParaRPr lang="en-US" sz="1800" dirty="0"/>
          </a:p>
        </p:txBody>
      </p:sp>
      <p:sp>
        <p:nvSpPr>
          <p:cNvPr id="10" name="Anggota 2"/>
          <p:cNvSpPr txBox="1"/>
          <p:nvPr/>
        </p:nvSpPr>
        <p:spPr>
          <a:xfrm>
            <a:off x="3840480" y="3200400"/>
            <a:ext cx="1965960" cy="13258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Fernandy Raditya Wardhana</a:t>
            </a:r>
            <a:endParaRPr lang="en-US" sz="1600" dirty="0"/>
          </a:p>
          <a:p>
            <a:pPr indent="0" marL="0">
              <a:spcAft>
                <a:spcPts val="800"/>
              </a:spcAft>
              <a:buNone/>
            </a:pPr>
            <a:r>
              <a:rPr lang="en-US" sz="1400" dirty="0">
                <a:solidFill>
                  <a:schemeClr val="bg2"/>
                </a:solidFill>
              </a:rPr>
              <a:t>NRP 2040241007</a:t>
            </a:r>
            <a:endParaRPr lang="en-US" sz="1600" dirty="0"/>
          </a:p>
          <a:p>
            <a:pPr indent="0" marL="0">
              <a:buNone/>
            </a:pPr>
            <a:r>
              <a:rPr lang="en-US" sz="1400" dirty="0">
                <a:solidFill>
                  <a:schemeClr val="bg1"/>
                </a:solidFill>
              </a:rPr>
              <a:t>[isi peran]</a:t>
            </a:r>
            <a:endParaRPr lang="en-US" sz="1600" dirty="0"/>
          </a:p>
        </p:txBody>
      </p:sp>
      <p:sp>
        <p:nvSpPr>
          <p:cNvPr id="11" name="Kartu anggota 3"/>
          <p:cNvSpPr/>
          <p:nvPr/>
        </p:nvSpPr>
        <p:spPr>
          <a:xfrm>
            <a:off x="6190488" y="2148840"/>
            <a:ext cx="2331720" cy="2514600"/>
          </a:xfrm>
          <a:prstGeom prst="rect">
            <a:avLst/>
          </a:prstGeom>
          <a:solidFill>
            <a:schemeClr val="accent5"/>
          </a:solidFill>
          <a:ln/>
        </p:spPr>
      </p:sp>
      <p:sp>
        <p:nvSpPr>
          <p:cNvPr id="12" name="Inisial 3 lingkaran"/>
          <p:cNvSpPr/>
          <p:nvPr/>
        </p:nvSpPr>
        <p:spPr>
          <a:xfrm>
            <a:off x="6373368" y="2350008"/>
            <a:ext cx="713232" cy="713232"/>
          </a:xfrm>
          <a:prstGeom prst="ellipse">
            <a:avLst/>
          </a:prstGeom>
          <a:solidFill>
            <a:schemeClr val="accent1"/>
          </a:solidFill>
          <a:ln/>
        </p:spPr>
      </p:sp>
      <p:sp>
        <p:nvSpPr>
          <p:cNvPr id="13" name="Inisial 3"/>
          <p:cNvSpPr txBox="1"/>
          <p:nvPr/>
        </p:nvSpPr>
        <p:spPr>
          <a:xfrm>
            <a:off x="6373368" y="2350008"/>
            <a:ext cx="713232" cy="713232"/>
          </a:xfrm>
          <a:prstGeom prst="rect">
            <a:avLst/>
          </a:prstGeom>
          <a:noFill/>
          <a:ln/>
        </p:spPr>
        <p:txBody>
          <a:bodyPr wrap="square" lIns="0" tIns="0" rIns="0" bIns="0" rtlCol="0" anchor="ctr"/>
          <a:lstStyle/>
          <a:p>
            <a:pPr algn="ctr" indent="0" marL="0">
              <a:buNone/>
            </a:pPr>
            <a:r>
              <a:rPr lang="en-US" sz="1800" b="1" dirty="0">
                <a:solidFill>
                  <a:schemeClr val="bg1"/>
                </a:solidFill>
              </a:rPr>
              <a:t>AI</a:t>
            </a:r>
            <a:endParaRPr lang="en-US" sz="1800" dirty="0"/>
          </a:p>
        </p:txBody>
      </p:sp>
      <p:sp>
        <p:nvSpPr>
          <p:cNvPr id="14" name="Anggota 3"/>
          <p:cNvSpPr txBox="1"/>
          <p:nvPr/>
        </p:nvSpPr>
        <p:spPr>
          <a:xfrm>
            <a:off x="6373368" y="3200400"/>
            <a:ext cx="1965960" cy="13258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Achmad Iqbal Adiputra</a:t>
            </a:r>
            <a:endParaRPr lang="en-US" sz="1600" dirty="0"/>
          </a:p>
          <a:p>
            <a:pPr indent="0" marL="0">
              <a:spcAft>
                <a:spcPts val="800"/>
              </a:spcAft>
              <a:buNone/>
            </a:pPr>
            <a:r>
              <a:rPr lang="en-US" sz="1400" dirty="0">
                <a:solidFill>
                  <a:schemeClr val="bg2"/>
                </a:solidFill>
              </a:rPr>
              <a:t>NRP 2040241121</a:t>
            </a:r>
            <a:endParaRPr lang="en-US" sz="1600" dirty="0"/>
          </a:p>
          <a:p>
            <a:pPr indent="0" marL="0">
              <a:buNone/>
            </a:pPr>
            <a:r>
              <a:rPr lang="en-US" sz="1400" dirty="0">
                <a:solidFill>
                  <a:schemeClr val="bg1"/>
                </a:solidFill>
              </a:rPr>
              <a:t>[isi peran]</a:t>
            </a:r>
            <a:endParaRPr lang="en-US" sz="1600" dirty="0"/>
          </a:p>
        </p:txBody>
      </p:sp>
      <p:sp>
        <p:nvSpPr>
          <p:cNvPr id="15" name="Kartu anggota 4"/>
          <p:cNvSpPr/>
          <p:nvPr/>
        </p:nvSpPr>
        <p:spPr>
          <a:xfrm>
            <a:off x="8723376" y="2148840"/>
            <a:ext cx="2331720" cy="2514600"/>
          </a:xfrm>
          <a:prstGeom prst="rect">
            <a:avLst/>
          </a:prstGeom>
          <a:solidFill>
            <a:schemeClr val="accent5"/>
          </a:solidFill>
          <a:ln/>
        </p:spPr>
      </p:sp>
      <p:sp>
        <p:nvSpPr>
          <p:cNvPr id="16" name="Inisial 4 lingkaran"/>
          <p:cNvSpPr/>
          <p:nvPr/>
        </p:nvSpPr>
        <p:spPr>
          <a:xfrm>
            <a:off x="8906256" y="2350008"/>
            <a:ext cx="713232" cy="713232"/>
          </a:xfrm>
          <a:prstGeom prst="ellipse">
            <a:avLst/>
          </a:prstGeom>
          <a:solidFill>
            <a:schemeClr val="accent1"/>
          </a:solidFill>
          <a:ln/>
        </p:spPr>
      </p:sp>
      <p:sp>
        <p:nvSpPr>
          <p:cNvPr id="17" name="Inisial 4"/>
          <p:cNvSpPr txBox="1"/>
          <p:nvPr/>
        </p:nvSpPr>
        <p:spPr>
          <a:xfrm>
            <a:off x="8906256" y="2350008"/>
            <a:ext cx="713232" cy="713232"/>
          </a:xfrm>
          <a:prstGeom prst="rect">
            <a:avLst/>
          </a:prstGeom>
          <a:noFill/>
          <a:ln/>
        </p:spPr>
        <p:txBody>
          <a:bodyPr wrap="square" lIns="0" tIns="0" rIns="0" bIns="0" rtlCol="0" anchor="ctr"/>
          <a:lstStyle/>
          <a:p>
            <a:pPr algn="ctr" indent="0" marL="0">
              <a:buNone/>
            </a:pPr>
            <a:r>
              <a:rPr lang="en-US" sz="1800" b="1" dirty="0">
                <a:solidFill>
                  <a:schemeClr val="bg1"/>
                </a:solidFill>
              </a:rPr>
              <a:t>AD</a:t>
            </a:r>
            <a:endParaRPr lang="en-US" sz="1800" dirty="0"/>
          </a:p>
        </p:txBody>
      </p:sp>
      <p:sp>
        <p:nvSpPr>
          <p:cNvPr id="18" name="Anggota 4"/>
          <p:cNvSpPr txBox="1"/>
          <p:nvPr/>
        </p:nvSpPr>
        <p:spPr>
          <a:xfrm>
            <a:off x="8906256" y="3200400"/>
            <a:ext cx="1965960" cy="13258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Adhityanoval Dewa Mahendra</a:t>
            </a:r>
            <a:endParaRPr lang="en-US" sz="1600" dirty="0"/>
          </a:p>
          <a:p>
            <a:pPr indent="0" marL="0">
              <a:spcAft>
                <a:spcPts val="800"/>
              </a:spcAft>
              <a:buNone/>
            </a:pPr>
            <a:r>
              <a:rPr lang="en-US" sz="1400" dirty="0">
                <a:solidFill>
                  <a:schemeClr val="bg2"/>
                </a:solidFill>
              </a:rPr>
              <a:t>NRP 2040241085</a:t>
            </a:r>
            <a:endParaRPr lang="en-US" sz="1600" dirty="0"/>
          </a:p>
          <a:p>
            <a:pPr indent="0" marL="0">
              <a:buNone/>
            </a:pPr>
            <a:r>
              <a:rPr lang="en-US" sz="1400" dirty="0">
                <a:solidFill>
                  <a:schemeClr val="bg1"/>
                </a:solidFill>
              </a:rPr>
              <a:t>[isi peran]</a:t>
            </a:r>
            <a:endParaRPr lang="en-US" sz="1600" dirty="0"/>
          </a:p>
        </p:txBody>
      </p:sp>
      <p:sp>
        <p:nvSpPr>
          <p:cNvPr id="19" name="Pembimbing"/>
          <p:cNvSpPr txBox="1"/>
          <p:nvPr/>
        </p:nvSpPr>
        <p:spPr>
          <a:xfrm>
            <a:off x="1124712" y="4956048"/>
            <a:ext cx="7315200" cy="365760"/>
          </a:xfrm>
          <a:prstGeom prst="rect">
            <a:avLst/>
          </a:prstGeom>
          <a:noFill/>
          <a:ln/>
        </p:spPr>
        <p:txBody>
          <a:bodyPr wrap="square" lIns="0" tIns="0" rIns="0" bIns="0" rtlCol="0" anchor="ctr"/>
          <a:lstStyle/>
          <a:p>
            <a:pPr indent="0" marL="0">
              <a:buNone/>
            </a:pPr>
            <a:r>
              <a:rPr lang="en-US" sz="1600" b="1" dirty="0">
                <a:solidFill>
                  <a:schemeClr val="bg1"/>
                </a:solidFill>
              </a:rPr>
              <a:t>Dosen pembimbing: </a:t>
            </a:r>
            <a:pPr indent="0" marL="0">
              <a:buNone/>
            </a:pPr>
            <a:r>
              <a:rPr lang="en-US" sz="1600" dirty="0">
                <a:solidFill>
                  <a:schemeClr val="bg1"/>
                </a:solidFill>
              </a:rPr>
              <a:t>Fira Aulia, S.Tr.T, M.Tr.T</a:t>
            </a:r>
            <a:endParaRPr lang="en-US" sz="1600" dirty="0"/>
          </a:p>
        </p:txBody>
      </p:sp>
      <p:sp>
        <p:nvSpPr>
          <p:cNvPr id="20" name="Titik hias 1"/>
          <p:cNvSpPr/>
          <p:nvPr/>
        </p:nvSpPr>
        <p:spPr>
          <a:xfrm>
            <a:off x="9966960" y="5074920"/>
            <a:ext cx="155448" cy="155448"/>
          </a:xfrm>
          <a:prstGeom prst="ellipse">
            <a:avLst/>
          </a:prstGeom>
          <a:solidFill>
            <a:schemeClr val="bg1"/>
          </a:solidFill>
          <a:ln/>
        </p:spPr>
      </p:sp>
      <p:sp>
        <p:nvSpPr>
          <p:cNvPr id="21" name="Titik hias 2"/>
          <p:cNvSpPr/>
          <p:nvPr/>
        </p:nvSpPr>
        <p:spPr>
          <a:xfrm>
            <a:off x="10213848" y="5074920"/>
            <a:ext cx="155448" cy="155448"/>
          </a:xfrm>
          <a:prstGeom prst="ellipse">
            <a:avLst/>
          </a:prstGeom>
          <a:solidFill>
            <a:schemeClr val="bg1"/>
          </a:solidFill>
          <a:ln/>
        </p:spPr>
      </p:sp>
      <p:sp>
        <p:nvSpPr>
          <p:cNvPr id="22" name="Titik hias 3"/>
          <p:cNvSpPr/>
          <p:nvPr/>
        </p:nvSpPr>
        <p:spPr>
          <a:xfrm>
            <a:off x="10460736" y="5074920"/>
            <a:ext cx="155448" cy="155448"/>
          </a:xfrm>
          <a:prstGeom prst="ellipse">
            <a:avLst/>
          </a:prstGeom>
          <a:solidFill>
            <a:schemeClr val="bg1"/>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1463040" y="1024128"/>
            <a:ext cx="9262872" cy="786384"/>
          </a:xfrm>
          <a:prstGeom prst="rect">
            <a:avLst/>
          </a:prstGeom>
          <a:noFill/>
          <a:ln/>
        </p:spPr>
        <p:txBody>
          <a:bodyPr wrap="square" lIns="0" tIns="0" rIns="0" bIns="0" rtlCol="0" anchor="ctr"/>
          <a:lstStyle/>
          <a:p>
            <a:pPr algn="ctr" indent="0" marL="0">
              <a:buNone/>
            </a:pPr>
            <a:r>
              <a:rPr lang="en-US" sz="4000" b="1" dirty="0">
                <a:solidFill>
                  <a:schemeClr val="bg1"/>
                </a:solidFill>
              </a:rPr>
              <a:t>LATAR BELAKANG</a:t>
            </a:r>
            <a:endParaRPr lang="en-US" sz="4000" dirty="0"/>
          </a:p>
        </p:txBody>
      </p:sp>
      <p:sp>
        <p:nvSpPr>
          <p:cNvPr id="3" name="Harga kit"/>
          <p:cNvSpPr txBox="1"/>
          <p:nvPr/>
        </p:nvSpPr>
        <p:spPr>
          <a:xfrm>
            <a:off x="1463040" y="2331720"/>
            <a:ext cx="4480560" cy="914400"/>
          </a:xfrm>
          <a:prstGeom prst="rect">
            <a:avLst/>
          </a:prstGeom>
          <a:noFill/>
          <a:ln/>
        </p:spPr>
        <p:txBody>
          <a:bodyPr wrap="square" lIns="0" tIns="0" rIns="0" bIns="0" rtlCol="0" anchor="ctr"/>
          <a:lstStyle/>
          <a:p>
            <a:pPr indent="0" marL="0">
              <a:buNone/>
            </a:pPr>
            <a:r>
              <a:rPr lang="en-US" sz="6000" b="1" dirty="0">
                <a:solidFill>
                  <a:schemeClr val="accent2"/>
                </a:solidFill>
              </a:rPr>
              <a:t>± Rp2 juta</a:t>
            </a:r>
            <a:endParaRPr lang="en-US" sz="6000" dirty="0"/>
          </a:p>
        </p:txBody>
      </p:sp>
      <p:sp>
        <p:nvSpPr>
          <p:cNvPr id="4" name="Harga kit keterangan"/>
          <p:cNvSpPr txBox="1"/>
          <p:nvPr/>
        </p:nvSpPr>
        <p:spPr>
          <a:xfrm>
            <a:off x="1463040" y="3291840"/>
            <a:ext cx="4206240" cy="685800"/>
          </a:xfrm>
          <a:prstGeom prst="rect">
            <a:avLst/>
          </a:prstGeom>
          <a:noFill/>
          <a:ln/>
        </p:spPr>
        <p:txBody>
          <a:bodyPr wrap="square" lIns="0" tIns="0" rIns="0" bIns="0" rtlCol="0" anchor="t"/>
          <a:lstStyle/>
          <a:p>
            <a:pPr indent="0" marL="0">
              <a:buNone/>
            </a:pPr>
            <a:r>
              <a:rPr lang="en-US" sz="1600" dirty="0">
                <a:solidFill>
                  <a:schemeClr val="bg1"/>
                </a:solidFill>
              </a:rPr>
              <a:t>harga satu kit line tracer edukasi Ichiduino Pro; unit kontrolnya saja Rp825.000</a:t>
            </a:r>
            <a:endParaRPr lang="en-US" sz="1600" dirty="0"/>
          </a:p>
        </p:txBody>
      </p:sp>
      <p:sp>
        <p:nvSpPr>
          <p:cNvPr id="5" name="Titik hias 1"/>
          <p:cNvSpPr/>
          <p:nvPr/>
        </p:nvSpPr>
        <p:spPr>
          <a:xfrm>
            <a:off x="1463040" y="4343400"/>
            <a:ext cx="155448" cy="155448"/>
          </a:xfrm>
          <a:prstGeom prst="ellipse">
            <a:avLst/>
          </a:prstGeom>
          <a:solidFill>
            <a:schemeClr val="bg1"/>
          </a:solidFill>
          <a:ln/>
        </p:spPr>
      </p:sp>
      <p:sp>
        <p:nvSpPr>
          <p:cNvPr id="6" name="Titik hias 2"/>
          <p:cNvSpPr/>
          <p:nvPr/>
        </p:nvSpPr>
        <p:spPr>
          <a:xfrm>
            <a:off x="1709928" y="4343400"/>
            <a:ext cx="155448" cy="155448"/>
          </a:xfrm>
          <a:prstGeom prst="ellipse">
            <a:avLst/>
          </a:prstGeom>
          <a:solidFill>
            <a:schemeClr val="bg1"/>
          </a:solidFill>
          <a:ln/>
        </p:spPr>
      </p:sp>
      <p:sp>
        <p:nvSpPr>
          <p:cNvPr id="7" name="Titik hias 3"/>
          <p:cNvSpPr/>
          <p:nvPr/>
        </p:nvSpPr>
        <p:spPr>
          <a:xfrm>
            <a:off x="1956816" y="4343400"/>
            <a:ext cx="155448" cy="155448"/>
          </a:xfrm>
          <a:prstGeom prst="ellipse">
            <a:avLst/>
          </a:prstGeom>
          <a:solidFill>
            <a:schemeClr val="bg1"/>
          </a:solidFill>
          <a:ln/>
        </p:spPr>
      </p:sp>
      <p:sp>
        <p:nvSpPr>
          <p:cNvPr id="8" name="Masalah poin"/>
          <p:cNvSpPr txBox="1"/>
          <p:nvPr/>
        </p:nvSpPr>
        <p:spPr>
          <a:xfrm>
            <a:off x="6263640" y="2331720"/>
            <a:ext cx="4434840" cy="301752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chemeClr val="bg1"/>
                </a:solidFill>
              </a:rPr>
              <a:t>Kit edukasi di pasaran dirancang untuk kompetisi (motor 1200 RPM, LiPo 2S 400 mAh): mahal dan kurang pas sebagai media belajar anak sekolah.</a:t>
            </a:r>
            <a:endParaRPr lang="en-US" sz="1400" dirty="0"/>
          </a:p>
          <a:p>
            <a:pPr marL="203200" indent="-203200">
              <a:spcAft>
                <a:spcPts val="1200"/>
              </a:spcAft>
              <a:buSzPct val="100000"/>
              <a:buChar char="•"/>
            </a:pPr>
            <a:r>
              <a:rPr lang="en-US" sz="1400" dirty="0">
                <a:solidFill>
                  <a:schemeClr val="bg1"/>
                </a:solidFill>
              </a:rPr>
              <a:t>Arahan dosen (05/10/2026): reverse engineering produk contoh, lalu buat ulang dengan budget maksimal Rp900.000.</a:t>
            </a:r>
            <a:endParaRPr lang="en-US" sz="1400" dirty="0"/>
          </a:p>
          <a:p>
            <a:pPr marL="203200" indent="-203200">
              <a:spcAft>
                <a:spcPts val="1200"/>
              </a:spcAft>
              <a:buSzPct val="100000"/>
              <a:buChar char="•"/>
            </a:pPr>
            <a:r>
              <a:rPr lang="en-US" sz="1400" dirty="0">
                <a:solidFill>
                  <a:schemeClr val="bg1"/>
                </a:solidFill>
              </a:rPr>
              <a:t>Syarat minimum robot: mengikuti garis secara otomatis dan punya kemampuan path planning.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SOLUSI KAMI</a:t>
            </a:r>
            <a:endParaRPr lang="en-US" sz="4000" dirty="0"/>
          </a:p>
        </p:txBody>
      </p:sp>
      <p:sp>
        <p:nvSpPr>
          <p:cNvPr id="3" name="Solusi ringkas"/>
          <p:cNvSpPr txBox="1"/>
          <p:nvPr/>
        </p:nvSpPr>
        <p:spPr>
          <a:xfrm>
            <a:off x="1124712" y="2194560"/>
            <a:ext cx="4297680" cy="1143000"/>
          </a:xfrm>
          <a:prstGeom prst="rect">
            <a:avLst/>
          </a:prstGeom>
          <a:noFill/>
          <a:ln/>
        </p:spPr>
        <p:txBody>
          <a:bodyPr wrap="square" lIns="0" tIns="0" rIns="0" bIns="0" rtlCol="0" anchor="t"/>
          <a:lstStyle/>
          <a:p>
            <a:pPr indent="0" marL="0">
              <a:buNone/>
            </a:pPr>
            <a:r>
              <a:rPr lang="en-US" sz="1600" dirty="0">
                <a:solidFill>
                  <a:schemeClr val="bg1"/>
                </a:solidFill>
              </a:rPr>
              <a:t>Line Follower Micro: hasil reverse engineering Ichiduino Pro yang dirancang ulang dari nol, dari elektronik, PCB, sampai firmware dan block coding.</a:t>
            </a:r>
            <a:endParaRPr lang="en-US" sz="1600" dirty="0"/>
          </a:p>
        </p:txBody>
      </p:sp>
      <p:sp>
        <p:nvSpPr>
          <p:cNvPr id="4" name="Biaya solusi"/>
          <p:cNvSpPr txBox="1"/>
          <p:nvPr/>
        </p:nvSpPr>
        <p:spPr>
          <a:xfrm>
            <a:off x="1124712" y="3520440"/>
            <a:ext cx="4206240" cy="914400"/>
          </a:xfrm>
          <a:prstGeom prst="rect">
            <a:avLst/>
          </a:prstGeom>
          <a:noFill/>
          <a:ln/>
        </p:spPr>
        <p:txBody>
          <a:bodyPr wrap="square" lIns="0" tIns="0" rIns="0" bIns="0" rtlCol="0" anchor="t"/>
          <a:lstStyle/>
          <a:p>
            <a:pPr indent="0" marL="0">
              <a:buNone/>
            </a:pPr>
            <a:r>
              <a:rPr lang="en-US" sz="3600" b="1" dirty="0">
                <a:solidFill>
                  <a:schemeClr val="accent2"/>
                </a:solidFill>
              </a:rPr>
              <a:t>Rp902.000</a:t>
            </a:r>
            <a:endParaRPr lang="en-US" sz="3600" dirty="0"/>
          </a:p>
          <a:p>
            <a:pPr indent="0" marL="0">
              <a:buNone/>
            </a:pPr>
            <a:r>
              <a:rPr lang="en-US" sz="1400" dirty="0">
                <a:solidFill>
                  <a:schemeClr val="bg1"/>
                </a:solidFill>
              </a:rPr>
              <a:t>± 45% harga kit pembanding</a:t>
            </a:r>
            <a:endParaRPr lang="en-US" sz="3600" dirty="0"/>
          </a:p>
        </p:txBody>
      </p:sp>
      <p:sp>
        <p:nvSpPr>
          <p:cNvPr id="5" name="Target lomba"/>
          <p:cNvSpPr txBox="1"/>
          <p:nvPr/>
        </p:nvSpPr>
        <p:spPr>
          <a:xfrm>
            <a:off x="1124712" y="4617720"/>
            <a:ext cx="4206240" cy="731520"/>
          </a:xfrm>
          <a:prstGeom prst="rect">
            <a:avLst/>
          </a:prstGeom>
          <a:noFill/>
          <a:ln/>
        </p:spPr>
        <p:txBody>
          <a:bodyPr wrap="square" lIns="0" tIns="0" rIns="0" bIns="0" rtlCol="0" anchor="t"/>
          <a:lstStyle/>
          <a:p>
            <a:pPr indent="0" marL="0">
              <a:buNone/>
            </a:pPr>
            <a:r>
              <a:rPr lang="en-US" sz="1400" dirty="0">
                <a:solidFill>
                  <a:schemeClr val="bg2"/>
                </a:solidFill>
              </a:rPr>
              <a:t>Target uji lapangan: lomba IARC XII Smart Robotics, 9–10 Januari 2027 (arena grid, garis hitam 2 cm).</a:t>
            </a:r>
            <a:endParaRPr lang="en-US" sz="1400" dirty="0"/>
          </a:p>
        </p:txBody>
      </p:sp>
      <p:sp>
        <p:nvSpPr>
          <p:cNvPr id="6" name="Fitur 1 latar"/>
          <p:cNvSpPr/>
          <p:nvPr/>
        </p:nvSpPr>
        <p:spPr>
          <a:xfrm>
            <a:off x="5806440" y="2148840"/>
            <a:ext cx="2450592" cy="1536192"/>
          </a:xfrm>
          <a:prstGeom prst="rect">
            <a:avLst/>
          </a:prstGeom>
          <a:solidFill>
            <a:schemeClr val="accent1"/>
          </a:solidFill>
          <a:ln/>
        </p:spPr>
      </p:sp>
      <p:sp>
        <p:nvSpPr>
          <p:cNvPr id="7" name="Fitur 1 teks"/>
          <p:cNvSpPr txBox="1"/>
          <p:nvPr/>
        </p:nvSpPr>
        <p:spPr>
          <a:xfrm>
            <a:off x="5971032" y="2295144"/>
            <a:ext cx="2121408" cy="1243584"/>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Ikuti garis</a:t>
            </a:r>
            <a:endParaRPr lang="en-US" sz="1600" dirty="0"/>
          </a:p>
          <a:p>
            <a:pPr indent="0" marL="0">
              <a:buNone/>
            </a:pPr>
            <a:r>
              <a:rPr lang="en-US" sz="1400" dirty="0">
                <a:solidFill>
                  <a:schemeClr val="bg1"/>
                </a:solidFill>
              </a:rPr>
              <a:t>Kendali PID dengan 12 sensor QRE1113GR</a:t>
            </a:r>
            <a:endParaRPr lang="en-US" sz="1600" dirty="0"/>
          </a:p>
        </p:txBody>
      </p:sp>
      <p:sp>
        <p:nvSpPr>
          <p:cNvPr id="8" name="Fitur 2 latar"/>
          <p:cNvSpPr/>
          <p:nvPr/>
        </p:nvSpPr>
        <p:spPr>
          <a:xfrm>
            <a:off x="8394192" y="2148840"/>
            <a:ext cx="2450592" cy="1536192"/>
          </a:xfrm>
          <a:prstGeom prst="rect">
            <a:avLst/>
          </a:prstGeom>
          <a:solidFill>
            <a:schemeClr val="accent1"/>
          </a:solidFill>
          <a:ln/>
        </p:spPr>
      </p:sp>
      <p:sp>
        <p:nvSpPr>
          <p:cNvPr id="9" name="Fitur 2 teks"/>
          <p:cNvSpPr txBox="1"/>
          <p:nvPr/>
        </p:nvSpPr>
        <p:spPr>
          <a:xfrm>
            <a:off x="8558784" y="2295144"/>
            <a:ext cx="2121408" cy="1243584"/>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Path planning</a:t>
            </a:r>
            <a:endParaRPr lang="en-US" sz="1600" dirty="0"/>
          </a:p>
          <a:p>
            <a:pPr indent="0" marL="0">
              <a:buNone/>
            </a:pPr>
            <a:r>
              <a:rPr lang="en-US" sz="1400" dirty="0">
                <a:solidFill>
                  <a:schemeClr val="bg1"/>
                </a:solidFill>
              </a:rPr>
              <a:t>Rute = urutan indeks (pola sensor → aksi); di grid dibuat otomatis dari rute terpendek</a:t>
            </a:r>
            <a:endParaRPr lang="en-US" sz="1600" dirty="0"/>
          </a:p>
        </p:txBody>
      </p:sp>
      <p:sp>
        <p:nvSpPr>
          <p:cNvPr id="10" name="Fitur 3 latar"/>
          <p:cNvSpPr/>
          <p:nvPr/>
        </p:nvSpPr>
        <p:spPr>
          <a:xfrm>
            <a:off x="5806440" y="3822192"/>
            <a:ext cx="2450592" cy="1536192"/>
          </a:xfrm>
          <a:prstGeom prst="rect">
            <a:avLst/>
          </a:prstGeom>
          <a:solidFill>
            <a:schemeClr val="accent1"/>
          </a:solidFill>
          <a:ln/>
        </p:spPr>
      </p:sp>
      <p:sp>
        <p:nvSpPr>
          <p:cNvPr id="11" name="Fitur 3 teks"/>
          <p:cNvSpPr txBox="1"/>
          <p:nvPr/>
        </p:nvSpPr>
        <p:spPr>
          <a:xfrm>
            <a:off x="5971032" y="3968496"/>
            <a:ext cx="2121408" cy="1243584"/>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Block coding web</a:t>
            </a:r>
            <a:endParaRPr lang="en-US" sz="1600" dirty="0"/>
          </a:p>
          <a:p>
            <a:pPr indent="0" marL="0">
              <a:buNone/>
            </a:pPr>
            <a:r>
              <a:rPr lang="en-US" sz="1400" dirty="0">
                <a:solidFill>
                  <a:schemeClr val="bg1"/>
                </a:solidFill>
              </a:rPr>
              <a:t>Diprogram lewat Blockly di browser, tanpa instalasi</a:t>
            </a:r>
            <a:endParaRPr lang="en-US" sz="1600" dirty="0"/>
          </a:p>
        </p:txBody>
      </p:sp>
      <p:sp>
        <p:nvSpPr>
          <p:cNvPr id="12" name="Fitur 4 latar"/>
          <p:cNvSpPr/>
          <p:nvPr/>
        </p:nvSpPr>
        <p:spPr>
          <a:xfrm>
            <a:off x="8394192" y="3822192"/>
            <a:ext cx="2450592" cy="1536192"/>
          </a:xfrm>
          <a:prstGeom prst="rect">
            <a:avLst/>
          </a:prstGeom>
          <a:solidFill>
            <a:schemeClr val="accent1"/>
          </a:solidFill>
          <a:ln/>
        </p:spPr>
      </p:sp>
      <p:sp>
        <p:nvSpPr>
          <p:cNvPr id="13" name="Fitur 4 teks"/>
          <p:cNvSpPr txBox="1"/>
          <p:nvPr/>
        </p:nvSpPr>
        <p:spPr>
          <a:xfrm>
            <a:off x="8558784" y="3968496"/>
            <a:ext cx="2121408" cy="1243584"/>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Aman</a:t>
            </a:r>
            <a:endParaRPr lang="en-US" sz="1600" dirty="0"/>
          </a:p>
          <a:p>
            <a:pPr indent="0" marL="0">
              <a:buNone/>
            </a:pPr>
            <a:r>
              <a:rPr lang="en-US" sz="1400" dirty="0">
                <a:solidFill>
                  <a:schemeClr val="bg1"/>
                </a:solidFill>
              </a:rPr>
              <a:t>BMS baterai, motor mati &lt; 3,2 V/sel, berhenti ≤ 500 ms saat garis hilang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REVERSE ENGINEERING</a:t>
            </a:r>
            <a:endParaRPr lang="en-US" sz="4000" dirty="0"/>
          </a:p>
        </p:txBody>
      </p:sp>
      <p:graphicFrame>
        <p:nvGraphicFramePr>
          <p:cNvPr id="6" name="Tabel reverse engineering"/>
          <p:cNvGraphicFramePr>
            <a:graphicFrameLocks noGrp="1"/>
          </p:cNvGraphicFramePr>
          <p:nvPr>
            <p:extLst>
              <p:ext uri="{D42A27DB-BD31-4B8C-83A1-F6EECF244321}">
                <p14:modId xmlns:p14="http://schemas.microsoft.com/office/powerpoint/2010/main" val="1579011935"/>
              </p:ext>
            </p:extLst>
          </p:nvPr>
        </p:nvGraphicFramePr>
        <p:xfrm>
          <a:off x="1124712" y="2057400"/>
          <a:ext cx="9939528" cy="914400"/>
        </p:xfrm>
        <a:graphic>
          <a:graphicData uri="http://schemas.openxmlformats.org/drawingml/2006/table">
            <a:tbl>
              <a:tblPr/>
              <a:tblGrid>
                <a:gridCol w="1691640"/>
                <a:gridCol w="2926080"/>
                <a:gridCol w="3447288"/>
                <a:gridCol w="1874520"/>
              </a:tblGrid>
              <a:tr h="329184">
                <a:tc>
                  <a:txBody>
                    <a:bodyPr/>
                    <a:lstStyle/>
                    <a:p>
                      <a:pPr indent="0" marL="0">
                        <a:buNone/>
                      </a:pPr>
                      <a:r>
                        <a:rPr lang="en-US" sz="1400" b="1" dirty="0">
                          <a:solidFill>
                            <a:schemeClr val="bg1"/>
                          </a:solidFill>
                        </a:rPr>
                        <a:t>Aspek</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Ichiduino Pro (pembanding)</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Line Follower Micro</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Keputusan</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r>
              <a:tr h="329184">
                <a:tc>
                  <a:txBody>
                    <a:bodyPr/>
                    <a:lstStyle/>
                    <a:p>
                      <a:pPr indent="0" marL="0">
                        <a:buNone/>
                      </a:pPr>
                      <a:r>
                        <a:rPr lang="en-US" sz="1400" b="1" dirty="0">
                          <a:solidFill>
                            <a:schemeClr val="bg1"/>
                          </a:solidFill>
                        </a:rPr>
                        <a:t>Harga</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 Rp1.999.999</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Rp902.000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2"/>
                          </a:solidFill>
                        </a:rPr>
                        <a:t>55% lebih murah</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29184">
                <a:tc>
                  <a:txBody>
                    <a:bodyPr/>
                    <a:lstStyle/>
                    <a:p>
                      <a:pPr indent="0" marL="0">
                        <a:buNone/>
                      </a:pPr>
                      <a:r>
                        <a:rPr lang="en-US" sz="1400" b="1" dirty="0">
                          <a:solidFill>
                            <a:schemeClr val="bg1"/>
                          </a:solidFill>
                        </a:rPr>
                        <a:t>Otak</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rPr>
                        <a:t>ATmega2560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rPr>
                        <a:t>ESP32 240 MHz dual-core, WiFi/BT</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accent2"/>
                          </a:solidFill>
                        </a:rPr>
                        <a:t>diganti</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29184">
                <a:tc>
                  <a:txBody>
                    <a:bodyPr/>
                    <a:lstStyle/>
                    <a:p>
                      <a:pPr indent="0" marL="0">
                        <a:buNone/>
                      </a:pPr>
                      <a:r>
                        <a:rPr lang="en-US" sz="1400" b="1" dirty="0">
                          <a:solidFill>
                            <a:schemeClr val="bg1"/>
                          </a:solidFill>
                        </a:rPr>
                        <a:t>Sensor garis</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12 sensor optik</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12 QRE1113GR + multiplexer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2"/>
                          </a:solidFill>
                        </a:rPr>
                        <a:t>dipertahankan</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29184">
                <a:tc>
                  <a:txBody>
                    <a:bodyPr/>
                    <a:lstStyle/>
                    <a:p>
                      <a:pPr indent="0" marL="0">
                        <a:buNone/>
                      </a:pPr>
                      <a:r>
                        <a:rPr lang="en-US" sz="1400" b="1" dirty="0">
                          <a:solidFill>
                            <a:schemeClr val="bg1"/>
                          </a:solidFill>
                        </a:rPr>
                        <a:t>Layar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rPr>
                        <a:t>OLED 0,96"</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rPr>
                        <a:t>OLED 0,96" (bar bacaan sensor)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accent2"/>
                          </a:solidFill>
                        </a:rPr>
                        <a:t>dipertahankan</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29184">
                <a:tc>
                  <a:txBody>
                    <a:bodyPr/>
                    <a:lstStyle/>
                    <a:p>
                      <a:pPr indent="0" marL="0">
                        <a:buNone/>
                      </a:pPr>
                      <a:r>
                        <a:rPr lang="en-US" sz="1400" b="1" dirty="0">
                          <a:solidFill>
                            <a:schemeClr val="bg1"/>
                          </a:solidFill>
                        </a:rPr>
                        <a:t>Baterai</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LiPo 2S 400 mAh</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2× 18650 + BMS + charger USB-C</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2"/>
                          </a:solidFill>
                        </a:rPr>
                        <a:t>diganti, lebih awet</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29184">
                <a:tc>
                  <a:txBody>
                    <a:bodyPr/>
                    <a:lstStyle/>
                    <a:p>
                      <a:pPr indent="0" marL="0">
                        <a:buNone/>
                      </a:pPr>
                      <a:r>
                        <a:rPr lang="en-US" sz="1400" b="1" dirty="0">
                          <a:solidFill>
                            <a:schemeClr val="bg1"/>
                          </a:solidFill>
                        </a:rPr>
                        <a:t>Motor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rPr>
                        <a:t>DC 16 mm 12 V 1200 RPM</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rPr>
                        <a:t>N20 6 V 500 RPM + encoder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accent2"/>
                          </a:solidFill>
                        </a:rPr>
                        <a:t>diganti</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29184">
                <a:tc>
                  <a:txBody>
                    <a:bodyPr/>
                    <a:lstStyle/>
                    <a:p>
                      <a:pPr indent="0" marL="0">
                        <a:buNone/>
                      </a:pPr>
                      <a:r>
                        <a:rPr lang="en-US" sz="1400" b="1" dirty="0">
                          <a:solidFill>
                            <a:schemeClr val="bg1"/>
                          </a:solidFill>
                        </a:rPr>
                        <a:t>Pemrograman</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mBlock, Arduino IDE</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Blockly web, Arduino</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2"/>
                          </a:solidFill>
                        </a:rPr>
                        <a:t>diganti</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29184">
                <a:tc>
                  <a:txBody>
                    <a:bodyPr/>
                    <a:lstStyle/>
                    <a:p>
                      <a:pPr indent="0" marL="0">
                        <a:buNone/>
                      </a:pPr>
                      <a:r>
                        <a:rPr lang="en-US" sz="1400" b="1" dirty="0">
                          <a:solidFill>
                            <a:schemeClr val="bg1"/>
                          </a:solidFill>
                        </a:rPr>
                        <a:t>Path planning</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rPr>
                        <a:t>per indeks, berbasis waktu</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bg1"/>
                          </a:solidFill>
                        </a:rPr>
                        <a:t>indeks + encoder + rute otomatis</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indent="0" marL="0">
                        <a:buNone/>
                      </a:pPr>
                      <a:r>
                        <a:rPr lang="en-US" sz="1400" dirty="0">
                          <a:solidFill>
                            <a:schemeClr val="accent2"/>
                          </a:solidFill>
                        </a:rPr>
                        <a:t>dikembangkan</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29184">
                <a:tc>
                  <a:txBody>
                    <a:bodyPr/>
                    <a:lstStyle/>
                    <a:p>
                      <a:pPr indent="0" marL="0">
                        <a:buNone/>
                      </a:pPr>
                      <a:r>
                        <a:rPr lang="en-US" sz="1400" b="1" dirty="0">
                          <a:solidFill>
                            <a:schemeClr val="bg1"/>
                          </a:solidFill>
                        </a:rPr>
                        <a:t>Servo, kipas</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2 port servo, 1 port kipas</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tidak ada</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2"/>
                          </a:solidFill>
                        </a:rPr>
                        <a:t>ditiadakan</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1463040" y="1024128"/>
            <a:ext cx="9262872" cy="786384"/>
          </a:xfrm>
          <a:prstGeom prst="rect">
            <a:avLst/>
          </a:prstGeom>
          <a:noFill/>
          <a:ln/>
        </p:spPr>
        <p:txBody>
          <a:bodyPr wrap="square" lIns="0" tIns="0" rIns="0" bIns="0" rtlCol="0" anchor="ctr"/>
          <a:lstStyle/>
          <a:p>
            <a:pPr algn="ctr" indent="0" marL="0">
              <a:buNone/>
            </a:pPr>
            <a:r>
              <a:rPr lang="en-US" sz="4000" b="1" dirty="0">
                <a:solidFill>
                  <a:schemeClr val="bg1"/>
                </a:solidFill>
              </a:rPr>
              <a:t>SASARAN TERUKUR</a:t>
            </a:r>
            <a:endParaRPr lang="en-US" sz="4000" dirty="0"/>
          </a:p>
        </p:txBody>
      </p:sp>
      <p:sp>
        <p:nvSpPr>
          <p:cNvPr id="3" name="Sasaran 1 latar"/>
          <p:cNvSpPr/>
          <p:nvPr/>
        </p:nvSpPr>
        <p:spPr>
          <a:xfrm>
            <a:off x="1463040" y="2240280"/>
            <a:ext cx="2176272" cy="1325880"/>
          </a:xfrm>
          <a:prstGeom prst="rect">
            <a:avLst/>
          </a:prstGeom>
          <a:solidFill>
            <a:schemeClr val="accent5"/>
          </a:solidFill>
          <a:ln/>
        </p:spPr>
      </p:sp>
      <p:sp>
        <p:nvSpPr>
          <p:cNvPr id="4" name="Sasaran 1"/>
          <p:cNvSpPr txBox="1"/>
          <p:nvPr/>
        </p:nvSpPr>
        <p:spPr>
          <a:xfrm>
            <a:off x="1618488" y="2368296"/>
            <a:ext cx="1865376" cy="1106424"/>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rPr>
              <a:t>≤ 2 mm</a:t>
            </a:r>
            <a:endParaRPr lang="en-US" sz="2800" dirty="0"/>
          </a:p>
          <a:p>
            <a:pPr indent="0" marL="0">
              <a:buNone/>
            </a:pPr>
            <a:r>
              <a:rPr lang="en-US" sz="1400" dirty="0">
                <a:solidFill>
                  <a:schemeClr val="bg1"/>
                </a:solidFill>
              </a:rPr>
              <a:t>akurasi posisi garis</a:t>
            </a:r>
            <a:endParaRPr lang="en-US" sz="2800" dirty="0"/>
          </a:p>
        </p:txBody>
      </p:sp>
      <p:sp>
        <p:nvSpPr>
          <p:cNvPr id="5" name="Sasaran 2 latar"/>
          <p:cNvSpPr/>
          <p:nvPr/>
        </p:nvSpPr>
        <p:spPr>
          <a:xfrm>
            <a:off x="3803904" y="2240280"/>
            <a:ext cx="2176272" cy="1325880"/>
          </a:xfrm>
          <a:prstGeom prst="rect">
            <a:avLst/>
          </a:prstGeom>
          <a:solidFill>
            <a:schemeClr val="accent5"/>
          </a:solidFill>
          <a:ln/>
        </p:spPr>
      </p:sp>
      <p:sp>
        <p:nvSpPr>
          <p:cNvPr id="6" name="Sasaran 2"/>
          <p:cNvSpPr txBox="1"/>
          <p:nvPr/>
        </p:nvSpPr>
        <p:spPr>
          <a:xfrm>
            <a:off x="3959352" y="2368296"/>
            <a:ext cx="1865376" cy="1106424"/>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rPr>
              <a:t>≥ 0,5 m/s</a:t>
            </a:r>
            <a:endParaRPr lang="en-US" sz="2800" dirty="0"/>
          </a:p>
          <a:p>
            <a:pPr indent="0" marL="0">
              <a:buNone/>
            </a:pPr>
            <a:r>
              <a:rPr lang="en-US" sz="1400" dirty="0">
                <a:solidFill>
                  <a:schemeClr val="bg1"/>
                </a:solidFill>
              </a:rPr>
              <a:t>kecepatan rata-rata</a:t>
            </a:r>
            <a:endParaRPr lang="en-US" sz="2800" dirty="0"/>
          </a:p>
        </p:txBody>
      </p:sp>
      <p:sp>
        <p:nvSpPr>
          <p:cNvPr id="7" name="Sasaran 3 latar"/>
          <p:cNvSpPr/>
          <p:nvPr/>
        </p:nvSpPr>
        <p:spPr>
          <a:xfrm>
            <a:off x="6144768" y="2240280"/>
            <a:ext cx="2176272" cy="1325880"/>
          </a:xfrm>
          <a:prstGeom prst="rect">
            <a:avLst/>
          </a:prstGeom>
          <a:solidFill>
            <a:schemeClr val="accent5"/>
          </a:solidFill>
          <a:ln/>
        </p:spPr>
      </p:sp>
      <p:sp>
        <p:nvSpPr>
          <p:cNvPr id="8" name="Sasaran 3"/>
          <p:cNvSpPr txBox="1"/>
          <p:nvPr/>
        </p:nvSpPr>
        <p:spPr>
          <a:xfrm>
            <a:off x="6300216" y="2368296"/>
            <a:ext cx="1865376" cy="1106424"/>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rPr>
              <a:t>≤ 5%</a:t>
            </a:r>
            <a:endParaRPr lang="en-US" sz="2800" dirty="0"/>
          </a:p>
          <a:p>
            <a:pPr indent="0" marL="0">
              <a:buNone/>
            </a:pPr>
            <a:r>
              <a:rPr lang="en-US" sz="1400" dirty="0">
                <a:solidFill>
                  <a:schemeClr val="bg1"/>
                </a:solidFill>
              </a:rPr>
              <a:t>simpangan baku waktu tempuh, 10 putaran</a:t>
            </a:r>
            <a:endParaRPr lang="en-US" sz="2800" dirty="0"/>
          </a:p>
        </p:txBody>
      </p:sp>
      <p:sp>
        <p:nvSpPr>
          <p:cNvPr id="9" name="Sasaran 4 latar"/>
          <p:cNvSpPr/>
          <p:nvPr/>
        </p:nvSpPr>
        <p:spPr>
          <a:xfrm>
            <a:off x="8485632" y="2240280"/>
            <a:ext cx="2176272" cy="1325880"/>
          </a:xfrm>
          <a:prstGeom prst="rect">
            <a:avLst/>
          </a:prstGeom>
          <a:solidFill>
            <a:schemeClr val="accent5"/>
          </a:solidFill>
          <a:ln/>
        </p:spPr>
      </p:sp>
      <p:sp>
        <p:nvSpPr>
          <p:cNvPr id="10" name="Sasaran 4"/>
          <p:cNvSpPr txBox="1"/>
          <p:nvPr/>
        </p:nvSpPr>
        <p:spPr>
          <a:xfrm>
            <a:off x="8641080" y="2368296"/>
            <a:ext cx="1865376" cy="1106424"/>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rPr>
              <a:t>≥ 95%</a:t>
            </a:r>
            <a:endParaRPr lang="en-US" sz="2800" dirty="0"/>
          </a:p>
          <a:p>
            <a:pPr indent="0" marL="0">
              <a:buNone/>
            </a:pPr>
            <a:r>
              <a:rPr lang="en-US" sz="1400" dirty="0">
                <a:solidFill>
                  <a:schemeClr val="bg1"/>
                </a:solidFill>
              </a:rPr>
              <a:t>deteksi persimpangan, ≥ 40 persimpangan</a:t>
            </a:r>
            <a:endParaRPr lang="en-US" sz="2800" dirty="0"/>
          </a:p>
        </p:txBody>
      </p:sp>
      <p:sp>
        <p:nvSpPr>
          <p:cNvPr id="11" name="Sasaran 5 latar"/>
          <p:cNvSpPr/>
          <p:nvPr/>
        </p:nvSpPr>
        <p:spPr>
          <a:xfrm>
            <a:off x="1463040" y="3721608"/>
            <a:ext cx="2176272" cy="1325880"/>
          </a:xfrm>
          <a:prstGeom prst="rect">
            <a:avLst/>
          </a:prstGeom>
          <a:solidFill>
            <a:schemeClr val="accent5"/>
          </a:solidFill>
          <a:ln/>
        </p:spPr>
      </p:sp>
      <p:sp>
        <p:nvSpPr>
          <p:cNvPr id="12" name="Sasaran 5"/>
          <p:cNvSpPr txBox="1"/>
          <p:nvPr/>
        </p:nvSpPr>
        <p:spPr>
          <a:xfrm>
            <a:off x="1618488" y="3849624"/>
            <a:ext cx="1865376" cy="1106424"/>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rPr>
              <a:t>10 / 10</a:t>
            </a:r>
            <a:endParaRPr lang="en-US" sz="2800" dirty="0"/>
          </a:p>
          <a:p>
            <a:pPr indent="0" marL="0">
              <a:buNone/>
            </a:pPr>
            <a:r>
              <a:rPr lang="en-US" sz="1400" dirty="0">
                <a:solidFill>
                  <a:schemeClr val="bg1"/>
                </a:solidFill>
              </a:rPr>
              <a:t>rute pada peta indeks dijalankan benar</a:t>
            </a:r>
            <a:endParaRPr lang="en-US" sz="2800" dirty="0"/>
          </a:p>
        </p:txBody>
      </p:sp>
      <p:sp>
        <p:nvSpPr>
          <p:cNvPr id="13" name="Sasaran 6 latar"/>
          <p:cNvSpPr/>
          <p:nvPr/>
        </p:nvSpPr>
        <p:spPr>
          <a:xfrm>
            <a:off x="3803904" y="3721608"/>
            <a:ext cx="2176272" cy="1325880"/>
          </a:xfrm>
          <a:prstGeom prst="rect">
            <a:avLst/>
          </a:prstGeom>
          <a:solidFill>
            <a:schemeClr val="accent5"/>
          </a:solidFill>
          <a:ln/>
        </p:spPr>
      </p:sp>
      <p:sp>
        <p:nvSpPr>
          <p:cNvPr id="14" name="Sasaran 6"/>
          <p:cNvSpPr txBox="1"/>
          <p:nvPr/>
        </p:nvSpPr>
        <p:spPr>
          <a:xfrm>
            <a:off x="3959352" y="3849624"/>
            <a:ext cx="1865376" cy="1106424"/>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rPr>
              <a:t>≤ 30 mm</a:t>
            </a:r>
            <a:endParaRPr lang="en-US" sz="2800" dirty="0"/>
          </a:p>
          <a:p>
            <a:pPr indent="0" marL="0">
              <a:buNone/>
            </a:pPr>
            <a:r>
              <a:rPr lang="en-US" sz="1400" dirty="0">
                <a:solidFill>
                  <a:schemeClr val="bg1"/>
                </a:solidFill>
              </a:rPr>
              <a:t>error berhenti di titik tujuan</a:t>
            </a:r>
            <a:endParaRPr lang="en-US" sz="2800" dirty="0"/>
          </a:p>
        </p:txBody>
      </p:sp>
      <p:sp>
        <p:nvSpPr>
          <p:cNvPr id="15" name="Sasaran 7 latar"/>
          <p:cNvSpPr/>
          <p:nvPr/>
        </p:nvSpPr>
        <p:spPr>
          <a:xfrm>
            <a:off x="6144768" y="3721608"/>
            <a:ext cx="2176272" cy="1325880"/>
          </a:xfrm>
          <a:prstGeom prst="rect">
            <a:avLst/>
          </a:prstGeom>
          <a:solidFill>
            <a:schemeClr val="accent5"/>
          </a:solidFill>
          <a:ln/>
        </p:spPr>
      </p:sp>
      <p:sp>
        <p:nvSpPr>
          <p:cNvPr id="16" name="Sasaran 7"/>
          <p:cNvSpPr txBox="1"/>
          <p:nvPr/>
        </p:nvSpPr>
        <p:spPr>
          <a:xfrm>
            <a:off x="6300216" y="3849624"/>
            <a:ext cx="1865376" cy="1106424"/>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rPr>
              <a:t>≤ 500 ms</a:t>
            </a:r>
            <a:endParaRPr lang="en-US" sz="2800" dirty="0"/>
          </a:p>
          <a:p>
            <a:pPr indent="0" marL="0">
              <a:buNone/>
            </a:pPr>
            <a:r>
              <a:rPr lang="en-US" sz="1400" dirty="0">
                <a:solidFill>
                  <a:schemeClr val="bg1"/>
                </a:solidFill>
              </a:rPr>
              <a:t>berhenti saat garis hilang</a:t>
            </a:r>
            <a:endParaRPr lang="en-US" sz="2800" dirty="0"/>
          </a:p>
        </p:txBody>
      </p:sp>
      <p:sp>
        <p:nvSpPr>
          <p:cNvPr id="17" name="Sasaran 8 latar"/>
          <p:cNvSpPr/>
          <p:nvPr/>
        </p:nvSpPr>
        <p:spPr>
          <a:xfrm>
            <a:off x="8485632" y="3721608"/>
            <a:ext cx="2176272" cy="1325880"/>
          </a:xfrm>
          <a:prstGeom prst="rect">
            <a:avLst/>
          </a:prstGeom>
          <a:solidFill>
            <a:schemeClr val="accent5"/>
          </a:solidFill>
          <a:ln/>
        </p:spPr>
      </p:sp>
      <p:sp>
        <p:nvSpPr>
          <p:cNvPr id="18" name="Sasaran 8"/>
          <p:cNvSpPr txBox="1"/>
          <p:nvPr/>
        </p:nvSpPr>
        <p:spPr>
          <a:xfrm>
            <a:off x="8641080" y="3849624"/>
            <a:ext cx="1865376" cy="1106424"/>
          </a:xfrm>
          <a:prstGeom prst="rect">
            <a:avLst/>
          </a:prstGeom>
          <a:noFill/>
          <a:ln/>
        </p:spPr>
        <p:txBody>
          <a:bodyPr wrap="square" lIns="0" tIns="0" rIns="0" bIns="0" rtlCol="0" anchor="t"/>
          <a:lstStyle/>
          <a:p>
            <a:pPr indent="0" marL="0">
              <a:spcAft>
                <a:spcPts val="400"/>
              </a:spcAft>
              <a:buNone/>
            </a:pPr>
            <a:r>
              <a:rPr lang="en-US" sz="2800" b="1" dirty="0">
                <a:solidFill>
                  <a:schemeClr val="accent2"/>
                </a:solidFill>
              </a:rPr>
              <a:t>&lt; 3,2 V</a:t>
            </a:r>
            <a:endParaRPr lang="en-US" sz="2800" dirty="0"/>
          </a:p>
          <a:p>
            <a:pPr indent="0" marL="0">
              <a:buNone/>
            </a:pPr>
            <a:r>
              <a:rPr lang="en-US" sz="1400" dirty="0">
                <a:solidFill>
                  <a:schemeClr val="bg1"/>
                </a:solidFill>
              </a:rPr>
              <a:t>per sel: motor mati, baterai lemah</a:t>
            </a:r>
            <a:endParaRPr lang="en-US" sz="2800" dirty="0"/>
          </a:p>
        </p:txBody>
      </p:sp>
      <p:sp>
        <p:nvSpPr>
          <p:cNvPr id="19" name="Catatan sasaran"/>
          <p:cNvSpPr txBox="1"/>
          <p:nvPr/>
        </p:nvSpPr>
        <p:spPr>
          <a:xfrm>
            <a:off x="1463040" y="5257800"/>
            <a:ext cx="9235440" cy="320040"/>
          </a:xfrm>
          <a:prstGeom prst="rect">
            <a:avLst/>
          </a:prstGeom>
          <a:noFill/>
          <a:ln/>
        </p:spPr>
        <p:txBody>
          <a:bodyPr wrap="square" lIns="0" tIns="0" rIns="0" bIns="0" rtlCol="0" anchor="ctr"/>
          <a:lstStyle/>
          <a:p>
            <a:pPr indent="0" marL="0">
              <a:buNone/>
            </a:pPr>
            <a:r>
              <a:rPr lang="en-US" sz="1400" dirty="0">
                <a:solidFill>
                  <a:schemeClr val="bg2"/>
                </a:solidFill>
              </a:rPr>
              <a:t>Tiap sasaran punya cara uji dan alat ukur bersatuan (3–10 ulangan); sasaran ke-9: total biaya ≤ Rp900.000.</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ARSITEKTUR SISTEM</a:t>
            </a:r>
            <a:endParaRPr lang="en-US" sz="4000" dirty="0"/>
          </a:p>
        </p:txBody>
      </p:sp>
      <p:sp>
        <p:nvSpPr>
          <p:cNvPr id="3" name="Diagram blok bingkai"/>
          <p:cNvSpPr/>
          <p:nvPr/>
        </p:nvSpPr>
        <p:spPr>
          <a:xfrm>
            <a:off x="1124712" y="2048256"/>
            <a:ext cx="6053328" cy="3659824"/>
          </a:xfrm>
          <a:prstGeom prst="rect">
            <a:avLst/>
          </a:prstGeom>
          <a:solidFill>
            <a:schemeClr val="bg1"/>
          </a:solidFill>
          <a:ln/>
        </p:spPr>
      </p:sp>
      <p:pic>
        <p:nvPicPr>
          <p:cNvPr id="4" name="Diagram blok" descr="Diagram blok perangkat keras: input sensor, mux, tombol, baterai; ESP32; output driver, motor, encoder, OLED, buzzer; sistem daya">    </p:cNvPr>
          <p:cNvPicPr>
            <a:picLocks noChangeAspect="1"/>
          </p:cNvPicPr>
          <p:nvPr/>
        </p:nvPicPr>
        <p:blipFill>
          <a:blip r:embed="rId1"/>
          <a:stretch>
            <a:fillRect/>
          </a:stretch>
        </p:blipFill>
        <p:spPr>
          <a:xfrm>
            <a:off x="1179576" y="2103120"/>
            <a:ext cx="5943600" cy="3550096"/>
          </a:xfrm>
          <a:prstGeom prst="rect">
            <a:avLst/>
          </a:prstGeom>
        </p:spPr>
      </p:pic>
      <p:sp>
        <p:nvSpPr>
          <p:cNvPr id="5" name="Arsitektur poin"/>
          <p:cNvSpPr txBox="1"/>
          <p:nvPr/>
        </p:nvSpPr>
        <p:spPr>
          <a:xfrm>
            <a:off x="7498080" y="2103120"/>
            <a:ext cx="3611880" cy="34290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chemeClr val="bg1"/>
                </a:solidFill>
              </a:rPr>
              <a:t>12 QRE1113GR → multiplexer CD74HC4067 → ESP32: cukup 5 pin (1 ADC + 4 pemilih kanal).</a:t>
            </a:r>
            <a:endParaRPr lang="en-US" sz="1400" dirty="0"/>
          </a:p>
          <a:p>
            <a:pPr marL="203200" indent="-203200">
              <a:spcAft>
                <a:spcPts val="1200"/>
              </a:spcAft>
              <a:buSzPct val="100000"/>
              <a:buChar char="•"/>
            </a:pPr>
            <a:r>
              <a:rPr lang="en-US" sz="1400" dirty="0">
                <a:solidFill>
                  <a:schemeClr val="bg1"/>
                </a:solidFill>
              </a:rPr>
              <a:t>ESP32 → driver TB6612FNG → 2 motor N20; encoder kembali ke ESP32.</a:t>
            </a:r>
            <a:endParaRPr lang="en-US" sz="1400" dirty="0"/>
          </a:p>
          <a:p>
            <a:pPr marL="203200" indent="-203200">
              <a:spcAft>
                <a:spcPts val="1200"/>
              </a:spcAft>
              <a:buSzPct val="100000"/>
              <a:buChar char="•"/>
            </a:pPr>
            <a:r>
              <a:rPr lang="en-US" sz="1400" dirty="0">
                <a:solidFill>
                  <a:schemeClr val="bg1"/>
                </a:solidFill>
              </a:rPr>
              <a:t>Daya: 2× 18650 → BMS 2S → saklar → buck 5 V; motor langsung dari baterai.</a:t>
            </a:r>
            <a:endParaRPr lang="en-US" sz="1400" dirty="0"/>
          </a:p>
          <a:p>
            <a:pPr marL="203200" indent="-203200">
              <a:spcAft>
                <a:spcPts val="1200"/>
              </a:spcAft>
              <a:buSzPct val="100000"/>
              <a:buChar char="•"/>
            </a:pPr>
            <a:r>
              <a:rPr lang="en-US" sz="1400" dirty="0">
                <a:solidFill>
                  <a:schemeClr val="bg1"/>
                </a:solidFill>
              </a:rPr>
              <a:t>OLED, 2 tombol, buzzer, sensor tegangan baterai. Program dari Blockly lewat Wi-Fi atau USB-C.</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KENDALI &amp; PATH PLANNING</a:t>
            </a:r>
            <a:endParaRPr lang="en-US" sz="4000" dirty="0"/>
          </a:p>
        </p:txBody>
      </p:sp>
      <p:sp>
        <p:nvSpPr>
          <p:cNvPr id="3" name="Diagram kendali bingkai"/>
          <p:cNvSpPr/>
          <p:nvPr/>
        </p:nvSpPr>
        <p:spPr>
          <a:xfrm>
            <a:off x="1124712" y="2048256"/>
            <a:ext cx="6784848" cy="2358953"/>
          </a:xfrm>
          <a:prstGeom prst="rect">
            <a:avLst/>
          </a:prstGeom>
          <a:solidFill>
            <a:schemeClr val="bg1"/>
          </a:solidFill>
          <a:ln/>
        </p:spPr>
      </p:sp>
      <p:pic>
        <p:nvPicPr>
          <p:cNvPr id="4" name="Diagram kendali" descr="Diagram blok kendali loop tertutup: setpoint, PID, driver, motor, robot, sensor, pengolahan sinyal, loop dalam encoder">    </p:cNvPr>
          <p:cNvPicPr>
            <a:picLocks noChangeAspect="1"/>
          </p:cNvPicPr>
          <p:nvPr/>
        </p:nvPicPr>
        <p:blipFill>
          <a:blip r:embed="rId1"/>
          <a:stretch>
            <a:fillRect/>
          </a:stretch>
        </p:blipFill>
        <p:spPr>
          <a:xfrm>
            <a:off x="1179576" y="2103120"/>
            <a:ext cx="6675120" cy="2249225"/>
          </a:xfrm>
          <a:prstGeom prst="rect">
            <a:avLst/>
          </a:prstGeom>
        </p:spPr>
      </p:pic>
      <p:sp>
        <p:nvSpPr>
          <p:cNvPr id="5" name="Kendali poin"/>
          <p:cNvSpPr txBox="1"/>
          <p:nvPr/>
        </p:nvSpPr>
        <p:spPr>
          <a:xfrm>
            <a:off x="1124712" y="4480560"/>
            <a:ext cx="6766560" cy="114300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bg1"/>
                </a:solidFill>
              </a:rPr>
              <a:t>Loop luar: posisi garis dari 12 sensor → PID → kecepatan motor kiri/kanan.</a:t>
            </a:r>
            <a:endParaRPr lang="en-US" sz="1400" dirty="0"/>
          </a:p>
          <a:p>
            <a:pPr marL="203200" indent="-203200">
              <a:spcAft>
                <a:spcPts val="300"/>
              </a:spcAft>
              <a:buSzPct val="100000"/>
              <a:buChar char="•"/>
            </a:pPr>
            <a:r>
              <a:rPr lang="en-US" sz="1400" dirty="0">
                <a:solidFill>
                  <a:schemeClr val="bg1"/>
                </a:solidFill>
              </a:rPr>
              <a:t>Loop dalam: encoder mengukur jarak tempuh dan sudut belok 90° (tanpa IMU).</a:t>
            </a:r>
            <a:endParaRPr lang="en-US" sz="1400" dirty="0"/>
          </a:p>
          <a:p>
            <a:pPr marL="203200" indent="-203200">
              <a:spcAft>
                <a:spcPts val="300"/>
              </a:spcAft>
              <a:buSzPct val="100000"/>
              <a:buChar char="•"/>
            </a:pPr>
            <a:r>
              <a:rPr lang="en-US" sz="1400" dirty="0">
                <a:solidFill>
                  <a:schemeClr val="bg1"/>
                </a:solidFill>
              </a:rPr>
              <a:t>Peta by index (gaya Ichiduino): rute = urutan indeks; tiap indeks: pola sensor → aksi (maju/kiri/kanan) → ikuti garis. Di grid, urutannya bisa dibuat otomatis dari rute terpendek (BFS).</a:t>
            </a:r>
            <a:endParaRPr lang="en-US" sz="1400" dirty="0"/>
          </a:p>
        </p:txBody>
      </p:sp>
      <p:sp>
        <p:nvSpPr>
          <p:cNvPr id="6" name="Grid baris 1"/>
          <p:cNvSpPr/>
          <p:nvPr/>
        </p:nvSpPr>
        <p:spPr>
          <a:xfrm>
            <a:off x="8458200" y="2194560"/>
            <a:ext cx="1975104" cy="0"/>
          </a:xfrm>
          <a:prstGeom prst="line">
            <a:avLst/>
          </a:prstGeom>
          <a:noFill/>
          <a:ln w="25400">
            <a:solidFill>
              <a:schemeClr val="accent3"/>
            </a:solidFill>
            <a:prstDash val="solid"/>
          </a:ln>
        </p:spPr>
      </p:sp>
      <p:sp>
        <p:nvSpPr>
          <p:cNvPr id="7" name="Grid kolom 1"/>
          <p:cNvSpPr/>
          <p:nvPr/>
        </p:nvSpPr>
        <p:spPr>
          <a:xfrm>
            <a:off x="8458200" y="2194560"/>
            <a:ext cx="0" cy="1975104"/>
          </a:xfrm>
          <a:prstGeom prst="line">
            <a:avLst/>
          </a:prstGeom>
          <a:noFill/>
          <a:ln w="25400">
            <a:solidFill>
              <a:schemeClr val="accent3"/>
            </a:solidFill>
            <a:prstDash val="solid"/>
          </a:ln>
        </p:spPr>
      </p:sp>
      <p:sp>
        <p:nvSpPr>
          <p:cNvPr id="8" name="Grid baris 2"/>
          <p:cNvSpPr/>
          <p:nvPr/>
        </p:nvSpPr>
        <p:spPr>
          <a:xfrm>
            <a:off x="8458200" y="2852928"/>
            <a:ext cx="1975104" cy="0"/>
          </a:xfrm>
          <a:prstGeom prst="line">
            <a:avLst/>
          </a:prstGeom>
          <a:noFill/>
          <a:ln w="25400">
            <a:solidFill>
              <a:schemeClr val="accent3"/>
            </a:solidFill>
            <a:prstDash val="solid"/>
          </a:ln>
        </p:spPr>
      </p:sp>
      <p:sp>
        <p:nvSpPr>
          <p:cNvPr id="9" name="Grid kolom 2"/>
          <p:cNvSpPr/>
          <p:nvPr/>
        </p:nvSpPr>
        <p:spPr>
          <a:xfrm>
            <a:off x="9116568" y="2194560"/>
            <a:ext cx="0" cy="1975104"/>
          </a:xfrm>
          <a:prstGeom prst="line">
            <a:avLst/>
          </a:prstGeom>
          <a:noFill/>
          <a:ln w="25400">
            <a:solidFill>
              <a:schemeClr val="accent3"/>
            </a:solidFill>
            <a:prstDash val="solid"/>
          </a:ln>
        </p:spPr>
      </p:sp>
      <p:sp>
        <p:nvSpPr>
          <p:cNvPr id="10" name="Grid baris 3"/>
          <p:cNvSpPr/>
          <p:nvPr/>
        </p:nvSpPr>
        <p:spPr>
          <a:xfrm>
            <a:off x="8458200" y="3511296"/>
            <a:ext cx="1975104" cy="0"/>
          </a:xfrm>
          <a:prstGeom prst="line">
            <a:avLst/>
          </a:prstGeom>
          <a:noFill/>
          <a:ln w="25400">
            <a:solidFill>
              <a:schemeClr val="accent3"/>
            </a:solidFill>
            <a:prstDash val="solid"/>
          </a:ln>
        </p:spPr>
      </p:sp>
      <p:sp>
        <p:nvSpPr>
          <p:cNvPr id="11" name="Grid kolom 3"/>
          <p:cNvSpPr/>
          <p:nvPr/>
        </p:nvSpPr>
        <p:spPr>
          <a:xfrm>
            <a:off x="9774936" y="2194560"/>
            <a:ext cx="0" cy="1975104"/>
          </a:xfrm>
          <a:prstGeom prst="line">
            <a:avLst/>
          </a:prstGeom>
          <a:noFill/>
          <a:ln w="25400">
            <a:solidFill>
              <a:schemeClr val="accent3"/>
            </a:solidFill>
            <a:prstDash val="solid"/>
          </a:ln>
        </p:spPr>
      </p:sp>
      <p:sp>
        <p:nvSpPr>
          <p:cNvPr id="12" name="Grid baris 4"/>
          <p:cNvSpPr/>
          <p:nvPr/>
        </p:nvSpPr>
        <p:spPr>
          <a:xfrm>
            <a:off x="8458200" y="4169664"/>
            <a:ext cx="1975104" cy="0"/>
          </a:xfrm>
          <a:prstGeom prst="line">
            <a:avLst/>
          </a:prstGeom>
          <a:noFill/>
          <a:ln w="25400">
            <a:solidFill>
              <a:schemeClr val="accent3"/>
            </a:solidFill>
            <a:prstDash val="solid"/>
          </a:ln>
        </p:spPr>
      </p:sp>
      <p:sp>
        <p:nvSpPr>
          <p:cNvPr id="13" name="Grid kolom 4"/>
          <p:cNvSpPr/>
          <p:nvPr/>
        </p:nvSpPr>
        <p:spPr>
          <a:xfrm>
            <a:off x="10433304" y="2194560"/>
            <a:ext cx="0" cy="1975104"/>
          </a:xfrm>
          <a:prstGeom prst="line">
            <a:avLst/>
          </a:prstGeom>
          <a:noFill/>
          <a:ln w="25400">
            <a:solidFill>
              <a:schemeClr val="accent3"/>
            </a:solidFill>
            <a:prstDash val="solid"/>
          </a:ln>
        </p:spPr>
      </p:sp>
      <p:sp>
        <p:nvSpPr>
          <p:cNvPr id="14" name="Rute 1"/>
          <p:cNvSpPr/>
          <p:nvPr/>
        </p:nvSpPr>
        <p:spPr>
          <a:xfrm>
            <a:off x="8458200" y="4169664"/>
            <a:ext cx="658368" cy="0"/>
          </a:xfrm>
          <a:prstGeom prst="line">
            <a:avLst/>
          </a:prstGeom>
          <a:noFill/>
          <a:ln w="63500">
            <a:solidFill>
              <a:schemeClr val="accent2"/>
            </a:solidFill>
            <a:prstDash val="solid"/>
          </a:ln>
        </p:spPr>
      </p:sp>
      <p:sp>
        <p:nvSpPr>
          <p:cNvPr id="15" name="Rute 2"/>
          <p:cNvSpPr/>
          <p:nvPr/>
        </p:nvSpPr>
        <p:spPr>
          <a:xfrm>
            <a:off x="9116568" y="3511296"/>
            <a:ext cx="0" cy="658368"/>
          </a:xfrm>
          <a:prstGeom prst="line">
            <a:avLst/>
          </a:prstGeom>
          <a:noFill/>
          <a:ln w="63500">
            <a:solidFill>
              <a:schemeClr val="accent2"/>
            </a:solidFill>
            <a:prstDash val="solid"/>
          </a:ln>
        </p:spPr>
      </p:sp>
      <p:sp>
        <p:nvSpPr>
          <p:cNvPr id="16" name="Rute 3"/>
          <p:cNvSpPr/>
          <p:nvPr/>
        </p:nvSpPr>
        <p:spPr>
          <a:xfrm>
            <a:off x="9116568" y="3511296"/>
            <a:ext cx="658368" cy="0"/>
          </a:xfrm>
          <a:prstGeom prst="line">
            <a:avLst/>
          </a:prstGeom>
          <a:noFill/>
          <a:ln w="63500">
            <a:solidFill>
              <a:schemeClr val="accent2"/>
            </a:solidFill>
            <a:prstDash val="solid"/>
          </a:ln>
        </p:spPr>
      </p:sp>
      <p:sp>
        <p:nvSpPr>
          <p:cNvPr id="17" name="Rute 4"/>
          <p:cNvSpPr/>
          <p:nvPr/>
        </p:nvSpPr>
        <p:spPr>
          <a:xfrm>
            <a:off x="9774936" y="2852928"/>
            <a:ext cx="0" cy="658368"/>
          </a:xfrm>
          <a:prstGeom prst="line">
            <a:avLst/>
          </a:prstGeom>
          <a:noFill/>
          <a:ln w="63500">
            <a:solidFill>
              <a:schemeClr val="accent2"/>
            </a:solidFill>
            <a:prstDash val="solid"/>
          </a:ln>
        </p:spPr>
      </p:sp>
      <p:sp>
        <p:nvSpPr>
          <p:cNvPr id="18" name="Rute 5"/>
          <p:cNvSpPr/>
          <p:nvPr/>
        </p:nvSpPr>
        <p:spPr>
          <a:xfrm>
            <a:off x="9774936" y="2852928"/>
            <a:ext cx="658368" cy="0"/>
          </a:xfrm>
          <a:prstGeom prst="line">
            <a:avLst/>
          </a:prstGeom>
          <a:noFill/>
          <a:ln w="63500">
            <a:solidFill>
              <a:schemeClr val="accent2"/>
            </a:solidFill>
            <a:prstDash val="solid"/>
          </a:ln>
        </p:spPr>
      </p:sp>
      <p:sp>
        <p:nvSpPr>
          <p:cNvPr id="19" name="Rute 6"/>
          <p:cNvSpPr/>
          <p:nvPr/>
        </p:nvSpPr>
        <p:spPr>
          <a:xfrm>
            <a:off x="10433304" y="2194560"/>
            <a:ext cx="0" cy="658368"/>
          </a:xfrm>
          <a:prstGeom prst="line">
            <a:avLst/>
          </a:prstGeom>
          <a:noFill/>
          <a:ln w="63500">
            <a:solidFill>
              <a:schemeClr val="accent2"/>
            </a:solidFill>
            <a:prstDash val="solid"/>
          </a:ln>
        </p:spPr>
      </p:sp>
      <p:sp>
        <p:nvSpPr>
          <p:cNvPr id="20" name="Simpul 0-0"/>
          <p:cNvSpPr/>
          <p:nvPr/>
        </p:nvSpPr>
        <p:spPr>
          <a:xfrm>
            <a:off x="8385048" y="2121408"/>
            <a:ext cx="146304" cy="146304"/>
          </a:xfrm>
          <a:prstGeom prst="ellipse">
            <a:avLst/>
          </a:prstGeom>
          <a:solidFill>
            <a:schemeClr val="bg1"/>
          </a:solidFill>
          <a:ln/>
        </p:spPr>
      </p:sp>
      <p:sp>
        <p:nvSpPr>
          <p:cNvPr id="21" name="Simpul 0-1"/>
          <p:cNvSpPr/>
          <p:nvPr/>
        </p:nvSpPr>
        <p:spPr>
          <a:xfrm>
            <a:off x="8385048" y="2779776"/>
            <a:ext cx="146304" cy="146304"/>
          </a:xfrm>
          <a:prstGeom prst="ellipse">
            <a:avLst/>
          </a:prstGeom>
          <a:solidFill>
            <a:schemeClr val="bg1"/>
          </a:solidFill>
          <a:ln/>
        </p:spPr>
      </p:sp>
      <p:sp>
        <p:nvSpPr>
          <p:cNvPr id="22" name="Simpul 0-2"/>
          <p:cNvSpPr/>
          <p:nvPr/>
        </p:nvSpPr>
        <p:spPr>
          <a:xfrm>
            <a:off x="8385048" y="3438144"/>
            <a:ext cx="146304" cy="146304"/>
          </a:xfrm>
          <a:prstGeom prst="ellipse">
            <a:avLst/>
          </a:prstGeom>
          <a:solidFill>
            <a:schemeClr val="bg1"/>
          </a:solidFill>
          <a:ln/>
        </p:spPr>
      </p:sp>
      <p:sp>
        <p:nvSpPr>
          <p:cNvPr id="23" name="Simpul 0-3"/>
          <p:cNvSpPr/>
          <p:nvPr/>
        </p:nvSpPr>
        <p:spPr>
          <a:xfrm>
            <a:off x="8385048" y="4096512"/>
            <a:ext cx="146304" cy="146304"/>
          </a:xfrm>
          <a:prstGeom prst="ellipse">
            <a:avLst/>
          </a:prstGeom>
          <a:solidFill>
            <a:schemeClr val="bg1"/>
          </a:solidFill>
          <a:ln/>
        </p:spPr>
      </p:sp>
      <p:sp>
        <p:nvSpPr>
          <p:cNvPr id="24" name="Simpul 1-0"/>
          <p:cNvSpPr/>
          <p:nvPr/>
        </p:nvSpPr>
        <p:spPr>
          <a:xfrm>
            <a:off x="9043416" y="2121408"/>
            <a:ext cx="146304" cy="146304"/>
          </a:xfrm>
          <a:prstGeom prst="ellipse">
            <a:avLst/>
          </a:prstGeom>
          <a:solidFill>
            <a:schemeClr val="bg1"/>
          </a:solidFill>
          <a:ln/>
        </p:spPr>
      </p:sp>
      <p:sp>
        <p:nvSpPr>
          <p:cNvPr id="25" name="Simpul 1-1"/>
          <p:cNvSpPr/>
          <p:nvPr/>
        </p:nvSpPr>
        <p:spPr>
          <a:xfrm>
            <a:off x="9043416" y="2779776"/>
            <a:ext cx="146304" cy="146304"/>
          </a:xfrm>
          <a:prstGeom prst="ellipse">
            <a:avLst/>
          </a:prstGeom>
          <a:solidFill>
            <a:schemeClr val="bg1"/>
          </a:solidFill>
          <a:ln/>
        </p:spPr>
      </p:sp>
      <p:sp>
        <p:nvSpPr>
          <p:cNvPr id="26" name="Simpul 1-2"/>
          <p:cNvSpPr/>
          <p:nvPr/>
        </p:nvSpPr>
        <p:spPr>
          <a:xfrm>
            <a:off x="9043416" y="3438144"/>
            <a:ext cx="146304" cy="146304"/>
          </a:xfrm>
          <a:prstGeom prst="ellipse">
            <a:avLst/>
          </a:prstGeom>
          <a:solidFill>
            <a:schemeClr val="bg1"/>
          </a:solidFill>
          <a:ln/>
        </p:spPr>
      </p:sp>
      <p:sp>
        <p:nvSpPr>
          <p:cNvPr id="27" name="Simpul 1-3"/>
          <p:cNvSpPr/>
          <p:nvPr/>
        </p:nvSpPr>
        <p:spPr>
          <a:xfrm>
            <a:off x="9043416" y="4096512"/>
            <a:ext cx="146304" cy="146304"/>
          </a:xfrm>
          <a:prstGeom prst="ellipse">
            <a:avLst/>
          </a:prstGeom>
          <a:solidFill>
            <a:schemeClr val="bg1"/>
          </a:solidFill>
          <a:ln/>
        </p:spPr>
      </p:sp>
      <p:sp>
        <p:nvSpPr>
          <p:cNvPr id="28" name="Simpul 2-0"/>
          <p:cNvSpPr/>
          <p:nvPr/>
        </p:nvSpPr>
        <p:spPr>
          <a:xfrm>
            <a:off x="9701784" y="2121408"/>
            <a:ext cx="146304" cy="146304"/>
          </a:xfrm>
          <a:prstGeom prst="ellipse">
            <a:avLst/>
          </a:prstGeom>
          <a:solidFill>
            <a:schemeClr val="bg1"/>
          </a:solidFill>
          <a:ln/>
        </p:spPr>
      </p:sp>
      <p:sp>
        <p:nvSpPr>
          <p:cNvPr id="29" name="Simpul 2-1"/>
          <p:cNvSpPr/>
          <p:nvPr/>
        </p:nvSpPr>
        <p:spPr>
          <a:xfrm>
            <a:off x="9701784" y="2779776"/>
            <a:ext cx="146304" cy="146304"/>
          </a:xfrm>
          <a:prstGeom prst="ellipse">
            <a:avLst/>
          </a:prstGeom>
          <a:solidFill>
            <a:schemeClr val="bg1"/>
          </a:solidFill>
          <a:ln/>
        </p:spPr>
      </p:sp>
      <p:sp>
        <p:nvSpPr>
          <p:cNvPr id="30" name="Simpul 2-2"/>
          <p:cNvSpPr/>
          <p:nvPr/>
        </p:nvSpPr>
        <p:spPr>
          <a:xfrm>
            <a:off x="9701784" y="3438144"/>
            <a:ext cx="146304" cy="146304"/>
          </a:xfrm>
          <a:prstGeom prst="ellipse">
            <a:avLst/>
          </a:prstGeom>
          <a:solidFill>
            <a:schemeClr val="bg1"/>
          </a:solidFill>
          <a:ln/>
        </p:spPr>
      </p:sp>
      <p:sp>
        <p:nvSpPr>
          <p:cNvPr id="31" name="Simpul 2-3"/>
          <p:cNvSpPr/>
          <p:nvPr/>
        </p:nvSpPr>
        <p:spPr>
          <a:xfrm>
            <a:off x="9701784" y="4096512"/>
            <a:ext cx="146304" cy="146304"/>
          </a:xfrm>
          <a:prstGeom prst="ellipse">
            <a:avLst/>
          </a:prstGeom>
          <a:solidFill>
            <a:schemeClr val="bg1"/>
          </a:solidFill>
          <a:ln/>
        </p:spPr>
      </p:sp>
      <p:sp>
        <p:nvSpPr>
          <p:cNvPr id="32" name="Simpul 3-0"/>
          <p:cNvSpPr/>
          <p:nvPr/>
        </p:nvSpPr>
        <p:spPr>
          <a:xfrm>
            <a:off x="10360152" y="2121408"/>
            <a:ext cx="146304" cy="146304"/>
          </a:xfrm>
          <a:prstGeom prst="ellipse">
            <a:avLst/>
          </a:prstGeom>
          <a:solidFill>
            <a:schemeClr val="bg1"/>
          </a:solidFill>
          <a:ln/>
        </p:spPr>
      </p:sp>
      <p:sp>
        <p:nvSpPr>
          <p:cNvPr id="33" name="Simpul 3-1"/>
          <p:cNvSpPr/>
          <p:nvPr/>
        </p:nvSpPr>
        <p:spPr>
          <a:xfrm>
            <a:off x="10360152" y="2779776"/>
            <a:ext cx="146304" cy="146304"/>
          </a:xfrm>
          <a:prstGeom prst="ellipse">
            <a:avLst/>
          </a:prstGeom>
          <a:solidFill>
            <a:schemeClr val="bg1"/>
          </a:solidFill>
          <a:ln/>
        </p:spPr>
      </p:sp>
      <p:sp>
        <p:nvSpPr>
          <p:cNvPr id="34" name="Simpul 3-2"/>
          <p:cNvSpPr/>
          <p:nvPr/>
        </p:nvSpPr>
        <p:spPr>
          <a:xfrm>
            <a:off x="10360152" y="3438144"/>
            <a:ext cx="146304" cy="146304"/>
          </a:xfrm>
          <a:prstGeom prst="ellipse">
            <a:avLst/>
          </a:prstGeom>
          <a:solidFill>
            <a:schemeClr val="bg1"/>
          </a:solidFill>
          <a:ln/>
        </p:spPr>
      </p:sp>
      <p:sp>
        <p:nvSpPr>
          <p:cNvPr id="35" name="Simpul 3-3"/>
          <p:cNvSpPr/>
          <p:nvPr/>
        </p:nvSpPr>
        <p:spPr>
          <a:xfrm>
            <a:off x="10360152" y="4096512"/>
            <a:ext cx="146304" cy="146304"/>
          </a:xfrm>
          <a:prstGeom prst="ellipse">
            <a:avLst/>
          </a:prstGeom>
          <a:solidFill>
            <a:schemeClr val="bg1"/>
          </a:solidFill>
          <a:ln/>
        </p:spPr>
      </p:sp>
      <p:sp>
        <p:nvSpPr>
          <p:cNvPr id="36" name="Indeks 1"/>
          <p:cNvSpPr txBox="1"/>
          <p:nvPr/>
        </p:nvSpPr>
        <p:spPr>
          <a:xfrm>
            <a:off x="9198864" y="3867912"/>
            <a:ext cx="274320" cy="237744"/>
          </a:xfrm>
          <a:prstGeom prst="rect">
            <a:avLst/>
          </a:prstGeom>
          <a:noFill/>
          <a:ln/>
        </p:spPr>
        <p:txBody>
          <a:bodyPr wrap="square" lIns="0" tIns="0" rIns="0" bIns="0" rtlCol="0" anchor="ctr"/>
          <a:lstStyle/>
          <a:p>
            <a:pPr indent="0" marL="0">
              <a:buNone/>
            </a:pPr>
            <a:r>
              <a:rPr lang="en-US" sz="1200" b="1" dirty="0">
                <a:solidFill>
                  <a:schemeClr val="accent2"/>
                </a:solidFill>
              </a:rPr>
              <a:t>1</a:t>
            </a:r>
            <a:endParaRPr lang="en-US" sz="1200" dirty="0"/>
          </a:p>
        </p:txBody>
      </p:sp>
      <p:sp>
        <p:nvSpPr>
          <p:cNvPr id="37" name="Indeks 2"/>
          <p:cNvSpPr txBox="1"/>
          <p:nvPr/>
        </p:nvSpPr>
        <p:spPr>
          <a:xfrm>
            <a:off x="9198864" y="3209544"/>
            <a:ext cx="274320" cy="237744"/>
          </a:xfrm>
          <a:prstGeom prst="rect">
            <a:avLst/>
          </a:prstGeom>
          <a:noFill/>
          <a:ln/>
        </p:spPr>
        <p:txBody>
          <a:bodyPr wrap="square" lIns="0" tIns="0" rIns="0" bIns="0" rtlCol="0" anchor="ctr"/>
          <a:lstStyle/>
          <a:p>
            <a:pPr indent="0" marL="0">
              <a:buNone/>
            </a:pPr>
            <a:r>
              <a:rPr lang="en-US" sz="1200" b="1" dirty="0">
                <a:solidFill>
                  <a:schemeClr val="accent2"/>
                </a:solidFill>
              </a:rPr>
              <a:t>2</a:t>
            </a:r>
            <a:endParaRPr lang="en-US" sz="1200" dirty="0"/>
          </a:p>
        </p:txBody>
      </p:sp>
      <p:sp>
        <p:nvSpPr>
          <p:cNvPr id="38" name="Indeks 3"/>
          <p:cNvSpPr txBox="1"/>
          <p:nvPr/>
        </p:nvSpPr>
        <p:spPr>
          <a:xfrm>
            <a:off x="9857232" y="3209544"/>
            <a:ext cx="274320" cy="237744"/>
          </a:xfrm>
          <a:prstGeom prst="rect">
            <a:avLst/>
          </a:prstGeom>
          <a:noFill/>
          <a:ln/>
        </p:spPr>
        <p:txBody>
          <a:bodyPr wrap="square" lIns="0" tIns="0" rIns="0" bIns="0" rtlCol="0" anchor="ctr"/>
          <a:lstStyle/>
          <a:p>
            <a:pPr indent="0" marL="0">
              <a:buNone/>
            </a:pPr>
            <a:r>
              <a:rPr lang="en-US" sz="1200" b="1" dirty="0">
                <a:solidFill>
                  <a:schemeClr val="accent2"/>
                </a:solidFill>
              </a:rPr>
              <a:t>3</a:t>
            </a:r>
            <a:endParaRPr lang="en-US" sz="1200" dirty="0"/>
          </a:p>
        </p:txBody>
      </p:sp>
      <p:sp>
        <p:nvSpPr>
          <p:cNvPr id="39" name="Indeks 4"/>
          <p:cNvSpPr txBox="1"/>
          <p:nvPr/>
        </p:nvSpPr>
        <p:spPr>
          <a:xfrm>
            <a:off x="9857232" y="2551176"/>
            <a:ext cx="274320" cy="237744"/>
          </a:xfrm>
          <a:prstGeom prst="rect">
            <a:avLst/>
          </a:prstGeom>
          <a:noFill/>
          <a:ln/>
        </p:spPr>
        <p:txBody>
          <a:bodyPr wrap="square" lIns="0" tIns="0" rIns="0" bIns="0" rtlCol="0" anchor="ctr"/>
          <a:lstStyle/>
          <a:p>
            <a:pPr indent="0" marL="0">
              <a:buNone/>
            </a:pPr>
            <a:r>
              <a:rPr lang="en-US" sz="1200" b="1" dirty="0">
                <a:solidFill>
                  <a:schemeClr val="accent2"/>
                </a:solidFill>
              </a:rPr>
              <a:t>4</a:t>
            </a:r>
            <a:endParaRPr lang="en-US" sz="1200" dirty="0"/>
          </a:p>
        </p:txBody>
      </p:sp>
      <p:sp>
        <p:nvSpPr>
          <p:cNvPr id="40" name="Indeks 5"/>
          <p:cNvSpPr txBox="1"/>
          <p:nvPr/>
        </p:nvSpPr>
        <p:spPr>
          <a:xfrm>
            <a:off x="10515600" y="2551176"/>
            <a:ext cx="274320" cy="237744"/>
          </a:xfrm>
          <a:prstGeom prst="rect">
            <a:avLst/>
          </a:prstGeom>
          <a:noFill/>
          <a:ln/>
        </p:spPr>
        <p:txBody>
          <a:bodyPr wrap="square" lIns="0" tIns="0" rIns="0" bIns="0" rtlCol="0" anchor="ctr"/>
          <a:lstStyle/>
          <a:p>
            <a:pPr indent="0" marL="0">
              <a:buNone/>
            </a:pPr>
            <a:r>
              <a:rPr lang="en-US" sz="1200" b="1" dirty="0">
                <a:solidFill>
                  <a:schemeClr val="accent2"/>
                </a:solidFill>
              </a:rPr>
              <a:t>5</a:t>
            </a:r>
            <a:endParaRPr lang="en-US" sz="1200" dirty="0"/>
          </a:p>
        </p:txBody>
      </p:sp>
      <p:sp>
        <p:nvSpPr>
          <p:cNvPr id="41" name="Titik S lingkaran"/>
          <p:cNvSpPr/>
          <p:nvPr/>
        </p:nvSpPr>
        <p:spPr>
          <a:xfrm>
            <a:off x="8275320" y="3986784"/>
            <a:ext cx="365760" cy="365760"/>
          </a:xfrm>
          <a:prstGeom prst="ellipse">
            <a:avLst/>
          </a:prstGeom>
          <a:solidFill>
            <a:schemeClr val="accent2"/>
          </a:solidFill>
          <a:ln/>
        </p:spPr>
      </p:sp>
      <p:sp>
        <p:nvSpPr>
          <p:cNvPr id="42" name="Titik S"/>
          <p:cNvSpPr txBox="1"/>
          <p:nvPr/>
        </p:nvSpPr>
        <p:spPr>
          <a:xfrm>
            <a:off x="8275320" y="3986784"/>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S</a:t>
            </a:r>
            <a:endParaRPr lang="en-US" sz="1400" dirty="0"/>
          </a:p>
        </p:txBody>
      </p:sp>
      <p:sp>
        <p:nvSpPr>
          <p:cNvPr id="43" name="Titik T lingkaran"/>
          <p:cNvSpPr/>
          <p:nvPr/>
        </p:nvSpPr>
        <p:spPr>
          <a:xfrm>
            <a:off x="10250424" y="2011680"/>
            <a:ext cx="365760" cy="365760"/>
          </a:xfrm>
          <a:prstGeom prst="ellipse">
            <a:avLst/>
          </a:prstGeom>
          <a:solidFill>
            <a:schemeClr val="accent2"/>
          </a:solidFill>
          <a:ln/>
        </p:spPr>
      </p:sp>
      <p:sp>
        <p:nvSpPr>
          <p:cNvPr id="44" name="Titik T"/>
          <p:cNvSpPr txBox="1"/>
          <p:nvPr/>
        </p:nvSpPr>
        <p:spPr>
          <a:xfrm>
            <a:off x="10250424" y="201168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T</a:t>
            </a:r>
            <a:endParaRPr lang="en-US" sz="1400" dirty="0"/>
          </a:p>
        </p:txBody>
      </p:sp>
      <p:sp>
        <p:nvSpPr>
          <p:cNvPr id="45" name="Grid keterangan"/>
          <p:cNvSpPr txBox="1"/>
          <p:nvPr/>
        </p:nvSpPr>
        <p:spPr>
          <a:xfrm>
            <a:off x="8183880" y="4462272"/>
            <a:ext cx="2834640" cy="658368"/>
          </a:xfrm>
          <a:prstGeom prst="rect">
            <a:avLst/>
          </a:prstGeom>
          <a:noFill/>
          <a:ln/>
        </p:spPr>
        <p:txBody>
          <a:bodyPr wrap="square" lIns="0" tIns="0" rIns="0" bIns="0" rtlCol="0" anchor="t"/>
          <a:lstStyle/>
          <a:p>
            <a:pPr indent="0" marL="0">
              <a:buNone/>
            </a:pPr>
            <a:r>
              <a:rPr lang="en-US" sz="1300" dirty="0">
                <a:solidFill>
                  <a:schemeClr val="bg2"/>
                </a:solidFill>
              </a:rPr>
              <a:t>Indeks = urutan langkah rute S → T</a:t>
            </a:r>
            <a:endParaRPr lang="en-US" sz="1300" dirty="0"/>
          </a:p>
          <a:p>
            <a:pPr indent="0" marL="0">
              <a:buNone/>
            </a:pPr>
            <a:r>
              <a:rPr lang="en-US" sz="1300" dirty="0">
                <a:solidFill>
                  <a:schemeClr val="bg2"/>
                </a:solidFill>
              </a:rPr>
              <a:t>1 kiri · 2 kanan · 3 kiri</a:t>
            </a:r>
            <a:endParaRPr lang="en-US" sz="1300" dirty="0"/>
          </a:p>
          <a:p>
            <a:pPr indent="0" marL="0">
              <a:buNone/>
            </a:pPr>
            <a:r>
              <a:rPr lang="en-US" sz="1300" dirty="0">
                <a:solidFill>
                  <a:schemeClr val="bg2"/>
                </a:solidFill>
              </a:rPr>
              <a:t>4 kanan · 5 kiri · 6 berhenti</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RANCANGAN PCB</a:t>
            </a:r>
            <a:endParaRPr lang="en-US" sz="4000" dirty="0"/>
          </a:p>
        </p:txBody>
      </p:sp>
      <p:pic>
        <p:nvPicPr>
          <p:cNvPr id="3" name="PCB sensor" descr="Render PCB sensor rev B tampak bawah: 12 sensor QRE1113GR di pita melengkung bentuk jangkar">    </p:cNvPr>
          <p:cNvPicPr>
            <a:picLocks noChangeAspect="1"/>
          </p:cNvPicPr>
          <p:nvPr/>
        </p:nvPicPr>
        <p:blipFill>
          <a:blip r:embed="rId1"/>
          <a:stretch>
            <a:fillRect/>
          </a:stretch>
        </p:blipFill>
        <p:spPr>
          <a:xfrm>
            <a:off x="1124712" y="1965960"/>
            <a:ext cx="3707939" cy="2057400"/>
          </a:xfrm>
          <a:prstGeom prst="rect">
            <a:avLst/>
          </a:prstGeom>
        </p:spPr>
      </p:pic>
      <p:pic>
        <p:nvPicPr>
          <p:cNvPr id="4" name="PCB utama" descr="Render PCB utama bentuk mobil F1, tampak miring">    </p:cNvPr>
          <p:cNvPicPr>
            <a:picLocks noChangeAspect="1"/>
          </p:cNvPicPr>
          <p:nvPr/>
        </p:nvPicPr>
        <p:blipFill>
          <a:blip r:embed="rId2"/>
          <a:stretch>
            <a:fillRect/>
          </a:stretch>
        </p:blipFill>
        <p:spPr>
          <a:xfrm>
            <a:off x="7589520" y="1965960"/>
            <a:ext cx="2138351" cy="2057400"/>
          </a:xfrm>
          <a:prstGeom prst="rect">
            <a:avLst/>
          </a:prstGeom>
        </p:spPr>
      </p:pic>
      <p:sp>
        <p:nvSpPr>
          <p:cNvPr id="5" name="PCB sensor keterangan"/>
          <p:cNvSpPr txBox="1"/>
          <p:nvPr/>
        </p:nvSpPr>
        <p:spPr>
          <a:xfrm>
            <a:off x="1124712" y="4590288"/>
            <a:ext cx="4937760" cy="658368"/>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PCB sensor rev B · 95 × 51 mm</a:t>
            </a:r>
            <a:endParaRPr lang="en-US" sz="1600" dirty="0"/>
          </a:p>
          <a:p>
            <a:pPr indent="0" marL="0">
              <a:buNone/>
            </a:pPr>
            <a:r>
              <a:rPr lang="en-US" sz="1400" dirty="0">
                <a:solidFill>
                  <a:schemeClr val="bg1"/>
                </a:solidFill>
              </a:rPr>
              <a:t>12 QRE1113GR jarak 8 mm, mux SOIC-24, JST XH 8 pin</a:t>
            </a:r>
            <a:endParaRPr lang="en-US" sz="1600" dirty="0"/>
          </a:p>
        </p:txBody>
      </p:sp>
      <p:sp>
        <p:nvSpPr>
          <p:cNvPr id="6" name="PCB sensor status latar"/>
          <p:cNvSpPr/>
          <p:nvPr/>
        </p:nvSpPr>
        <p:spPr>
          <a:xfrm>
            <a:off x="1124712" y="4114800"/>
            <a:ext cx="2450592" cy="365760"/>
          </a:xfrm>
          <a:prstGeom prst="roundRect">
            <a:avLst>
              <a:gd name="adj" fmla="val 50000"/>
            </a:avLst>
          </a:prstGeom>
          <a:solidFill>
            <a:schemeClr val="accent1"/>
          </a:solidFill>
          <a:ln/>
        </p:spPr>
      </p:sp>
      <p:sp>
        <p:nvSpPr>
          <p:cNvPr id="7" name="PCB sensor status"/>
          <p:cNvSpPr txBox="1"/>
          <p:nvPr/>
        </p:nvSpPr>
        <p:spPr>
          <a:xfrm>
            <a:off x="1124712" y="4114800"/>
            <a:ext cx="2450592" cy="365760"/>
          </a:xfrm>
          <a:prstGeom prst="rect">
            <a:avLst/>
          </a:prstGeom>
          <a:noFill/>
          <a:ln/>
        </p:spPr>
        <p:txBody>
          <a:bodyPr wrap="square" lIns="0" tIns="0" rIns="0" bIns="0" rtlCol="0" anchor="ctr"/>
          <a:lstStyle/>
          <a:p>
            <a:pPr algn="ctr" indent="0" marL="0">
              <a:buNone/>
            </a:pPr>
            <a:r>
              <a:rPr lang="en-US" sz="1400" b="1" dirty="0">
                <a:solidFill>
                  <a:schemeClr val="bg1"/>
                </a:solidFill>
              </a:rPr>
              <a:t>DRC 0 error · siap cetak</a:t>
            </a:r>
            <a:endParaRPr lang="en-US" sz="1400" dirty="0"/>
          </a:p>
        </p:txBody>
      </p:sp>
      <p:sp>
        <p:nvSpPr>
          <p:cNvPr id="8" name="PCB utama keterangan"/>
          <p:cNvSpPr txBox="1"/>
          <p:nvPr/>
        </p:nvSpPr>
        <p:spPr>
          <a:xfrm>
            <a:off x="6400800" y="4590288"/>
            <a:ext cx="4663440" cy="658368"/>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PCB utama · 100 × 127 mm, bentuk mobil F1</a:t>
            </a:r>
            <a:endParaRPr lang="en-US" sz="1600" dirty="0"/>
          </a:p>
          <a:p>
            <a:pPr indent="0" marL="0">
              <a:buNone/>
            </a:pPr>
            <a:r>
              <a:rPr lang="en-US" sz="1400" dirty="0">
                <a:solidFill>
                  <a:schemeClr val="bg1"/>
                </a:solidFill>
              </a:rPr>
              <a:t>ESP32, TB6612, buck 5 V, OLED, tombol, buzzer</a:t>
            </a:r>
            <a:endParaRPr lang="en-US" sz="1600" dirty="0"/>
          </a:p>
        </p:txBody>
      </p:sp>
      <p:sp>
        <p:nvSpPr>
          <p:cNvPr id="9" name="PCB utama status latar"/>
          <p:cNvSpPr/>
          <p:nvPr/>
        </p:nvSpPr>
        <p:spPr>
          <a:xfrm>
            <a:off x="6400800" y="4114800"/>
            <a:ext cx="3406140" cy="365760"/>
          </a:xfrm>
          <a:prstGeom prst="roundRect">
            <a:avLst>
              <a:gd name="adj" fmla="val 50000"/>
            </a:avLst>
          </a:prstGeom>
          <a:solidFill>
            <a:schemeClr val="accent1"/>
          </a:solidFill>
          <a:ln/>
        </p:spPr>
      </p:sp>
      <p:sp>
        <p:nvSpPr>
          <p:cNvPr id="10" name="PCB utama status"/>
          <p:cNvSpPr txBox="1"/>
          <p:nvPr/>
        </p:nvSpPr>
        <p:spPr>
          <a:xfrm>
            <a:off x="6400800" y="4114800"/>
            <a:ext cx="3406140" cy="365760"/>
          </a:xfrm>
          <a:prstGeom prst="rect">
            <a:avLst/>
          </a:prstGeom>
          <a:noFill/>
          <a:ln/>
        </p:spPr>
        <p:txBody>
          <a:bodyPr wrap="square" lIns="0" tIns="0" rIns="0" bIns="0" rtlCol="0" anchor="ctr"/>
          <a:lstStyle/>
          <a:p>
            <a:pPr algn="ctr" indent="0" marL="0">
              <a:buNone/>
            </a:pPr>
            <a:r>
              <a:rPr lang="en-US" sz="1400" b="1" dirty="0">
                <a:solidFill>
                  <a:schemeClr val="bg1"/>
                </a:solidFill>
              </a:rPr>
              <a:t>Routing selesai · sisa 11 error DRC</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RANCANGAN MEKANIK</a:t>
            </a:r>
            <a:endParaRPr lang="en-US" sz="4000" dirty="0"/>
          </a:p>
        </p:txBody>
      </p:sp>
      <p:sp>
        <p:nvSpPr>
          <p:cNvPr id="3" name="Model 3D iso bingkai"/>
          <p:cNvSpPr/>
          <p:nvPr/>
        </p:nvSpPr>
        <p:spPr>
          <a:xfrm>
            <a:off x="1124712" y="2048256"/>
            <a:ext cx="5047488" cy="3636699"/>
          </a:xfrm>
          <a:prstGeom prst="rect">
            <a:avLst/>
          </a:prstGeom>
          <a:solidFill>
            <a:schemeClr val="bg1"/>
          </a:solidFill>
          <a:ln/>
        </p:spPr>
      </p:sp>
      <p:pic>
        <p:nvPicPr>
          <p:cNvPr id="4" name="Model 3D iso" descr="Model 3D robot v16 tampak miring di atas garis hitam">    </p:cNvPr>
          <p:cNvPicPr>
            <a:picLocks noChangeAspect="1"/>
          </p:cNvPicPr>
          <p:nvPr/>
        </p:nvPicPr>
        <p:blipFill>
          <a:blip r:embed="rId1"/>
          <a:stretch>
            <a:fillRect/>
          </a:stretch>
        </p:blipFill>
        <p:spPr>
          <a:xfrm>
            <a:off x="1179576" y="2103120"/>
            <a:ext cx="4937760" cy="3526971"/>
          </a:xfrm>
          <a:prstGeom prst="rect">
            <a:avLst/>
          </a:prstGeom>
        </p:spPr>
      </p:pic>
      <p:sp>
        <p:nvSpPr>
          <p:cNvPr id="5" name="Model 3D samping bingkai"/>
          <p:cNvSpPr/>
          <p:nvPr/>
        </p:nvSpPr>
        <p:spPr>
          <a:xfrm>
            <a:off x="6574536" y="2048256"/>
            <a:ext cx="2075688" cy="1513985"/>
          </a:xfrm>
          <a:prstGeom prst="rect">
            <a:avLst/>
          </a:prstGeom>
          <a:solidFill>
            <a:schemeClr val="bg1"/>
          </a:solidFill>
          <a:ln/>
        </p:spPr>
      </p:sp>
      <p:pic>
        <p:nvPicPr>
          <p:cNvPr id="6" name="Model 3D samping" descr="Model 3D robot tampak samping">    </p:cNvPr>
          <p:cNvPicPr>
            <a:picLocks noChangeAspect="1"/>
          </p:cNvPicPr>
          <p:nvPr/>
        </p:nvPicPr>
        <p:blipFill>
          <a:blip r:embed="rId2"/>
          <a:stretch>
            <a:fillRect/>
          </a:stretch>
        </p:blipFill>
        <p:spPr>
          <a:xfrm>
            <a:off x="6629400" y="2103120"/>
            <a:ext cx="1965960" cy="1404257"/>
          </a:xfrm>
          <a:prstGeom prst="rect">
            <a:avLst/>
          </a:prstGeom>
        </p:spPr>
      </p:pic>
      <p:sp>
        <p:nvSpPr>
          <p:cNvPr id="7" name="Model 3D belakang bingkai"/>
          <p:cNvSpPr/>
          <p:nvPr/>
        </p:nvSpPr>
        <p:spPr>
          <a:xfrm>
            <a:off x="8723376" y="2048256"/>
            <a:ext cx="2075688" cy="1513985"/>
          </a:xfrm>
          <a:prstGeom prst="rect">
            <a:avLst/>
          </a:prstGeom>
          <a:solidFill>
            <a:schemeClr val="bg1"/>
          </a:solidFill>
          <a:ln/>
        </p:spPr>
      </p:sp>
      <p:pic>
        <p:nvPicPr>
          <p:cNvPr id="8" name="Model 3D belakang" descr="Model 3D robot tampak belakang miring">    </p:cNvPr>
          <p:cNvPicPr>
            <a:picLocks noChangeAspect="1"/>
          </p:cNvPicPr>
          <p:nvPr/>
        </p:nvPicPr>
        <p:blipFill>
          <a:blip r:embed="rId3"/>
          <a:stretch>
            <a:fillRect/>
          </a:stretch>
        </p:blipFill>
        <p:spPr>
          <a:xfrm>
            <a:off x="8778240" y="2103120"/>
            <a:ext cx="1965960" cy="1404257"/>
          </a:xfrm>
          <a:prstGeom prst="rect">
            <a:avLst/>
          </a:prstGeom>
        </p:spPr>
      </p:pic>
      <p:sp>
        <p:nvSpPr>
          <p:cNvPr id="9" name="Mekanik poin"/>
          <p:cNvSpPr txBox="1"/>
          <p:nvPr/>
        </p:nvSpPr>
        <p:spPr>
          <a:xfrm>
            <a:off x="6574536" y="3611880"/>
            <a:ext cx="4206240" cy="164592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bg1"/>
                </a:solidFill>
              </a:rPr>
              <a:t>± 116 × 165 × 62 mm, bentuk rendah seperti kit pembanding.</a:t>
            </a:r>
            <a:endParaRPr lang="en-US" sz="1400" dirty="0"/>
          </a:p>
          <a:p>
            <a:pPr marL="203200" indent="-203200">
              <a:spcAft>
                <a:spcPts val="400"/>
              </a:spcAft>
              <a:buSzPct val="100000"/>
              <a:buChar char="•"/>
            </a:pPr>
            <a:r>
              <a:rPr lang="en-US" sz="1400" dirty="0">
                <a:solidFill>
                  <a:schemeClr val="bg1"/>
                </a:solidFill>
              </a:rPr>
              <a:t>PCB jadi sasis; semua komponen dan baterai di atas, muka sensor ± 3 mm dari lantai.</a:t>
            </a:r>
            <a:endParaRPr lang="en-US" sz="1400" dirty="0"/>
          </a:p>
          <a:p>
            <a:pPr marL="203200" indent="-203200">
              <a:spcAft>
                <a:spcPts val="400"/>
              </a:spcAft>
              <a:buSzPct val="100000"/>
              <a:buChar char="•"/>
            </a:pPr>
            <a:r>
              <a:rPr lang="en-US" sz="1400" dirty="0">
                <a:solidFill>
                  <a:schemeClr val="bg1"/>
                </a:solidFill>
              </a:rPr>
              <a:t>Body 3D print (cover, bumper, dudukan, sayap) belum di RAB: menunggu info printer lab.</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RENCANA ANGGARAN BIAYA</a:t>
            </a:r>
            <a:endParaRPr lang="en-US" sz="4000" dirty="0"/>
          </a:p>
        </p:txBody>
      </p:sp>
      <p:sp>
        <p:nvSpPr>
          <p:cNvPr id="3" name="Total RAB"/>
          <p:cNvSpPr txBox="1"/>
          <p:nvPr/>
        </p:nvSpPr>
        <p:spPr>
          <a:xfrm>
            <a:off x="1124712" y="2148840"/>
            <a:ext cx="4206240" cy="1234440"/>
          </a:xfrm>
          <a:prstGeom prst="rect">
            <a:avLst/>
          </a:prstGeom>
          <a:noFill/>
          <a:ln/>
        </p:spPr>
        <p:txBody>
          <a:bodyPr wrap="square" lIns="0" tIns="0" rIns="0" bIns="0" rtlCol="0" anchor="t"/>
          <a:lstStyle/>
          <a:p>
            <a:pPr indent="0" marL="0">
              <a:buNone/>
            </a:pPr>
            <a:r>
              <a:rPr lang="en-US" sz="4800" b="1" dirty="0">
                <a:solidFill>
                  <a:schemeClr val="accent2"/>
                </a:solidFill>
              </a:rPr>
              <a:t>Rp902.000</a:t>
            </a:r>
            <a:endParaRPr lang="en-US" sz="4800" dirty="0"/>
          </a:p>
          <a:p>
            <a:pPr indent="0" marL="0">
              <a:buNone/>
            </a:pPr>
            <a:r>
              <a:rPr lang="en-US" sz="1600" dirty="0">
                <a:solidFill>
                  <a:schemeClr val="bg1"/>
                </a:solidFill>
              </a:rPr>
              <a:t>Elektrikal Rp847.000 + Mekanik Rp55.000</a:t>
            </a:r>
            <a:endParaRPr lang="en-US" sz="4800" dirty="0"/>
          </a:p>
        </p:txBody>
      </p:sp>
      <p:sp>
        <p:nvSpPr>
          <p:cNvPr id="4" name="RAB poin"/>
          <p:cNvSpPr txBox="1"/>
          <p:nvPr/>
        </p:nvSpPr>
        <p:spPr>
          <a:xfrm>
            <a:off x="1124712" y="3611880"/>
            <a:ext cx="4206240" cy="19659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bg1"/>
                </a:solidFill>
              </a:rPr>
              <a:t>Porsi terbesar: fabrikasi 2 PCB (Rp200.000) dan 12 sensor QRE1113GR (Rp180.000).</a:t>
            </a:r>
            <a:endParaRPr lang="en-US" sz="1400" dirty="0"/>
          </a:p>
          <a:p>
            <a:pPr marL="203200" indent="-203200">
              <a:spcAft>
                <a:spcPts val="800"/>
              </a:spcAft>
              <a:buSzPct val="100000"/>
              <a:buChar char="•"/>
            </a:pPr>
            <a:r>
              <a:rPr lang="en-US" sz="1400" dirty="0">
                <a:solidFill>
                  <a:schemeClr val="bg1"/>
                </a:solidFill>
              </a:rPr>
              <a:t>Di luar RAB: lintasan uji, breadboard dan timah (pinjam lab), software gratis (Blockly, Arduino, KiCad).</a:t>
            </a:r>
            <a:endParaRPr lang="en-US" sz="1400" dirty="0"/>
          </a:p>
          <a:p>
            <a:pPr marL="203200" indent="-203200">
              <a:spcAft>
                <a:spcPts val="800"/>
              </a:spcAft>
              <a:buSzPct val="100000"/>
              <a:buChar char="•"/>
            </a:pPr>
            <a:r>
              <a:rPr lang="en-US" sz="1400" dirty="0">
                <a:solidFill>
                  <a:schemeClr val="bg1"/>
                </a:solidFill>
              </a:rPr>
              <a:t>Kit Ichiduino Pro hanya pembanding, tidak dianggarkan ulang.</a:t>
            </a:r>
            <a:endParaRPr lang="en-US" sz="1400" dirty="0"/>
          </a:p>
        </p:txBody>
      </p:sp>
      <p:graphicFrame>
        <p:nvGraphicFramePr>
          <p:cNvPr id="5" name="Grafik RAB per kelompok" descr="Grafik batang biaya per kelompok: PCB dan konektor 240 ribu, sensor garis 218 ribu, penggerak 170 ribu, daya dan baterai 136 ribu, otak dan antarmuka 118 ribu, mekanik lain 20 ribu"/>
          <p:cNvGraphicFramePr/>
          <p:nvPr/>
        </p:nvGraphicFramePr>
        <p:xfrm>
          <a:off x="5669280" y="2011680"/>
          <a:ext cx="5440680" cy="3611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ALASAN KOMPONEN UTAMA</a:t>
            </a:r>
            <a:endParaRPr lang="en-US" sz="4000" dirty="0"/>
          </a:p>
        </p:txBody>
      </p:sp>
      <p:sp>
        <p:nvSpPr>
          <p:cNvPr id="3" name="Komponen 1 latar"/>
          <p:cNvSpPr/>
          <p:nvPr/>
        </p:nvSpPr>
        <p:spPr>
          <a:xfrm>
            <a:off x="1124712" y="2103120"/>
            <a:ext cx="3127248" cy="1609344"/>
          </a:xfrm>
          <a:prstGeom prst="rect">
            <a:avLst/>
          </a:prstGeom>
          <a:solidFill>
            <a:schemeClr val="accent1"/>
          </a:solidFill>
          <a:ln/>
        </p:spPr>
      </p:sp>
      <p:sp>
        <p:nvSpPr>
          <p:cNvPr id="4" name="Komponen 1 teks"/>
          <p:cNvSpPr txBox="1"/>
          <p:nvPr/>
        </p:nvSpPr>
        <p:spPr>
          <a:xfrm>
            <a:off x="1289304" y="2249424"/>
            <a:ext cx="2798064" cy="1316736"/>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ESP32 DevKit · Rp76.000</a:t>
            </a:r>
            <a:endParaRPr lang="en-US" sz="1600" dirty="0"/>
          </a:p>
          <a:p>
            <a:pPr indent="0" marL="0">
              <a:buNone/>
            </a:pPr>
            <a:r>
              <a:rPr lang="en-US" sz="1400" dirty="0">
                <a:solidFill>
                  <a:schemeClr val="bg1"/>
                </a:solidFill>
              </a:rPr>
              <a:t>240 MHz dual-core + WiFi untuk Blockly; ESP32-S3 &gt; Rp130.000</a:t>
            </a:r>
            <a:endParaRPr lang="en-US" sz="1600" dirty="0"/>
          </a:p>
        </p:txBody>
      </p:sp>
      <p:sp>
        <p:nvSpPr>
          <p:cNvPr id="5" name="Komponen 2 latar"/>
          <p:cNvSpPr/>
          <p:nvPr/>
        </p:nvSpPr>
        <p:spPr>
          <a:xfrm>
            <a:off x="4416552" y="2103120"/>
            <a:ext cx="3127248" cy="1609344"/>
          </a:xfrm>
          <a:prstGeom prst="rect">
            <a:avLst/>
          </a:prstGeom>
          <a:solidFill>
            <a:schemeClr val="accent1"/>
          </a:solidFill>
          <a:ln/>
        </p:spPr>
      </p:sp>
      <p:sp>
        <p:nvSpPr>
          <p:cNvPr id="6" name="Komponen 2 teks"/>
          <p:cNvSpPr txBox="1"/>
          <p:nvPr/>
        </p:nvSpPr>
        <p:spPr>
          <a:xfrm>
            <a:off x="4581144" y="2249424"/>
            <a:ext cx="2798064" cy="1316736"/>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12× QRE1113GR · Rp180.000</a:t>
            </a:r>
            <a:endParaRPr lang="en-US" sz="1600" dirty="0"/>
          </a:p>
          <a:p>
            <a:pPr indent="0" marL="0">
              <a:buNone/>
            </a:pPr>
            <a:r>
              <a:rPr lang="en-US" sz="1400" dirty="0">
                <a:solidFill>
                  <a:schemeClr val="bg1"/>
                </a:solidFill>
              </a:rPr>
              <a:t>LED IR + fototransistor satu kemasan bersekat: papan tipis, sensor ± 3 mm dari lantai</a:t>
            </a:r>
            <a:endParaRPr lang="en-US" sz="1600" dirty="0"/>
          </a:p>
        </p:txBody>
      </p:sp>
      <p:sp>
        <p:nvSpPr>
          <p:cNvPr id="7" name="Komponen 3 latar"/>
          <p:cNvSpPr/>
          <p:nvPr/>
        </p:nvSpPr>
        <p:spPr>
          <a:xfrm>
            <a:off x="7708392" y="2103120"/>
            <a:ext cx="3127248" cy="1609344"/>
          </a:xfrm>
          <a:prstGeom prst="rect">
            <a:avLst/>
          </a:prstGeom>
          <a:solidFill>
            <a:schemeClr val="accent1"/>
          </a:solidFill>
          <a:ln/>
        </p:spPr>
      </p:sp>
      <p:sp>
        <p:nvSpPr>
          <p:cNvPr id="8" name="Komponen 3 teks"/>
          <p:cNvSpPr txBox="1"/>
          <p:nvPr/>
        </p:nvSpPr>
        <p:spPr>
          <a:xfrm>
            <a:off x="7872984" y="2249424"/>
            <a:ext cx="2798064" cy="1316736"/>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2× N20 + encoder · Rp110.000</a:t>
            </a:r>
            <a:endParaRPr lang="en-US" sz="1600" dirty="0"/>
          </a:p>
          <a:p>
            <a:pPr indent="0" marL="0">
              <a:buNone/>
            </a:pPr>
            <a:r>
              <a:rPr lang="en-US" sz="1400" dirty="0">
                <a:solidFill>
                  <a:schemeClr val="bg1"/>
                </a:solidFill>
              </a:rPr>
              <a:t>v maks 0,89 m/s (sasaran ≥ 0,5 m/s); encoder untuk belok 90° dan jarak tempuh</a:t>
            </a:r>
            <a:endParaRPr lang="en-US" sz="1600" dirty="0"/>
          </a:p>
        </p:txBody>
      </p:sp>
      <p:sp>
        <p:nvSpPr>
          <p:cNvPr id="9" name="Komponen 4 latar"/>
          <p:cNvSpPr/>
          <p:nvPr/>
        </p:nvSpPr>
        <p:spPr>
          <a:xfrm>
            <a:off x="1124712" y="3858768"/>
            <a:ext cx="3127248" cy="1609344"/>
          </a:xfrm>
          <a:prstGeom prst="rect">
            <a:avLst/>
          </a:prstGeom>
          <a:solidFill>
            <a:schemeClr val="accent1"/>
          </a:solidFill>
          <a:ln/>
        </p:spPr>
      </p:sp>
      <p:sp>
        <p:nvSpPr>
          <p:cNvPr id="10" name="Komponen 4 teks"/>
          <p:cNvSpPr txBox="1"/>
          <p:nvPr/>
        </p:nvSpPr>
        <p:spPr>
          <a:xfrm>
            <a:off x="1289304" y="4005072"/>
            <a:ext cx="2798064" cy="1316736"/>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TB6612FNG · Rp25.000</a:t>
            </a:r>
            <a:endParaRPr lang="en-US" sz="1600" dirty="0"/>
          </a:p>
          <a:p>
            <a:pPr indent="0" marL="0">
              <a:buNone/>
            </a:pPr>
            <a:r>
              <a:rPr lang="en-US" sz="1400" dirty="0">
                <a:solidFill>
                  <a:schemeClr val="bg1"/>
                </a:solidFill>
              </a:rPr>
              <a:t>Tegangan jatuh jauh lebih kecil dari L298N, sehingga tidak panas</a:t>
            </a:r>
            <a:endParaRPr lang="en-US" sz="1600" dirty="0"/>
          </a:p>
        </p:txBody>
      </p:sp>
      <p:sp>
        <p:nvSpPr>
          <p:cNvPr id="11" name="Komponen 5 latar"/>
          <p:cNvSpPr/>
          <p:nvPr/>
        </p:nvSpPr>
        <p:spPr>
          <a:xfrm>
            <a:off x="4416552" y="3858768"/>
            <a:ext cx="3127248" cy="1609344"/>
          </a:xfrm>
          <a:prstGeom prst="rect">
            <a:avLst/>
          </a:prstGeom>
          <a:solidFill>
            <a:schemeClr val="accent1"/>
          </a:solidFill>
          <a:ln/>
        </p:spPr>
      </p:sp>
      <p:sp>
        <p:nvSpPr>
          <p:cNvPr id="12" name="Komponen 5 teks"/>
          <p:cNvSpPr txBox="1"/>
          <p:nvPr/>
        </p:nvSpPr>
        <p:spPr>
          <a:xfrm>
            <a:off x="4581144" y="4005072"/>
            <a:ext cx="2798064" cy="1316736"/>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2× 18650 + BMS + charger · Rp115.000</a:t>
            </a:r>
            <a:endParaRPr lang="en-US" sz="1600" dirty="0"/>
          </a:p>
          <a:p>
            <a:pPr indent="0" marL="0">
              <a:buNone/>
            </a:pPr>
            <a:r>
              <a:rPr lang="en-US" sz="1400" dirty="0">
                <a:solidFill>
                  <a:schemeClr val="bg1"/>
                </a:solidFill>
              </a:rPr>
              <a:t>± 3 jam pemakaian, dilindungi BMS, diisi lewat USB-C</a:t>
            </a:r>
            <a:endParaRPr lang="en-US" sz="1600" dirty="0"/>
          </a:p>
        </p:txBody>
      </p:sp>
      <p:sp>
        <p:nvSpPr>
          <p:cNvPr id="13" name="Komponen 6 latar"/>
          <p:cNvSpPr/>
          <p:nvPr/>
        </p:nvSpPr>
        <p:spPr>
          <a:xfrm>
            <a:off x="7708392" y="3858768"/>
            <a:ext cx="3127248" cy="1609344"/>
          </a:xfrm>
          <a:prstGeom prst="rect">
            <a:avLst/>
          </a:prstGeom>
          <a:solidFill>
            <a:schemeClr val="accent1"/>
          </a:solidFill>
          <a:ln/>
        </p:spPr>
      </p:sp>
      <p:sp>
        <p:nvSpPr>
          <p:cNvPr id="14" name="Komponen 6 teks"/>
          <p:cNvSpPr txBox="1"/>
          <p:nvPr/>
        </p:nvSpPr>
        <p:spPr>
          <a:xfrm>
            <a:off x="7872984" y="4005072"/>
            <a:ext cx="2798064" cy="1316736"/>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Fabrikasi 2 PCB · Rp200.000</a:t>
            </a:r>
            <a:endParaRPr lang="en-US" sz="1600" dirty="0"/>
          </a:p>
          <a:p>
            <a:pPr indent="0" marL="0">
              <a:buNone/>
            </a:pPr>
            <a:r>
              <a:rPr lang="en-US" sz="1400" dirty="0">
                <a:solidFill>
                  <a:schemeClr val="bg1"/>
                </a:solidFill>
              </a:rPr>
              <a:t>Papan custom menggantikan kabel breadboard: rapi dan awet dipakai siswa</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RIWAYAT RAB &amp; EFISIENSI</a:t>
            </a:r>
            <a:endParaRPr lang="en-US" sz="4000" dirty="0"/>
          </a:p>
        </p:txBody>
      </p:sp>
      <p:graphicFrame>
        <p:nvGraphicFramePr>
          <p:cNvPr id="3" name="Grafik riwayat RAB" descr="Grafik garis total RAB per revisi dari 845 sampai 902 ribu rupiah, dengan garis batas 900 ribu"/>
          <p:cNvGraphicFramePr/>
          <p:nvPr/>
        </p:nvGraphicFramePr>
        <p:xfrm>
          <a:off x="1051560" y="2011680"/>
          <a:ext cx="6400800" cy="3611880"/>
        </p:xfrm>
        <a:graphic xmlns:a="http://schemas.openxmlformats.org/drawingml/2006/main">
          <a:graphicData uri="http://schemas.openxmlformats.org/drawingml/2006/chart">
            <c:chart xmlns:c="http://schemas.openxmlformats.org/drawingml/2006/chart" r:id="rId1"/>
          </a:graphicData>
        </a:graphic>
      </p:graphicFrame>
      <p:sp>
        <p:nvSpPr>
          <p:cNvPr id="4" name="Selisih anggaran"/>
          <p:cNvSpPr txBox="1"/>
          <p:nvPr/>
        </p:nvSpPr>
        <p:spPr>
          <a:xfrm>
            <a:off x="7726680" y="2103120"/>
            <a:ext cx="3383280" cy="1143000"/>
          </a:xfrm>
          <a:prstGeom prst="rect">
            <a:avLst/>
          </a:prstGeom>
          <a:noFill/>
          <a:ln/>
        </p:spPr>
        <p:txBody>
          <a:bodyPr wrap="square" lIns="0" tIns="0" rIns="0" bIns="0" rtlCol="0" anchor="t"/>
          <a:lstStyle/>
          <a:p>
            <a:pPr indent="0" marL="0">
              <a:buNone/>
            </a:pPr>
            <a:r>
              <a:rPr lang="en-US" sz="4000" b="1" dirty="0">
                <a:solidFill>
                  <a:schemeClr val="accent2"/>
                </a:solidFill>
              </a:rPr>
              <a:t>+Rp2.000</a:t>
            </a:r>
            <a:endParaRPr lang="en-US" sz="4000" dirty="0"/>
          </a:p>
          <a:p>
            <a:pPr indent="0" marL="0">
              <a:buNone/>
            </a:pPr>
            <a:r>
              <a:rPr lang="en-US" sz="1600" dirty="0">
                <a:solidFill>
                  <a:schemeClr val="bg1"/>
                </a:solidFill>
              </a:rPr>
              <a:t>(0,2%) di atas batas Rp900.000</a:t>
            </a:r>
            <a:endParaRPr lang="en-US" sz="4000" dirty="0"/>
          </a:p>
        </p:txBody>
      </p:sp>
      <p:sp>
        <p:nvSpPr>
          <p:cNvPr id="5" name="Selisih poin"/>
          <p:cNvSpPr txBox="1"/>
          <p:nvPr/>
        </p:nvSpPr>
        <p:spPr>
          <a:xfrm>
            <a:off x="7726680" y="3429000"/>
            <a:ext cx="3383280" cy="21945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bg1"/>
                </a:solidFill>
              </a:rPr>
              <a:t>Penyebab: QRE1113GR lokal Rp15.000/pcs, 3× perkiraan awal (+Rp105.000).</a:t>
            </a:r>
            <a:endParaRPr lang="en-US" sz="1400" dirty="0"/>
          </a:p>
          <a:p>
            <a:pPr marL="203200" indent="-203200">
              <a:spcAft>
                <a:spcPts val="800"/>
              </a:spcAft>
              <a:buSzPct val="100000"/>
              <a:buChar char="•"/>
            </a:pPr>
            <a:r>
              <a:rPr lang="en-US" sz="1400" dirty="0">
                <a:solidFill>
                  <a:schemeClr val="bg1"/>
                </a:solidFill>
              </a:rPr>
              <a:t>Sudah dihemat: MCP23017 + LED indikator dihapus, skid nilon pengganti ball caster, breadboard dan timah pinjam lab (−Rp85.000).</a:t>
            </a:r>
            <a:endParaRPr lang="en-US" sz="1400" dirty="0"/>
          </a:p>
          <a:p>
            <a:pPr marL="203200" indent="-203200">
              <a:spcAft>
                <a:spcPts val="800"/>
              </a:spcAft>
              <a:buSzPct val="100000"/>
              <a:buChar char="•"/>
            </a:pPr>
            <a:r>
              <a:rPr lang="en-US" sz="1400" dirty="0">
                <a:solidFill>
                  <a:schemeClr val="bg1"/>
                </a:solidFill>
              </a:rPr>
              <a:t>12 sensor dipertahankan supaya setara kit pembanding.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1463040" y="1024128"/>
            <a:ext cx="9262872" cy="786384"/>
          </a:xfrm>
          <a:prstGeom prst="rect">
            <a:avLst/>
          </a:prstGeom>
          <a:noFill/>
          <a:ln/>
        </p:spPr>
        <p:txBody>
          <a:bodyPr wrap="square" lIns="0" tIns="0" rIns="0" bIns="0" rtlCol="0" anchor="ctr"/>
          <a:lstStyle/>
          <a:p>
            <a:pPr algn="ctr" indent="0" marL="0">
              <a:buNone/>
            </a:pPr>
            <a:r>
              <a:rPr lang="en-US" sz="4000" b="1" dirty="0">
                <a:solidFill>
                  <a:schemeClr val="bg1"/>
                </a:solidFill>
              </a:rPr>
              <a:t>JADWAL &amp; RISIKO</a:t>
            </a:r>
            <a:endParaRPr lang="en-US" sz="4000" dirty="0"/>
          </a:p>
        </p:txBody>
      </p:sp>
      <p:sp>
        <p:nvSpPr>
          <p:cNvPr id="3" name="Garis waktu"/>
          <p:cNvSpPr/>
          <p:nvPr/>
        </p:nvSpPr>
        <p:spPr>
          <a:xfrm>
            <a:off x="1920240" y="2514600"/>
            <a:ext cx="8366760" cy="0"/>
          </a:xfrm>
          <a:prstGeom prst="line">
            <a:avLst/>
          </a:prstGeom>
          <a:noFill/>
          <a:ln w="38100">
            <a:solidFill>
              <a:schemeClr val="accent3"/>
            </a:solidFill>
            <a:prstDash val="solid"/>
          </a:ln>
        </p:spPr>
      </p:sp>
      <p:sp>
        <p:nvSpPr>
          <p:cNvPr id="4" name="Gerbang G1 lingkaran"/>
          <p:cNvSpPr/>
          <p:nvPr/>
        </p:nvSpPr>
        <p:spPr>
          <a:xfrm>
            <a:off x="1673352" y="2267712"/>
            <a:ext cx="493776" cy="493776"/>
          </a:xfrm>
          <a:prstGeom prst="ellipse">
            <a:avLst/>
          </a:prstGeom>
          <a:solidFill>
            <a:schemeClr val="accent2"/>
          </a:solidFill>
          <a:ln/>
        </p:spPr>
      </p:sp>
      <p:sp>
        <p:nvSpPr>
          <p:cNvPr id="5" name="Gerbang G1"/>
          <p:cNvSpPr txBox="1"/>
          <p:nvPr/>
        </p:nvSpPr>
        <p:spPr>
          <a:xfrm>
            <a:off x="1508760" y="2267712"/>
            <a:ext cx="822960" cy="493776"/>
          </a:xfrm>
          <a:prstGeom prst="rect">
            <a:avLst/>
          </a:prstGeom>
          <a:noFill/>
          <a:ln/>
        </p:spPr>
        <p:txBody>
          <a:bodyPr wrap="square" lIns="0" tIns="0" rIns="0" bIns="0" rtlCol="0" anchor="ctr"/>
          <a:lstStyle/>
          <a:p>
            <a:pPr algn="ctr" indent="0" marL="0">
              <a:buNone/>
            </a:pPr>
            <a:r>
              <a:rPr lang="en-US" sz="1400" b="1" dirty="0">
                <a:solidFill>
                  <a:schemeClr val="tx1"/>
                </a:solidFill>
              </a:rPr>
              <a:t>G1</a:t>
            </a:r>
            <a:endParaRPr lang="en-US" sz="1400" dirty="0"/>
          </a:p>
        </p:txBody>
      </p:sp>
      <p:sp>
        <p:nvSpPr>
          <p:cNvPr id="6" name="Gerbang G1 keterangan"/>
          <p:cNvSpPr txBox="1"/>
          <p:nvPr/>
        </p:nvSpPr>
        <p:spPr>
          <a:xfrm>
            <a:off x="1143000" y="2862072"/>
            <a:ext cx="1554480" cy="1051560"/>
          </a:xfrm>
          <a:prstGeom prst="rect">
            <a:avLst/>
          </a:prstGeom>
          <a:noFill/>
          <a:ln/>
        </p:spPr>
        <p:txBody>
          <a:bodyPr wrap="square" lIns="0" tIns="0" rIns="0" bIns="0" rtlCol="0" anchor="t"/>
          <a:lstStyle/>
          <a:p>
            <a:pPr algn="ctr" indent="0" marL="0">
              <a:buNone/>
            </a:pPr>
            <a:r>
              <a:rPr lang="en-US" sz="1300" b="1" dirty="0">
                <a:solidFill>
                  <a:schemeClr val="bg1"/>
                </a:solidFill>
              </a:rPr>
              <a:t>Penetapan</a:t>
            </a:r>
            <a:endParaRPr lang="en-US" sz="1300" dirty="0"/>
          </a:p>
          <a:p>
            <a:pPr algn="ctr" indent="0" marL="0">
              <a:buNone/>
            </a:pPr>
            <a:r>
              <a:rPr lang="en-US" sz="1300" dirty="0">
                <a:solidFill>
                  <a:schemeClr val="bg2"/>
                </a:solidFill>
              </a:rPr>
              <a:t>minggu 1–2</a:t>
            </a:r>
            <a:endParaRPr lang="en-US" sz="1300" dirty="0"/>
          </a:p>
          <a:p>
            <a:pPr algn="ctr" indent="0" marL="0">
              <a:buNone/>
            </a:pPr>
            <a:r>
              <a:rPr lang="en-US" sz="1300" b="1" dirty="0">
                <a:solidFill>
                  <a:schemeClr val="accent2"/>
                </a:solidFill>
              </a:rPr>
              <a:t>lulus 02/10</a:t>
            </a:r>
            <a:endParaRPr lang="en-US" sz="1300" dirty="0"/>
          </a:p>
        </p:txBody>
      </p:sp>
      <p:sp>
        <p:nvSpPr>
          <p:cNvPr id="7" name="Gerbang G2 lingkaran"/>
          <p:cNvSpPr/>
          <p:nvPr/>
        </p:nvSpPr>
        <p:spPr>
          <a:xfrm>
            <a:off x="3346704" y="2267712"/>
            <a:ext cx="493776" cy="493776"/>
          </a:xfrm>
          <a:prstGeom prst="ellipse">
            <a:avLst/>
          </a:prstGeom>
          <a:solidFill>
            <a:schemeClr val="accent2"/>
          </a:solidFill>
          <a:ln/>
        </p:spPr>
      </p:sp>
      <p:sp>
        <p:nvSpPr>
          <p:cNvPr id="8" name="Gerbang G2"/>
          <p:cNvSpPr txBox="1"/>
          <p:nvPr/>
        </p:nvSpPr>
        <p:spPr>
          <a:xfrm>
            <a:off x="3182112" y="2267712"/>
            <a:ext cx="822960" cy="493776"/>
          </a:xfrm>
          <a:prstGeom prst="rect">
            <a:avLst/>
          </a:prstGeom>
          <a:noFill/>
          <a:ln/>
        </p:spPr>
        <p:txBody>
          <a:bodyPr wrap="square" lIns="0" tIns="0" rIns="0" bIns="0" rtlCol="0" anchor="ctr"/>
          <a:lstStyle/>
          <a:p>
            <a:pPr algn="ctr" indent="0" marL="0">
              <a:buNone/>
            </a:pPr>
            <a:r>
              <a:rPr lang="en-US" sz="1400" b="1" dirty="0">
                <a:solidFill>
                  <a:schemeClr val="tx1"/>
                </a:solidFill>
              </a:rPr>
              <a:t>G2</a:t>
            </a:r>
            <a:endParaRPr lang="en-US" sz="1400" dirty="0"/>
          </a:p>
        </p:txBody>
      </p:sp>
      <p:sp>
        <p:nvSpPr>
          <p:cNvPr id="9" name="Gerbang G2 keterangan"/>
          <p:cNvSpPr txBox="1"/>
          <p:nvPr/>
        </p:nvSpPr>
        <p:spPr>
          <a:xfrm>
            <a:off x="2816352" y="2862072"/>
            <a:ext cx="1554480" cy="1051560"/>
          </a:xfrm>
          <a:prstGeom prst="rect">
            <a:avLst/>
          </a:prstGeom>
          <a:noFill/>
          <a:ln/>
        </p:spPr>
        <p:txBody>
          <a:bodyPr wrap="square" lIns="0" tIns="0" rIns="0" bIns="0" rtlCol="0" anchor="t"/>
          <a:lstStyle/>
          <a:p>
            <a:pPr algn="ctr" indent="0" marL="0">
              <a:buNone/>
            </a:pPr>
            <a:r>
              <a:rPr lang="en-US" sz="1300" b="1" dirty="0">
                <a:solidFill>
                  <a:schemeClr val="bg1"/>
                </a:solidFill>
              </a:rPr>
              <a:t>Rancangan + RAB</a:t>
            </a:r>
            <a:endParaRPr lang="en-US" sz="1300" dirty="0"/>
          </a:p>
          <a:p>
            <a:pPr algn="ctr" indent="0" marL="0">
              <a:buNone/>
            </a:pPr>
            <a:r>
              <a:rPr lang="en-US" sz="1300" dirty="0">
                <a:solidFill>
                  <a:schemeClr val="bg2"/>
                </a:solidFill>
              </a:rPr>
              <a:t>minggu 3–6</a:t>
            </a:r>
            <a:endParaRPr lang="en-US" sz="1300" dirty="0"/>
          </a:p>
          <a:p>
            <a:pPr algn="ctr" indent="0" marL="0">
              <a:buNone/>
            </a:pPr>
            <a:r>
              <a:rPr lang="en-US" sz="1300" b="1" dirty="0">
                <a:solidFill>
                  <a:schemeClr val="accent2"/>
                </a:solidFill>
              </a:rPr>
              <a:t>hari ini</a:t>
            </a:r>
            <a:endParaRPr lang="en-US" sz="1300" dirty="0"/>
          </a:p>
        </p:txBody>
      </p:sp>
      <p:sp>
        <p:nvSpPr>
          <p:cNvPr id="10" name="Gerbang FMEA lingkaran"/>
          <p:cNvSpPr/>
          <p:nvPr/>
        </p:nvSpPr>
        <p:spPr>
          <a:xfrm>
            <a:off x="5020056" y="2267712"/>
            <a:ext cx="493776" cy="493776"/>
          </a:xfrm>
          <a:prstGeom prst="ellipse">
            <a:avLst/>
          </a:prstGeom>
          <a:solidFill>
            <a:schemeClr val="accent1"/>
          </a:solidFill>
          <a:ln/>
        </p:spPr>
      </p:sp>
      <p:sp>
        <p:nvSpPr>
          <p:cNvPr id="11" name="Gerbang FMEA"/>
          <p:cNvSpPr txBox="1"/>
          <p:nvPr/>
        </p:nvSpPr>
        <p:spPr>
          <a:xfrm>
            <a:off x="4855464" y="2267712"/>
            <a:ext cx="822960" cy="493776"/>
          </a:xfrm>
          <a:prstGeom prst="rect">
            <a:avLst/>
          </a:prstGeom>
          <a:noFill/>
          <a:ln/>
        </p:spPr>
        <p:txBody>
          <a:bodyPr wrap="square" lIns="0" tIns="0" rIns="0" bIns="0" rtlCol="0" anchor="ctr"/>
          <a:lstStyle/>
          <a:p>
            <a:pPr algn="ctr" indent="0" marL="0">
              <a:buNone/>
            </a:pPr>
            <a:r>
              <a:rPr lang="en-US" sz="1100" b="1" dirty="0">
                <a:solidFill>
                  <a:schemeClr val="bg1"/>
                </a:solidFill>
              </a:rPr>
              <a:t>FMEA</a:t>
            </a:r>
            <a:endParaRPr lang="en-US" sz="1100" dirty="0"/>
          </a:p>
        </p:txBody>
      </p:sp>
      <p:sp>
        <p:nvSpPr>
          <p:cNvPr id="12" name="Gerbang FMEA keterangan"/>
          <p:cNvSpPr txBox="1"/>
          <p:nvPr/>
        </p:nvSpPr>
        <p:spPr>
          <a:xfrm>
            <a:off x="4489704" y="2862072"/>
            <a:ext cx="1554480" cy="1051560"/>
          </a:xfrm>
          <a:prstGeom prst="rect">
            <a:avLst/>
          </a:prstGeom>
          <a:noFill/>
          <a:ln/>
        </p:spPr>
        <p:txBody>
          <a:bodyPr wrap="square" lIns="0" tIns="0" rIns="0" bIns="0" rtlCol="0" anchor="t"/>
          <a:lstStyle/>
          <a:p>
            <a:pPr algn="ctr" indent="0" marL="0">
              <a:buNone/>
            </a:pPr>
            <a:r>
              <a:rPr lang="en-US" sz="1300" b="1" dirty="0">
                <a:solidFill>
                  <a:schemeClr val="bg1"/>
                </a:solidFill>
              </a:rPr>
              <a:t>Analisis bahaya</a:t>
            </a:r>
            <a:endParaRPr lang="en-US" sz="1300" dirty="0"/>
          </a:p>
          <a:p>
            <a:pPr algn="ctr" indent="0" marL="0">
              <a:buNone/>
            </a:pPr>
            <a:r>
              <a:rPr lang="en-US" sz="1300" dirty="0">
                <a:solidFill>
                  <a:schemeClr val="bg2"/>
                </a:solidFill>
              </a:rPr>
              <a:t>minggu 7–8</a:t>
            </a:r>
            <a:endParaRPr lang="en-US" sz="1300" dirty="0"/>
          </a:p>
        </p:txBody>
      </p:sp>
      <p:sp>
        <p:nvSpPr>
          <p:cNvPr id="13" name="Gerbang G3 lingkaran"/>
          <p:cNvSpPr/>
          <p:nvPr/>
        </p:nvSpPr>
        <p:spPr>
          <a:xfrm>
            <a:off x="6693408" y="2267712"/>
            <a:ext cx="493776" cy="493776"/>
          </a:xfrm>
          <a:prstGeom prst="ellipse">
            <a:avLst/>
          </a:prstGeom>
          <a:solidFill>
            <a:schemeClr val="accent1"/>
          </a:solidFill>
          <a:ln/>
        </p:spPr>
      </p:sp>
      <p:sp>
        <p:nvSpPr>
          <p:cNvPr id="14" name="Gerbang G3"/>
          <p:cNvSpPr txBox="1"/>
          <p:nvPr/>
        </p:nvSpPr>
        <p:spPr>
          <a:xfrm>
            <a:off x="6528816" y="2267712"/>
            <a:ext cx="822960" cy="493776"/>
          </a:xfrm>
          <a:prstGeom prst="rect">
            <a:avLst/>
          </a:prstGeom>
          <a:noFill/>
          <a:ln/>
        </p:spPr>
        <p:txBody>
          <a:bodyPr wrap="square" lIns="0" tIns="0" rIns="0" bIns="0" rtlCol="0" anchor="ctr"/>
          <a:lstStyle/>
          <a:p>
            <a:pPr algn="ctr" indent="0" marL="0">
              <a:buNone/>
            </a:pPr>
            <a:r>
              <a:rPr lang="en-US" sz="1400" b="1" dirty="0">
                <a:solidFill>
                  <a:schemeClr val="bg1"/>
                </a:solidFill>
              </a:rPr>
              <a:t>G3</a:t>
            </a:r>
            <a:endParaRPr lang="en-US" sz="1400" dirty="0"/>
          </a:p>
        </p:txBody>
      </p:sp>
      <p:sp>
        <p:nvSpPr>
          <p:cNvPr id="15" name="Gerbang G3 keterangan"/>
          <p:cNvSpPr txBox="1"/>
          <p:nvPr/>
        </p:nvSpPr>
        <p:spPr>
          <a:xfrm>
            <a:off x="6163056" y="2862072"/>
            <a:ext cx="1554480" cy="1051560"/>
          </a:xfrm>
          <a:prstGeom prst="rect">
            <a:avLst/>
          </a:prstGeom>
          <a:noFill/>
          <a:ln/>
        </p:spPr>
        <p:txBody>
          <a:bodyPr wrap="square" lIns="0" tIns="0" rIns="0" bIns="0" rtlCol="0" anchor="t"/>
          <a:lstStyle/>
          <a:p>
            <a:pPr algn="ctr" indent="0" marL="0">
              <a:buNone/>
            </a:pPr>
            <a:r>
              <a:rPr lang="en-US" sz="1300" b="1" dirty="0">
                <a:solidFill>
                  <a:schemeClr val="bg1"/>
                </a:solidFill>
              </a:rPr>
              <a:t>Prototipe jalan 3×, PCB dipesan</a:t>
            </a:r>
            <a:endParaRPr lang="en-US" sz="1300" dirty="0"/>
          </a:p>
          <a:p>
            <a:pPr algn="ctr" indent="0" marL="0">
              <a:buNone/>
            </a:pPr>
            <a:r>
              <a:rPr lang="en-US" sz="1300" dirty="0">
                <a:solidFill>
                  <a:schemeClr val="bg2"/>
                </a:solidFill>
              </a:rPr>
              <a:t>≤ minggu 10</a:t>
            </a:r>
            <a:endParaRPr lang="en-US" sz="1300" dirty="0"/>
          </a:p>
        </p:txBody>
      </p:sp>
      <p:sp>
        <p:nvSpPr>
          <p:cNvPr id="16" name="Gerbang G4 lingkaran"/>
          <p:cNvSpPr/>
          <p:nvPr/>
        </p:nvSpPr>
        <p:spPr>
          <a:xfrm>
            <a:off x="8366760" y="2267712"/>
            <a:ext cx="493776" cy="493776"/>
          </a:xfrm>
          <a:prstGeom prst="ellipse">
            <a:avLst/>
          </a:prstGeom>
          <a:solidFill>
            <a:schemeClr val="accent1"/>
          </a:solidFill>
          <a:ln/>
        </p:spPr>
      </p:sp>
      <p:sp>
        <p:nvSpPr>
          <p:cNvPr id="17" name="Gerbang G4"/>
          <p:cNvSpPr txBox="1"/>
          <p:nvPr/>
        </p:nvSpPr>
        <p:spPr>
          <a:xfrm>
            <a:off x="8202168" y="2267712"/>
            <a:ext cx="822960" cy="493776"/>
          </a:xfrm>
          <a:prstGeom prst="rect">
            <a:avLst/>
          </a:prstGeom>
          <a:noFill/>
          <a:ln/>
        </p:spPr>
        <p:txBody>
          <a:bodyPr wrap="square" lIns="0" tIns="0" rIns="0" bIns="0" rtlCol="0" anchor="ctr"/>
          <a:lstStyle/>
          <a:p>
            <a:pPr algn="ctr" indent="0" marL="0">
              <a:buNone/>
            </a:pPr>
            <a:r>
              <a:rPr lang="en-US" sz="1400" b="1" dirty="0">
                <a:solidFill>
                  <a:schemeClr val="bg1"/>
                </a:solidFill>
              </a:rPr>
              <a:t>G4</a:t>
            </a:r>
            <a:endParaRPr lang="en-US" sz="1400" dirty="0"/>
          </a:p>
        </p:txBody>
      </p:sp>
      <p:sp>
        <p:nvSpPr>
          <p:cNvPr id="18" name="Gerbang G4 keterangan"/>
          <p:cNvSpPr txBox="1"/>
          <p:nvPr/>
        </p:nvSpPr>
        <p:spPr>
          <a:xfrm>
            <a:off x="7836408" y="2862072"/>
            <a:ext cx="1554480" cy="1051560"/>
          </a:xfrm>
          <a:prstGeom prst="rect">
            <a:avLst/>
          </a:prstGeom>
          <a:noFill/>
          <a:ln/>
        </p:spPr>
        <p:txBody>
          <a:bodyPr wrap="square" lIns="0" tIns="0" rIns="0" bIns="0" rtlCol="0" anchor="t"/>
          <a:lstStyle/>
          <a:p>
            <a:pPr algn="ctr" indent="0" marL="0">
              <a:buNone/>
            </a:pPr>
            <a:r>
              <a:rPr lang="en-US" sz="1300" b="1" dirty="0">
                <a:solidFill>
                  <a:schemeClr val="bg1"/>
                </a:solidFill>
              </a:rPr>
              <a:t>Pembuktian + uji siswa</a:t>
            </a:r>
            <a:endParaRPr lang="en-US" sz="1300" dirty="0"/>
          </a:p>
          <a:p>
            <a:pPr algn="ctr" indent="0" marL="0">
              <a:buNone/>
            </a:pPr>
            <a:r>
              <a:rPr lang="en-US" sz="1300" dirty="0">
                <a:solidFill>
                  <a:schemeClr val="bg2"/>
                </a:solidFill>
              </a:rPr>
              <a:t>minggu 11–14</a:t>
            </a:r>
            <a:endParaRPr lang="en-US" sz="1300" dirty="0"/>
          </a:p>
        </p:txBody>
      </p:sp>
      <p:sp>
        <p:nvSpPr>
          <p:cNvPr id="19" name="Gerbang G5 lingkaran"/>
          <p:cNvSpPr/>
          <p:nvPr/>
        </p:nvSpPr>
        <p:spPr>
          <a:xfrm>
            <a:off x="10040112" y="2267712"/>
            <a:ext cx="493776" cy="493776"/>
          </a:xfrm>
          <a:prstGeom prst="ellipse">
            <a:avLst/>
          </a:prstGeom>
          <a:solidFill>
            <a:schemeClr val="accent1"/>
          </a:solidFill>
          <a:ln/>
        </p:spPr>
      </p:sp>
      <p:sp>
        <p:nvSpPr>
          <p:cNvPr id="20" name="Gerbang G5"/>
          <p:cNvSpPr txBox="1"/>
          <p:nvPr/>
        </p:nvSpPr>
        <p:spPr>
          <a:xfrm>
            <a:off x="9875520" y="2267712"/>
            <a:ext cx="822960" cy="493776"/>
          </a:xfrm>
          <a:prstGeom prst="rect">
            <a:avLst/>
          </a:prstGeom>
          <a:noFill/>
          <a:ln/>
        </p:spPr>
        <p:txBody>
          <a:bodyPr wrap="square" lIns="0" tIns="0" rIns="0" bIns="0" rtlCol="0" anchor="ctr"/>
          <a:lstStyle/>
          <a:p>
            <a:pPr algn="ctr" indent="0" marL="0">
              <a:buNone/>
            </a:pPr>
            <a:r>
              <a:rPr lang="en-US" sz="1400" b="1" dirty="0">
                <a:solidFill>
                  <a:schemeClr val="bg1"/>
                </a:solidFill>
              </a:rPr>
              <a:t>G5</a:t>
            </a:r>
            <a:endParaRPr lang="en-US" sz="1400" dirty="0"/>
          </a:p>
        </p:txBody>
      </p:sp>
      <p:sp>
        <p:nvSpPr>
          <p:cNvPr id="21" name="Gerbang G5 keterangan"/>
          <p:cNvSpPr txBox="1"/>
          <p:nvPr/>
        </p:nvSpPr>
        <p:spPr>
          <a:xfrm>
            <a:off x="9509760" y="2862072"/>
            <a:ext cx="1554480" cy="1051560"/>
          </a:xfrm>
          <a:prstGeom prst="rect">
            <a:avLst/>
          </a:prstGeom>
          <a:noFill/>
          <a:ln/>
        </p:spPr>
        <p:txBody>
          <a:bodyPr wrap="square" lIns="0" tIns="0" rIns="0" bIns="0" rtlCol="0" anchor="t"/>
          <a:lstStyle/>
          <a:p>
            <a:pPr algn="ctr" indent="0" marL="0">
              <a:buNone/>
            </a:pPr>
            <a:r>
              <a:rPr lang="en-US" sz="1300" b="1" dirty="0">
                <a:solidFill>
                  <a:schemeClr val="bg1"/>
                </a:solidFill>
              </a:rPr>
              <a:t>Serah terima</a:t>
            </a:r>
            <a:endParaRPr lang="en-US" sz="1300" dirty="0"/>
          </a:p>
          <a:p>
            <a:pPr algn="ctr" indent="0" marL="0">
              <a:buNone/>
            </a:pPr>
            <a:r>
              <a:rPr lang="en-US" sz="1300" dirty="0">
                <a:solidFill>
                  <a:schemeClr val="bg2"/>
                </a:solidFill>
              </a:rPr>
              <a:t>minggu 15–16</a:t>
            </a:r>
            <a:endParaRPr lang="en-US" sz="1300" dirty="0"/>
          </a:p>
        </p:txBody>
      </p:sp>
      <p:sp>
        <p:nvSpPr>
          <p:cNvPr id="22" name="Risiko 1 latar"/>
          <p:cNvSpPr/>
          <p:nvPr/>
        </p:nvSpPr>
        <p:spPr>
          <a:xfrm>
            <a:off x="1463040" y="4069080"/>
            <a:ext cx="2971800" cy="1325880"/>
          </a:xfrm>
          <a:prstGeom prst="rect">
            <a:avLst/>
          </a:prstGeom>
          <a:solidFill>
            <a:schemeClr val="accent1"/>
          </a:solidFill>
          <a:ln/>
        </p:spPr>
      </p:sp>
      <p:sp>
        <p:nvSpPr>
          <p:cNvPr id="23" name="Risiko 1 teks"/>
          <p:cNvSpPr txBox="1"/>
          <p:nvPr/>
        </p:nvSpPr>
        <p:spPr>
          <a:xfrm>
            <a:off x="1627632" y="4215384"/>
            <a:ext cx="2642616" cy="1033272"/>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PCB salah desain / terlambat</a:t>
            </a:r>
            <a:endParaRPr lang="en-US" sz="1600" dirty="0"/>
          </a:p>
          <a:p>
            <a:pPr indent="0" marL="0">
              <a:buNone/>
            </a:pPr>
            <a:r>
              <a:rPr lang="en-US" sz="1400" dirty="0">
                <a:solidFill>
                  <a:schemeClr val="bg1"/>
                </a:solidFill>
              </a:rPr>
              <a:t>Prototipe breadboard dulu, PCB dipesan paling lambat minggu 10</a:t>
            </a:r>
            <a:endParaRPr lang="en-US" sz="1600" dirty="0"/>
          </a:p>
        </p:txBody>
      </p:sp>
      <p:sp>
        <p:nvSpPr>
          <p:cNvPr id="24" name="Risiko 2 latar"/>
          <p:cNvSpPr/>
          <p:nvPr/>
        </p:nvSpPr>
        <p:spPr>
          <a:xfrm>
            <a:off x="4617720" y="4069080"/>
            <a:ext cx="2971800" cy="1325880"/>
          </a:xfrm>
          <a:prstGeom prst="rect">
            <a:avLst/>
          </a:prstGeom>
          <a:solidFill>
            <a:schemeClr val="accent1"/>
          </a:solidFill>
          <a:ln/>
        </p:spPr>
      </p:sp>
      <p:sp>
        <p:nvSpPr>
          <p:cNvPr id="25" name="Risiko 2 teks"/>
          <p:cNvSpPr txBox="1"/>
          <p:nvPr/>
        </p:nvSpPr>
        <p:spPr>
          <a:xfrm>
            <a:off x="4782312" y="4215384"/>
            <a:ext cx="2642616" cy="1033272"/>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Biaya melebihi batas</a:t>
            </a:r>
            <a:endParaRPr lang="en-US" sz="1600" dirty="0"/>
          </a:p>
          <a:p>
            <a:pPr indent="0" marL="0">
              <a:buNone/>
            </a:pPr>
            <a:r>
              <a:rPr lang="en-US" sz="1400" dirty="0">
                <a:solidFill>
                  <a:schemeClr val="bg1"/>
                </a:solidFill>
              </a:rPr>
              <a:t>RAB dipantau tiap pembelian, harga disertai tautan toko</a:t>
            </a:r>
            <a:endParaRPr lang="en-US" sz="1600" dirty="0"/>
          </a:p>
        </p:txBody>
      </p:sp>
      <p:sp>
        <p:nvSpPr>
          <p:cNvPr id="26" name="Risiko 3 latar"/>
          <p:cNvSpPr/>
          <p:nvPr/>
        </p:nvSpPr>
        <p:spPr>
          <a:xfrm>
            <a:off x="7772400" y="4069080"/>
            <a:ext cx="2971800" cy="1325880"/>
          </a:xfrm>
          <a:prstGeom prst="rect">
            <a:avLst/>
          </a:prstGeom>
          <a:solidFill>
            <a:schemeClr val="accent1"/>
          </a:solidFill>
          <a:ln/>
        </p:spPr>
      </p:sp>
      <p:sp>
        <p:nvSpPr>
          <p:cNvPr id="27" name="Risiko 3 teks"/>
          <p:cNvSpPr txBox="1"/>
          <p:nvPr/>
        </p:nvSpPr>
        <p:spPr>
          <a:xfrm>
            <a:off x="7936992" y="4215384"/>
            <a:ext cx="2642616" cy="1033272"/>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QRE tanpa cadangan</a:t>
            </a:r>
            <a:endParaRPr lang="en-US" sz="1600" dirty="0"/>
          </a:p>
          <a:p>
            <a:pPr indent="0" marL="0">
              <a:buNone/>
            </a:pPr>
            <a:r>
              <a:rPr lang="en-US" sz="1400" dirty="0">
                <a:solidFill>
                  <a:schemeClr val="bg1"/>
                </a:solidFill>
              </a:rPr>
              <a:t>Tiap sensor diuji di breadboard sebelum disolder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1536192" y="1828800"/>
            <a:ext cx="5669280" cy="3017520"/>
          </a:xfrm>
          <a:prstGeom prst="rect">
            <a:avLst/>
          </a:prstGeom>
          <a:noFill/>
          <a:ln/>
        </p:spPr>
        <p:txBody>
          <a:bodyPr wrap="square" lIns="0" tIns="0" rIns="0" bIns="0" rtlCol="0" anchor="ctr"/>
          <a:lstStyle/>
          <a:p>
            <a:pPr algn="l" indent="0" marL="0">
              <a:lnSpc>
                <a:spcPct val="85000"/>
              </a:lnSpc>
              <a:buNone/>
            </a:pPr>
            <a:r>
              <a:rPr lang="en-US" sz="8800" b="1" dirty="0">
                <a:solidFill>
                  <a:schemeClr val="bg1"/>
                </a:solidFill>
              </a:rPr>
              <a:t>TERIMA</a:t>
            </a:r>
            <a:endParaRPr lang="en-US" sz="8800" dirty="0"/>
          </a:p>
          <a:p>
            <a:pPr algn="l" indent="0" marL="0">
              <a:lnSpc>
                <a:spcPct val="85000"/>
              </a:lnSpc>
              <a:buNone/>
            </a:pPr>
            <a:r>
              <a:rPr lang="en-US" sz="8800" b="1" dirty="0">
                <a:solidFill>
                  <a:schemeClr val="bg1"/>
                </a:solidFill>
              </a:rPr>
              <a:t>KASIH</a:t>
            </a:r>
            <a:endParaRPr lang="en-US" sz="8800" dirty="0"/>
          </a:p>
        </p:txBody>
      </p:sp>
      <p:sp>
        <p:nvSpPr>
          <p:cNvPr id="3" name="Permohonan dana"/>
          <p:cNvSpPr txBox="1"/>
          <p:nvPr/>
        </p:nvSpPr>
        <p:spPr>
          <a:xfrm>
            <a:off x="7315200" y="1783080"/>
            <a:ext cx="3840480" cy="1234440"/>
          </a:xfrm>
          <a:prstGeom prst="rect">
            <a:avLst/>
          </a:prstGeom>
          <a:noFill/>
          <a:ln/>
        </p:spPr>
        <p:txBody>
          <a:bodyPr wrap="square" lIns="0" tIns="0" rIns="0" bIns="0" rtlCol="0" anchor="t"/>
          <a:lstStyle/>
          <a:p>
            <a:pPr indent="0" marL="0">
              <a:buNone/>
            </a:pPr>
            <a:r>
              <a:rPr lang="en-US" sz="1800" dirty="0">
                <a:solidFill>
                  <a:schemeClr val="bg1"/>
                </a:solidFill>
              </a:rPr>
              <a:t>Mohon persetujuan dana</a:t>
            </a:r>
            <a:endParaRPr lang="en-US" sz="1800" dirty="0"/>
          </a:p>
          <a:p>
            <a:pPr indent="0" marL="0">
              <a:buNone/>
            </a:pPr>
            <a:r>
              <a:rPr lang="en-US" sz="4800" b="1" dirty="0">
                <a:solidFill>
                  <a:schemeClr val="accent2"/>
                </a:solidFill>
              </a:rPr>
              <a:t>Rp902.000</a:t>
            </a:r>
            <a:endParaRPr lang="en-US" sz="1800" dirty="0"/>
          </a:p>
        </p:txBody>
      </p:sp>
      <p:sp>
        <p:nvSpPr>
          <p:cNvPr id="4" name="Permohonan keterangan"/>
          <p:cNvSpPr txBox="1"/>
          <p:nvPr/>
        </p:nvSpPr>
        <p:spPr>
          <a:xfrm>
            <a:off x="7315200" y="3090672"/>
            <a:ext cx="3749040" cy="548640"/>
          </a:xfrm>
          <a:prstGeom prst="rect">
            <a:avLst/>
          </a:prstGeom>
          <a:noFill/>
          <a:ln/>
        </p:spPr>
        <p:txBody>
          <a:bodyPr wrap="square" lIns="0" tIns="0" rIns="0" bIns="0" rtlCol="0" anchor="t"/>
          <a:lstStyle/>
          <a:p>
            <a:pPr indent="0" marL="0">
              <a:buNone/>
            </a:pPr>
            <a:r>
              <a:rPr lang="en-US" sz="1400" dirty="0">
                <a:solidFill>
                  <a:schemeClr val="bg1"/>
                </a:solidFill>
              </a:rPr>
              <a:t>untuk pembelian komponen dan fabrikasi 2 PCB. Sesudah dana cair:</a:t>
            </a:r>
            <a:endParaRPr lang="en-US" sz="1400" dirty="0"/>
          </a:p>
        </p:txBody>
      </p:sp>
      <p:sp>
        <p:nvSpPr>
          <p:cNvPr id="5" name="Langkah sesudah dana"/>
          <p:cNvSpPr txBox="1"/>
          <p:nvPr/>
        </p:nvSpPr>
        <p:spPr>
          <a:xfrm>
            <a:off x="7315200" y="3703320"/>
            <a:ext cx="3749040" cy="15544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chemeClr val="bg1"/>
                </a:solidFill>
              </a:rPr>
              <a:t>Beli komponen</a:t>
            </a:r>
            <a:endParaRPr lang="en-US" sz="1600" dirty="0"/>
          </a:p>
          <a:p>
            <a:pPr marL="342900" indent="-342900">
              <a:spcAft>
                <a:spcPts val="600"/>
              </a:spcAft>
              <a:buSzPct val="100000"/>
              <a:buFont typeface="+mj-lt"/>
              <a:buAutoNum type="arabicPeriod" startAt="1"/>
            </a:pPr>
            <a:r>
              <a:rPr lang="en-US" sz="1600" dirty="0">
                <a:solidFill>
                  <a:schemeClr val="bg1"/>
                </a:solidFill>
              </a:rPr>
              <a:t>Uji rangkaian di breadboard</a:t>
            </a:r>
            <a:endParaRPr lang="en-US" sz="1600" dirty="0"/>
          </a:p>
          <a:p>
            <a:pPr marL="342900" indent="-342900">
              <a:spcAft>
                <a:spcPts val="600"/>
              </a:spcAft>
              <a:buSzPct val="100000"/>
              <a:buFont typeface="+mj-lt"/>
              <a:buAutoNum type="arabicPeriod" startAt="1"/>
            </a:pPr>
            <a:r>
              <a:rPr lang="en-US" sz="1600" dirty="0">
                <a:solidFill>
                  <a:schemeClr val="bg1"/>
                </a:solidFill>
              </a:rPr>
              <a:t>Pesan PCB sensor + PCB utama</a:t>
            </a:r>
            <a:endParaRPr lang="en-US" sz="1600" dirty="0"/>
          </a:p>
          <a:p>
            <a:pPr marL="342900" indent="-342900">
              <a:spcAft>
                <a:spcPts val="600"/>
              </a:spcAft>
              <a:buSzPct val="100000"/>
              <a:buFont typeface="+mj-lt"/>
              <a:buAutoNum type="arabicPeriod" startAt="1"/>
            </a:pPr>
            <a:r>
              <a:rPr lang="en-US" sz="1600" dirty="0">
                <a:solidFill>
                  <a:schemeClr val="bg1"/>
                </a:solidFill>
              </a:rPr>
              <a:t>Firmware dan prototipe untuk G3</a:t>
            </a:r>
            <a:endParaRPr lang="en-US" sz="1600" dirty="0"/>
          </a:p>
        </p:txBody>
      </p:sp>
      <p:sp>
        <p:nvSpPr>
          <p:cNvPr id="6" name="Titik hias 1"/>
          <p:cNvSpPr/>
          <p:nvPr/>
        </p:nvSpPr>
        <p:spPr>
          <a:xfrm>
            <a:off x="4572000" y="5074920"/>
            <a:ext cx="155448" cy="155448"/>
          </a:xfrm>
          <a:prstGeom prst="ellipse">
            <a:avLst/>
          </a:prstGeom>
          <a:solidFill>
            <a:schemeClr val="bg1"/>
          </a:solidFill>
          <a:ln/>
        </p:spPr>
      </p:sp>
      <p:sp>
        <p:nvSpPr>
          <p:cNvPr id="7" name="Titik hias 2"/>
          <p:cNvSpPr/>
          <p:nvPr/>
        </p:nvSpPr>
        <p:spPr>
          <a:xfrm>
            <a:off x="4818888" y="5074920"/>
            <a:ext cx="155448" cy="155448"/>
          </a:xfrm>
          <a:prstGeom prst="ellipse">
            <a:avLst/>
          </a:prstGeom>
          <a:solidFill>
            <a:schemeClr val="bg1"/>
          </a:solidFill>
          <a:ln/>
        </p:spPr>
      </p:sp>
      <p:sp>
        <p:nvSpPr>
          <p:cNvPr id="8" name="Titik hias 3"/>
          <p:cNvSpPr/>
          <p:nvPr/>
        </p:nvSpPr>
        <p:spPr>
          <a:xfrm>
            <a:off x="5065776" y="5074920"/>
            <a:ext cx="155448" cy="155448"/>
          </a:xfrm>
          <a:prstGeom prst="ellipse">
            <a:avLst/>
          </a:prstGeom>
          <a:solidFill>
            <a:schemeClr val="bg1"/>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LAMPIRAN A · RAB ELEKTRIKAL (1/2)</a:t>
            </a:r>
            <a:endParaRPr lang="en-US" sz="4000" dirty="0"/>
          </a:p>
        </p:txBody>
      </p:sp>
      <p:graphicFrame>
        <p:nvGraphicFramePr>
          <p:cNvPr id="17" name="Tabel RAB elektrikal 1"/>
          <p:cNvGraphicFramePr>
            <a:graphicFrameLocks noGrp="1"/>
          </p:cNvGraphicFramePr>
          <p:nvPr>
            <p:extLst>
              <p:ext uri="{D42A27DB-BD31-4B8C-83A1-F6EECF244321}">
                <p14:modId xmlns:p14="http://schemas.microsoft.com/office/powerpoint/2010/main" val="1579011935"/>
              </p:ext>
            </p:extLst>
          </p:nvPr>
        </p:nvGraphicFramePr>
        <p:xfrm>
          <a:off x="1124712" y="2057400"/>
          <a:ext cx="9939528" cy="914400"/>
        </p:xfrm>
        <a:graphic>
          <a:graphicData uri="http://schemas.openxmlformats.org/drawingml/2006/table">
            <a:tbl>
              <a:tblPr/>
              <a:tblGrid>
                <a:gridCol w="5550408"/>
                <a:gridCol w="1554480"/>
                <a:gridCol w="1188720"/>
                <a:gridCol w="1645920"/>
              </a:tblGrid>
              <a:tr h="310896">
                <a:tc>
                  <a:txBody>
                    <a:bodyPr/>
                    <a:lstStyle/>
                    <a:p>
                      <a:pPr indent="0" marL="0">
                        <a:buNone/>
                      </a:pPr>
                      <a:r>
                        <a:rPr lang="en-US" sz="1400" b="1" dirty="0">
                          <a:solidFill>
                            <a:schemeClr val="bg1"/>
                          </a:solidFill>
                        </a:rPr>
                        <a:t>Item</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Harga</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Qty</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Total</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r>
              <a:tr h="310896">
                <a:tc>
                  <a:txBody>
                    <a:bodyPr/>
                    <a:lstStyle/>
                    <a:p>
                      <a:pPr algn="l" indent="0" marL="0">
                        <a:buNone/>
                      </a:pPr>
                      <a:r>
                        <a:rPr lang="en-US" sz="1400" dirty="0">
                          <a:solidFill>
                            <a:schemeClr val="bg1"/>
                          </a:solidFill>
                        </a:rPr>
                        <a:t>ESP32 DevKit WiFi Bluetooth CH340 Type-C</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Rp76.000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Rp76.000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OLED 0,96" 128×64 I2C</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Rp33.000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Rp33.000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dirty="0">
                          <a:solidFill>
                            <a:schemeClr val="bg1"/>
                          </a:solidFill>
                        </a:rPr>
                        <a:t>Sensor reflektif QRE1113GR SMD (toko lokal)</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Rp15.000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12</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Rp180.000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IC multiplexer CD74HC4067 SOIC-24</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Rp35.000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Rp35.000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dirty="0">
                          <a:solidFill>
                            <a:schemeClr val="bg1"/>
                          </a:solidFill>
                        </a:rPr>
                        <a:t>Modul driver motor TB6612FNG</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Rp25.000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Rp25.000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Motor N20 6V 500 RPM + encoder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Rp55.000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2</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Rp110.000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dirty="0">
                          <a:solidFill>
                            <a:schemeClr val="bg1"/>
                          </a:solidFill>
                        </a:rPr>
                        <a:t>Push button</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Rp1.000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4</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Rp4.000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Resistor SMD 0805 (220 Ω, 10 kΩ)</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Rp100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30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Rp3.000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dirty="0">
                          <a:solidFill>
                            <a:schemeClr val="bg1"/>
                          </a:solidFill>
                        </a:rPr>
                        <a:t>Resistor 10 kΩ</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Rp200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Rp2.000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Buzzer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Rp3.000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Rp3.000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b="1" dirty="0">
                          <a:solidFill>
                            <a:schemeClr val="bg1"/>
                          </a:solidFill>
                        </a:rPr>
                        <a:t>Subtotal halaman ini</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r" indent="0" marL="0">
                        <a:buNone/>
                      </a:pP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r" indent="0" marL="0">
                        <a:buNone/>
                      </a:pP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rPr>
                        <a:t>Rp471.000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LAMPIRAN B · RAB ELEKTRIKAL (2/2)</a:t>
            </a:r>
            <a:endParaRPr lang="en-US" sz="4000" dirty="0"/>
          </a:p>
        </p:txBody>
      </p:sp>
      <p:graphicFrame>
        <p:nvGraphicFramePr>
          <p:cNvPr id="18" name="Tabel RAB elektrikal 2"/>
          <p:cNvGraphicFramePr>
            <a:graphicFrameLocks noGrp="1"/>
          </p:cNvGraphicFramePr>
          <p:nvPr>
            <p:extLst>
              <p:ext uri="{D42A27DB-BD31-4B8C-83A1-F6EECF244321}">
                <p14:modId xmlns:p14="http://schemas.microsoft.com/office/powerpoint/2010/main" val="1579011935"/>
              </p:ext>
            </p:extLst>
          </p:nvPr>
        </p:nvGraphicFramePr>
        <p:xfrm>
          <a:off x="1124712" y="2057400"/>
          <a:ext cx="9939528" cy="914400"/>
        </p:xfrm>
        <a:graphic>
          <a:graphicData uri="http://schemas.openxmlformats.org/drawingml/2006/table">
            <a:tbl>
              <a:tblPr/>
              <a:tblGrid>
                <a:gridCol w="5550408"/>
                <a:gridCol w="1554480"/>
                <a:gridCol w="1188720"/>
                <a:gridCol w="1645920"/>
              </a:tblGrid>
              <a:tr h="310896">
                <a:tc>
                  <a:txBody>
                    <a:bodyPr/>
                    <a:lstStyle/>
                    <a:p>
                      <a:pPr indent="0" marL="0">
                        <a:buNone/>
                      </a:pPr>
                      <a:r>
                        <a:rPr lang="en-US" sz="1400" b="1" dirty="0">
                          <a:solidFill>
                            <a:schemeClr val="bg1"/>
                          </a:solidFill>
                        </a:rPr>
                        <a:t>Item</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Harga</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Qty</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Total</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r>
              <a:tr h="310896">
                <a:tc>
                  <a:txBody>
                    <a:bodyPr/>
                    <a:lstStyle/>
                    <a:p>
                      <a:pPr algn="l" indent="0" marL="0">
                        <a:buNone/>
                      </a:pPr>
                      <a:r>
                        <a:rPr lang="en-US" sz="1400" dirty="0">
                          <a:solidFill>
                            <a:schemeClr val="bg1"/>
                          </a:solidFill>
                        </a:rPr>
                        <a:t>Baterai Li-ion 18650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Rp40.000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Rp80.000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Holder baterai 2× 18650 (seri)</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Rp8.000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Rp8.000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dirty="0">
                          <a:solidFill>
                            <a:schemeClr val="bg1"/>
                          </a:solidFill>
                        </a:rPr>
                        <a:t>Modul BMS 2S</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Rp10.000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Rp10.000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Modul charger 2S USB-C</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Rp25.000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Rp25.000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dirty="0">
                          <a:solidFill>
                            <a:schemeClr val="bg1"/>
                          </a:solidFill>
                        </a:rPr>
                        <a:t>Buck converter 5 V (MP1584)</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Rp10.000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Rp10.000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Saklar on/off</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Rp3.000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Rp3.000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dirty="0">
                          <a:solidFill>
                            <a:schemeClr val="bg1"/>
                          </a:solidFill>
                        </a:rPr>
                        <a:t>Konektor JST PH2.0 6 pin + header (encoder motor)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2 set</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Rp10.000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Komponen pendukung (header, socket, kapasitor, dioda)</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Rp25.000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 paket</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Rp25.000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dirty="0">
                          <a:solidFill>
                            <a:schemeClr val="bg1"/>
                          </a:solidFill>
                        </a:rPr>
                        <a:t>Konektor JST XH 8 pin + kabel (perkiraan)</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 set</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Fabrikasi PCB (2 papan) + ongkir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Rp200.000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 paket</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Rp200.000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b="1" dirty="0">
                          <a:solidFill>
                            <a:schemeClr val="bg1"/>
                          </a:solidFill>
                        </a:rPr>
                        <a:t>Total elektrikal</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r" indent="0" marL="0">
                        <a:buNone/>
                      </a:pP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r" indent="0" marL="0">
                        <a:buNone/>
                      </a:pP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rPr>
                        <a:t>Rp847.000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1353312" y="1069848"/>
            <a:ext cx="9784080" cy="786384"/>
          </a:xfrm>
          <a:prstGeom prst="rect">
            <a:avLst/>
          </a:prstGeom>
          <a:noFill/>
          <a:ln/>
        </p:spPr>
        <p:txBody>
          <a:bodyPr wrap="square" lIns="0" tIns="0" rIns="0" bIns="0" rtlCol="0" anchor="ctr"/>
          <a:lstStyle/>
          <a:p>
            <a:pPr algn="l" indent="0" marL="0">
              <a:buNone/>
            </a:pPr>
            <a:r>
              <a:rPr lang="en-US" sz="4000" b="1" dirty="0">
                <a:solidFill>
                  <a:schemeClr val="bg1"/>
                </a:solidFill>
              </a:rPr>
              <a:t>LAMPIRAN C · RAB MEKANIK &amp; REKAP</a:t>
            </a:r>
            <a:endParaRPr lang="en-US" sz="4000" dirty="0"/>
          </a:p>
        </p:txBody>
      </p:sp>
      <p:graphicFrame>
        <p:nvGraphicFramePr>
          <p:cNvPr id="19" name="Tabel RAB mekanik"/>
          <p:cNvGraphicFramePr>
            <a:graphicFrameLocks noGrp="1"/>
          </p:cNvGraphicFramePr>
          <p:nvPr>
            <p:extLst>
              <p:ext uri="{D42A27DB-BD31-4B8C-83A1-F6EECF244321}">
                <p14:modId xmlns:p14="http://schemas.microsoft.com/office/powerpoint/2010/main" val="1579011935"/>
              </p:ext>
            </p:extLst>
          </p:nvPr>
        </p:nvGraphicFramePr>
        <p:xfrm>
          <a:off x="1124712" y="2057400"/>
          <a:ext cx="9939528" cy="914400"/>
        </p:xfrm>
        <a:graphic>
          <a:graphicData uri="http://schemas.openxmlformats.org/drawingml/2006/table">
            <a:tbl>
              <a:tblPr/>
              <a:tblGrid>
                <a:gridCol w="5550408"/>
                <a:gridCol w="1554480"/>
                <a:gridCol w="1188720"/>
                <a:gridCol w="1645920"/>
              </a:tblGrid>
              <a:tr h="310896">
                <a:tc>
                  <a:txBody>
                    <a:bodyPr/>
                    <a:lstStyle/>
                    <a:p>
                      <a:pPr indent="0" marL="0">
                        <a:buNone/>
                      </a:pPr>
                      <a:r>
                        <a:rPr lang="en-US" sz="1400" b="1" dirty="0">
                          <a:solidFill>
                            <a:schemeClr val="bg1"/>
                          </a:solidFill>
                        </a:rPr>
                        <a:t>Item</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Harga</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Qty</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Total</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r>
              <a:tr h="310896">
                <a:tc>
                  <a:txBody>
                    <a:bodyPr/>
                    <a:lstStyle/>
                    <a:p>
                      <a:pPr algn="l" indent="0" marL="0">
                        <a:buNone/>
                      </a:pPr>
                      <a:r>
                        <a:rPr lang="en-US" sz="1400" dirty="0">
                          <a:solidFill>
                            <a:schemeClr val="bg1"/>
                          </a:solidFill>
                        </a:rPr>
                        <a:t>Roda N20 Ø34 mm</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Rp25.000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 pasang</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Rp25.000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Bracket motor N20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Rp10.000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 pasang</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Rp10.000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dirty="0">
                          <a:solidFill>
                            <a:schemeClr val="bg1"/>
                          </a:solidFill>
                        </a:rPr>
                        <a:t>Skid nilon (baut, spacer, mur nilon)</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1 paket</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c>
                  <a:txBody>
                    <a:bodyPr/>
                    <a:lstStyle/>
                    <a:p>
                      <a:pPr algn="r" indent="0" marL="0">
                        <a:buNone/>
                      </a:pPr>
                      <a:r>
                        <a:rPr lang="en-US" sz="1400" dirty="0">
                          <a:solidFill>
                            <a:schemeClr val="bg1"/>
                          </a:solidFill>
                        </a:rPr>
                        <a:t>Rp5.000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1"/>
                    </a:solidFill>
                  </a:tcPr>
                </a:tc>
              </a:tr>
              <a:tr h="310896">
                <a:tc>
                  <a:txBody>
                    <a:bodyPr/>
                    <a:lstStyle/>
                    <a:p>
                      <a:pPr algn="l" indent="0" marL="0">
                        <a:buNone/>
                      </a:pPr>
                      <a:r>
                        <a:rPr lang="en-US" sz="1400" dirty="0">
                          <a:solidFill>
                            <a:schemeClr val="bg1"/>
                          </a:solidFill>
                        </a:rPr>
                        <a:t>Baut, mur, spacer</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Rp15.000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1 paket</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c>
                  <a:txBody>
                    <a:bodyPr/>
                    <a:lstStyle/>
                    <a:p>
                      <a:pPr algn="r" indent="0" marL="0">
                        <a:buNone/>
                      </a:pPr>
                      <a:r>
                        <a:rPr lang="en-US" sz="1400" dirty="0">
                          <a:solidFill>
                            <a:schemeClr val="bg1"/>
                          </a:solidFill>
                        </a:rPr>
                        <a:t>Rp15.000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5"/>
                    </a:solidFill>
                  </a:tcPr>
                </a:tc>
              </a:tr>
              <a:tr h="310896">
                <a:tc>
                  <a:txBody>
                    <a:bodyPr/>
                    <a:lstStyle/>
                    <a:p>
                      <a:pPr algn="l" indent="0" marL="0">
                        <a:buNone/>
                      </a:pPr>
                      <a:r>
                        <a:rPr lang="en-US" sz="1400" b="1" dirty="0">
                          <a:solidFill>
                            <a:schemeClr val="bg1"/>
                          </a:solidFill>
                        </a:rPr>
                        <a:t>Total mekanik</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r" indent="0" marL="0">
                        <a:buNone/>
                      </a:pP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r" indent="0" marL="0">
                        <a:buNone/>
                      </a:pP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rPr>
                        <a:t>Rp55.000</a:t>
                      </a:r>
                      <a:endParaRPr lang="en-US" sz="1400" dirty="0"/>
                    </a:p>
                  </a:txBody>
                  <a:tcPr marL="91440" marR="91440" marT="27432" marB="27432"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r>
            </a:tbl>
          </a:graphicData>
        </a:graphic>
      </p:graphicFrame>
      <p:sp>
        <p:nvSpPr>
          <p:cNvPr id="4" name="Rekap Elektrikal latar"/>
          <p:cNvSpPr/>
          <p:nvPr/>
        </p:nvSpPr>
        <p:spPr>
          <a:xfrm>
            <a:off x="1124712" y="4160520"/>
            <a:ext cx="3154680" cy="1188720"/>
          </a:xfrm>
          <a:prstGeom prst="rect">
            <a:avLst/>
          </a:prstGeom>
          <a:solidFill>
            <a:schemeClr val="accent5"/>
          </a:solidFill>
          <a:ln/>
        </p:spPr>
      </p:sp>
      <p:sp>
        <p:nvSpPr>
          <p:cNvPr id="5" name="Rekap Elektrikal"/>
          <p:cNvSpPr txBox="1"/>
          <p:nvPr/>
        </p:nvSpPr>
        <p:spPr>
          <a:xfrm>
            <a:off x="1307592" y="4270248"/>
            <a:ext cx="2788920" cy="987552"/>
          </a:xfrm>
          <a:prstGeom prst="rect">
            <a:avLst/>
          </a:prstGeom>
          <a:noFill/>
          <a:ln/>
        </p:spPr>
        <p:txBody>
          <a:bodyPr wrap="square" lIns="0" tIns="0" rIns="0" bIns="0" rtlCol="0" anchor="t"/>
          <a:lstStyle/>
          <a:p>
            <a:pPr indent="0" marL="0">
              <a:spcAft>
                <a:spcPts val="200"/>
              </a:spcAft>
              <a:buNone/>
            </a:pPr>
            <a:r>
              <a:rPr lang="en-US" sz="1400" dirty="0">
                <a:solidFill>
                  <a:schemeClr val="bg1"/>
                </a:solidFill>
              </a:rPr>
              <a:t>Elektrikal</a:t>
            </a:r>
            <a:endParaRPr lang="en-US" sz="1400" dirty="0"/>
          </a:p>
          <a:p>
            <a:pPr indent="0" marL="0">
              <a:buNone/>
            </a:pPr>
            <a:r>
              <a:rPr lang="en-US" sz="3000" b="1" dirty="0">
                <a:solidFill>
                  <a:schemeClr val="accent2"/>
                </a:solidFill>
              </a:rPr>
              <a:t>Rp847.000</a:t>
            </a:r>
            <a:endParaRPr lang="en-US" sz="1400" dirty="0"/>
          </a:p>
        </p:txBody>
      </p:sp>
      <p:sp>
        <p:nvSpPr>
          <p:cNvPr id="6" name="Rekap Mekanik latar"/>
          <p:cNvSpPr/>
          <p:nvPr/>
        </p:nvSpPr>
        <p:spPr>
          <a:xfrm>
            <a:off x="4507992" y="4160520"/>
            <a:ext cx="3154680" cy="1188720"/>
          </a:xfrm>
          <a:prstGeom prst="rect">
            <a:avLst/>
          </a:prstGeom>
          <a:solidFill>
            <a:schemeClr val="accent5"/>
          </a:solidFill>
          <a:ln/>
        </p:spPr>
      </p:sp>
      <p:sp>
        <p:nvSpPr>
          <p:cNvPr id="7" name="Rekap Mekanik"/>
          <p:cNvSpPr txBox="1"/>
          <p:nvPr/>
        </p:nvSpPr>
        <p:spPr>
          <a:xfrm>
            <a:off x="4690872" y="4270248"/>
            <a:ext cx="2788920" cy="987552"/>
          </a:xfrm>
          <a:prstGeom prst="rect">
            <a:avLst/>
          </a:prstGeom>
          <a:noFill/>
          <a:ln/>
        </p:spPr>
        <p:txBody>
          <a:bodyPr wrap="square" lIns="0" tIns="0" rIns="0" bIns="0" rtlCol="0" anchor="t"/>
          <a:lstStyle/>
          <a:p>
            <a:pPr indent="0" marL="0">
              <a:spcAft>
                <a:spcPts val="200"/>
              </a:spcAft>
              <a:buNone/>
            </a:pPr>
            <a:r>
              <a:rPr lang="en-US" sz="1400" dirty="0">
                <a:solidFill>
                  <a:schemeClr val="bg1"/>
                </a:solidFill>
              </a:rPr>
              <a:t>Mekanik</a:t>
            </a:r>
            <a:endParaRPr lang="en-US" sz="1400" dirty="0"/>
          </a:p>
          <a:p>
            <a:pPr indent="0" marL="0">
              <a:buNone/>
            </a:pPr>
            <a:r>
              <a:rPr lang="en-US" sz="3000" b="1" dirty="0">
                <a:solidFill>
                  <a:schemeClr val="accent2"/>
                </a:solidFill>
              </a:rPr>
              <a:t>Rp55.000</a:t>
            </a:r>
            <a:endParaRPr lang="en-US" sz="1400" dirty="0"/>
          </a:p>
        </p:txBody>
      </p:sp>
      <p:sp>
        <p:nvSpPr>
          <p:cNvPr id="8" name="Rekap Total RAB latar"/>
          <p:cNvSpPr/>
          <p:nvPr/>
        </p:nvSpPr>
        <p:spPr>
          <a:xfrm>
            <a:off x="7891272" y="4160520"/>
            <a:ext cx="3154680" cy="1188720"/>
          </a:xfrm>
          <a:prstGeom prst="rect">
            <a:avLst/>
          </a:prstGeom>
          <a:solidFill>
            <a:schemeClr val="accent1"/>
          </a:solidFill>
          <a:ln/>
        </p:spPr>
      </p:sp>
      <p:sp>
        <p:nvSpPr>
          <p:cNvPr id="9" name="Rekap Total RAB"/>
          <p:cNvSpPr txBox="1"/>
          <p:nvPr/>
        </p:nvSpPr>
        <p:spPr>
          <a:xfrm>
            <a:off x="8074152" y="4270248"/>
            <a:ext cx="2788920" cy="987552"/>
          </a:xfrm>
          <a:prstGeom prst="rect">
            <a:avLst/>
          </a:prstGeom>
          <a:noFill/>
          <a:ln/>
        </p:spPr>
        <p:txBody>
          <a:bodyPr wrap="square" lIns="0" tIns="0" rIns="0" bIns="0" rtlCol="0" anchor="t"/>
          <a:lstStyle/>
          <a:p>
            <a:pPr indent="0" marL="0">
              <a:spcAft>
                <a:spcPts val="200"/>
              </a:spcAft>
              <a:buNone/>
            </a:pPr>
            <a:r>
              <a:rPr lang="en-US" sz="1400" dirty="0">
                <a:solidFill>
                  <a:schemeClr val="bg1"/>
                </a:solidFill>
              </a:rPr>
              <a:t>Total RAB</a:t>
            </a:r>
            <a:endParaRPr lang="en-US" sz="1400" dirty="0"/>
          </a:p>
          <a:p>
            <a:pPr indent="0" marL="0">
              <a:buNone/>
            </a:pPr>
            <a:r>
              <a:rPr lang="en-US" sz="3000" b="1" dirty="0">
                <a:solidFill>
                  <a:schemeClr val="bg1"/>
                </a:solidFill>
              </a:rPr>
              <a:t>Rp902.000</a:t>
            </a:r>
            <a:endParaRPr lang="en-US" sz="1400" dirty="0"/>
          </a:p>
        </p:txBody>
      </p:sp>
    </p:spTree>
  </p:cSld>
  <p:clrMapOvr>
    <a:masterClrMapping/>
  </p:clrMapOvr>
</p:sld>
</file>

<file path=ppt/theme/theme1.xml><?xml version="1.0" encoding="utf-8"?>
<a:theme xmlns:a="http://schemas.openxmlformats.org/drawingml/2006/main" name="LFM Navy">
  <a:themeElements>
    <a:clrScheme name="LFM Navy">
      <a:dk1>
        <a:srgbClr val="0D1D33"/>
      </a:dk1>
      <a:lt1>
        <a:srgbClr val="FFFFFF"/>
      </a:lt1>
      <a:dk2>
        <a:srgbClr val="14273C"/>
      </a:dk2>
      <a:lt2>
        <a:srgbClr val="BFD3E6"/>
      </a:lt2>
      <a:accent1>
        <a:srgbClr val="4A6F92"/>
      </a:accent1>
      <a:accent2>
        <a:srgbClr val="9CC7EE"/>
      </a:accent2>
      <a:accent3>
        <a:srgbClr val="6386A6"/>
      </a:accent3>
      <a:accent4>
        <a:srgbClr val="1F5981"/>
      </a:accent4>
      <a:accent5>
        <a:srgbClr val="1A3152"/>
      </a:accent5>
      <a:accent6>
        <a:srgbClr val="E57373"/>
      </a:accent6>
      <a:hlink>
        <a:srgbClr val="9CC7EE"/>
      </a:hlink>
      <a:folHlink>
        <a:srgbClr val="BFD3E6"/>
      </a:folHlink>
    </a:clrScheme>
    <a:fontScheme name="LFM Nav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 Follower Micro: Pitching RAB</dc:title>
  <dc:subject>PjBL Semester 5 DTEO FV ITS</dc:subject>
  <dc:creator>Kelompok P01-5</dc:creator>
  <cp:lastModifiedBy>Kelompok P01-5</cp:lastModifiedBy>
  <cp:revision>1</cp:revision>
  <dcterms:created xsi:type="dcterms:W3CDTF">2026-10-26T06:20:49Z</dcterms:created>
  <dcterms:modified xsi:type="dcterms:W3CDTF">2026-10-26T06:20:49Z</dcterms:modified>
</cp:coreProperties>
</file>