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cee92f85-977e-7054-5f48-87c8b83e0010}">
          <p14:sldIdLst>
            <p14:sldId id="256"/>
            <p14:sldId id="257"/>
          </p14:sldIdLst>
        </p14:section>
        <p14:section name="Masalah dan solusi" id="{20dd998a-42cd-9e99-3b18-ddf2233e5280}">
          <p14:sldIdLst>
            <p14:sldId id="258"/>
            <p14:sldId id="259"/>
            <p14:sldId id="260"/>
            <p14:sldId id="261"/>
          </p14:sldIdLst>
        </p14:section>
        <p14:section name="Rancangan" id="{a48c67e6-4b50-0201-de87-a755ba8d1001}">
          <p14:sldIdLst>
            <p14:sldId id="262"/>
            <p14:sldId id="263"/>
            <p14:sldId id="264"/>
            <p14:sldId id="265"/>
          </p14:sldIdLst>
        </p14:section>
        <p14:section name="Anggaran" id="{2bcb6cea-a19d-f6d1-3559-34944a47fc42}">
          <p14:sldIdLst>
            <p14:sldId id="266"/>
            <p14:sldId id="267"/>
            <p14:sldId id="268"/>
          </p14:sldIdLst>
        </p14:section>
        <p14:section name="Penutup" id="{1687b07e-5093-6d1f-33c8-a0835592e9fc}">
          <p14:sldIdLst>
            <p14:sldId id="269"/>
            <p14:sldId id="270"/>
          </p14:sldIdLst>
        </p14:section>
        <p14:section name="Lampiran" id="{2ee84095-35f7-e1db-1aa7-e10194935547}">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Biaya per kelompok (ribu rupiah)</a:t>
            </a:r>
          </a:p>
        </c:rich>
      </c:tx>
      <c:layout/>
      <c:overlay val="0"/>
    </c:title>
    <c:autoTitleDeleted val="0"/>
    <c:plotArea>
      <c:layout/>
      <c:barChart>
        <c:barDir val="bar"/>
        <c:grouping val="clustered"/>
        <c:varyColors val="0"/>
        <c:ser>
          <c:idx val="0"/>
          <c:order val="0"/>
          <c:tx>
            <c:strRef>
              <c:f>Sheet1!$B$1</c:f>
              <c:strCache>
                <c:ptCount val="1"/>
                <c:pt idx="0">
                  <c:v>Biaya (ribu rupiah)</c:v>
                </c:pt>
              </c:strCache>
            </c:strRef>
          </c:tx>
          <c:spPr>
            <a:solidFill>
              <a:srgbClr val="9CC7EE"/>
            </a:solidFill>
            <a:effectLst/>
          </c:spPr>
          <c:invertIfNegative val="0"/>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PCB &amp; konektor</c:v>
                  </c:pt>
                  <c:pt idx="1">
                    <c:v>Sensor garis</c:v>
                  </c:pt>
                  <c:pt idx="2">
                    <c:v>Penggerak</c:v>
                  </c:pt>
                  <c:pt idx="3">
                    <c:v>Daya &amp; baterai</c:v>
                  </c:pt>
                  <c:pt idx="4">
                    <c:v>Otak &amp; antarmuka</c:v>
                  </c:pt>
                  <c:pt idx="5">
                    <c:v>Mekanik lain</c:v>
                  </c:pt>
                </c:lvl>
              </c:multiLvlStrCache>
            </c:multiLvlStrRef>
          </c:cat>
          <c:val>
            <c:numRef>
              <c:f>Sheet1!$B$2:$B$7</c:f>
              <c:numCache>
                <c:formatCode>General</c:formatCode>
                <c:ptCount val="6"/>
                <c:pt idx="0">
                  <c:v>240</c:v>
                </c:pt>
                <c:pt idx="1">
                  <c:v>218</c:v>
                </c:pt>
                <c:pt idx="2">
                  <c:v>170</c:v>
                </c:pt>
                <c:pt idx="3">
                  <c:v>136</c:v>
                </c:pt>
                <c:pt idx="4">
                  <c:v>118</c:v>
                </c:pt>
                <c:pt idx="5">
                  <c:v>20</c:v>
                </c:pt>
              </c:numCache>
            </c:numRef>
          </c:val>
        </c:ser>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autoZero"/>
        <c:auto val="1"/>
        <c:lblAlgn val="ctr"/>
        <c:noMultiLvlLbl val="1"/>
      </c:catAx>
      <c:valAx>
        <c:axId val="2094734552"/>
        <c:scaling>
          <c:orientation val="minMax"/>
          <c:max val="3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Total RAB per revisi (ribu rupiah)</a:t>
            </a:r>
          </a:p>
        </c:rich>
      </c:tx>
      <c:layout/>
      <c:overlay val="0"/>
    </c:title>
    <c:autoTitleDeleted val="0"/>
    <c:plotArea>
      <c:layout/>
      <c:lineChart>
        <c:varyColors val="0"/>
        <c:ser>
          <c:idx val="0"/>
          <c:order val="0"/>
          <c:tx>
            <c:strRef>
              <c:f>Sheet1!$B$1</c:f>
              <c:strCache>
                <c:ptCount val="1"/>
                <c:pt idx="0">
                  <c:v>Total RAB</c:v>
                </c:pt>
              </c:strCache>
            </c:strRef>
          </c:tx>
          <c:spPr>
            <a:solidFill>
              <a:srgbClr val="9CC7EE"/>
            </a:solidFill>
            <a:ln w="38100" cap="flat">
              <a:solidFill>
                <a:srgbClr val="9CC7EE"/>
              </a:solidFill>
              <a:prstDash val="solid"/>
              <a:round/>
            </a:ln>
            <a:effectLst/>
          </c:spPr>
          <c:invertIfNegative val="0"/>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c:symbol val="circle"/>
            <c:size val="9"/>
            <c:spPr>
              <a:solidFill>
                <a:srgbClr val="9CC7EE"/>
              </a:solidFill>
              <a:ln w="9525" cap="flat">
                <a:solidFill>
                  <a:srgbClr val="9CC7EE"/>
                </a:solidFill>
                <a:prstDash val="solid"/>
                <a:round/>
              </a:ln>
              <a:effectLst/>
            </c:spPr>
          </c:marker>
          <c:cat>
            <c:multiLvlStrRef>
              <c:f>Sheet1!$A$2:$A$10</c:f>
              <c:multiLvlStrCache>
                <c:ptCount val="9"/>
                <c:lvl>
                  <c:pt idx="0">
                    <c:v>Rev 3.2</c:v>
                  </c:pt>
                  <c:pt idx="1">
                    <c:v>Rev 3.3</c:v>
                  </c:pt>
                  <c:pt idx="2">
                    <c:v>Rev 3.4</c:v>
                  </c:pt>
                  <c:pt idx="3">
                    <c:v>13/10</c:v>
                  </c:pt>
                  <c:pt idx="4">
                    <c:v>15/10</c:v>
                  </c:pt>
                  <c:pt idx="5">
                    <c:v>20/10 (1)</c:v>
                  </c:pt>
                  <c:pt idx="6">
                    <c:v>20/10 (2)</c:v>
                  </c:pt>
                  <c:pt idx="7">
                    <c:v>21/10</c:v>
                  </c:pt>
                  <c:pt idx="8">
                    <c:v>22/10</c:v>
                  </c:pt>
                </c:lvl>
              </c:multiLvlStrCache>
            </c:multiLvlStrRef>
          </c:cat>
          <c:val>
            <c:numRef>
              <c:f>Sheet1!$B$2:$B$10</c:f>
              <c:numCache>
                <c:formatCode>General</c:formatCode>
                <c:ptCount val="9"/>
                <c:pt idx="0">
                  <c:v>845</c:v>
                </c:pt>
                <c:pt idx="1">
                  <c:v>858</c:v>
                </c:pt>
                <c:pt idx="2">
                  <c:v>833</c:v>
                </c:pt>
                <c:pt idx="3">
                  <c:v>896</c:v>
                </c:pt>
                <c:pt idx="4">
                  <c:v>879.5</c:v>
                </c:pt>
                <c:pt idx="5">
                  <c:v>859.5</c:v>
                </c:pt>
                <c:pt idx="6">
                  <c:v>867</c:v>
                </c:pt>
                <c:pt idx="7">
                  <c:v>887</c:v>
                </c:pt>
                <c:pt idx="8">
                  <c:v>902</c:v>
                </c:pt>
              </c:numCache>
            </c:numRef>
          </c:val>
          <c:smooth val="0"/>
        </c:ser>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Batas Rp900 rb</c:v>
                </c:pt>
              </c:strCache>
            </c:strRef>
          </c:tx>
          <c:spPr>
            <a:solidFill>
              <a:srgbClr val="E57373"/>
            </a:solidFill>
            <a:ln w="25400" cap="flat">
              <a:solidFill>
                <a:srgbClr val="E57373"/>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57373"/>
              </a:solidFill>
              <a:ln w="9525" cap="flat">
                <a:solidFill>
                  <a:srgbClr val="E57373"/>
                </a:solidFill>
                <a:prstDash val="solid"/>
                <a:round/>
              </a:ln>
              <a:effectLst/>
            </c:spPr>
          </c:marker>
          <c:cat>
            <c:multiLvlStrRef>
              <c:f>Sheet1!$A$2:$A$10</c:f>
              <c:multiLvlStrCache>
                <c:ptCount val="9"/>
                <c:lvl>
                  <c:pt idx="0">
                    <c:v>Rev 3.2</c:v>
                  </c:pt>
                  <c:pt idx="1">
                    <c:v>Rev 3.3</c:v>
                  </c:pt>
                  <c:pt idx="2">
                    <c:v>Rev 3.4</c:v>
                  </c:pt>
                  <c:pt idx="3">
                    <c:v>13/10</c:v>
                  </c:pt>
                  <c:pt idx="4">
                    <c:v>15/10</c:v>
                  </c:pt>
                  <c:pt idx="5">
                    <c:v>20/10 (1)</c:v>
                  </c:pt>
                  <c:pt idx="6">
                    <c:v>20/10 (2)</c:v>
                  </c:pt>
                  <c:pt idx="7">
                    <c:v>21/10</c:v>
                  </c:pt>
                  <c:pt idx="8">
                    <c:v>22/10</c:v>
                  </c:pt>
                </c:lvl>
              </c:multiLvlStrCache>
            </c:multiLvlStrRef>
          </c:cat>
          <c:val>
            <c:numRef>
              <c:f>Sheet1!$C$2:$C$10</c:f>
              <c:numCache>
                <c:formatCode>General</c:formatCode>
                <c:ptCount val="9"/>
                <c:pt idx="0">
                  <c:v>900</c:v>
                </c:pt>
                <c:pt idx="1">
                  <c:v>900</c:v>
                </c:pt>
                <c:pt idx="2">
                  <c:v>900</c:v>
                </c:pt>
                <c:pt idx="3">
                  <c:v>900</c:v>
                </c:pt>
                <c:pt idx="4">
                  <c:v>900</c:v>
                </c:pt>
                <c:pt idx="5">
                  <c:v>900</c:v>
                </c:pt>
                <c:pt idx="6">
                  <c:v>900</c:v>
                </c:pt>
                <c:pt idx="7">
                  <c:v>900</c:v>
                </c:pt>
                <c:pt idx="8">
                  <c:v>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BFD3E6"/>
                </a:solidFill>
                <a:latin typeface="+mn-lt"/>
              </a:defRPr>
            </a:pPr>
            <a:endParaRPr lang="en-US"/>
          </a:p>
        </c:txPr>
        <c:crossAx val="2094734552"/>
        <c:crosses val="autoZero"/>
        <c:auto val="1"/>
        <c:lblAlgn val="ctr"/>
        <c:noMultiLvlLbl val="1"/>
      </c:catAx>
      <c:valAx>
        <c:axId val="2094734552"/>
        <c:scaling>
          <c:orientation val="minMax"/>
          <c:max val="920"/>
          <c:min val="800"/>
        </c:scaling>
        <c:delete val="0"/>
        <c:axPos val="l"/>
        <c:majorGridlines>
          <c:spPr>
            <a:ln w="9525" cap="flat">
              <a:solidFill>
                <a:srgbClr val="2A446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BFD3E6"/>
                </a:solidFill>
                <a:latin typeface="+mn-lt"/>
              </a:defRPr>
            </a:pPr>
            <a:endParaRPr lang="en-US"/>
          </a:p>
        </c:txPr>
        <c:crossAx val="2094734554"/>
        <c:crosses val="autoZero"/>
        <c:crossBetween val="between"/>
        <c:majorUnit val="40"/>
      </c:valAx>
      <c:spPr>
        <a:noFill/>
        <a:ln>
          <a:noFill/>
        </a:ln>
        <a:effectLst/>
      </c:spPr>
    </c:plotArea>
    <c:legend>
      <c:legendPos val="b"/>
      <c:overlay val="0"/>
      <c:txPr>
        <a:bodyPr/>
        <a:lstStyle/>
        <a:p>
          <a:pPr>
            <a:defRPr sz="12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Kami kelompok P01-5 dengan proyek Line Follower Micro: robot edukasi pengikut garis yang bisa merencanakan rute, hasil reverse engineering kit Ichiduino Pro. Hari ini kami mengajukan RAB untuk pembelian komponen dan fabrikasi PCB.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tim dan pembagian peran. Isi peran tiap anggota sebelum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kit edukasi mahal, sekitar dua juta rupiah, dan dirancang untuk lomba. Dari dosen kami mendapat batas: reverse engineering, anggaran maksimal 900 ribu, minimal bisa ikut garis dan path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kami empat fitur utama: ikut garis dengan PID, path planning di grid, block coding berbasis web, dan fitur keamanan. Biayanya sekitar 45 persen harga kit pembanding.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reverse engineering: fungsi utama kit dipertahankan (12 sensor, OLED), komponen yang mahal atau kurang cocok untuk edukasi diganti, path planning ditambahkan, fitur lomba ditiadakan. Kinerja nyata kit akan diukur di lintasan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Sasaran terukur dari charter. Semua bernilai, bersatuan, dan punya cara uji. Sasaran biaya dibahas di bagian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Arsitektur: input sensor lewat multiplexer ke ESP32, ESP32 mengatur driver motor, encoder memberi umpan balik, OLED dan tombol untuk menu. Sistem daya dari dua baterai 18650 dengan BMS.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Kendali loop tertutup: posisi garis diumpankan ke PID. Encoder dipakai untuk jarak dan belok 90 derajat. Path planning: lintasan grid 4x4 dipetakan sebagai graf, lalu rute terpendek dihitung dengan BFS atau Dijkstra.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PCB custom, dibuat di KiCad 10. PCB sensor sudah DRC 0 error dan siap cetak; jarak sensor 8 mm dipilih untuk garis lomba 2 cm. PCB utama sudah dirouting, semua jalur tersambung, tinggal 11 error DRC dari dua footprint (transistor Q1 dan saklar SW1) sebelum dicetak. Aturan cetak mengikuti tempat cetak: jalur minimal 0,3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3D versi 16 dari CAD: ukuran sekitar 11,6 x 16,5 x 6,2 cm, setara kit pembanding. PCB menjadi sasis. Body 3D print belum dianggarkan karena menunggu info printer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RAB 902 ribu rupiah. Terbesar untuk fabrikasi dua PCB dan 12 sensor. Rincian lengkap tiap item ada di lampiran.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pemilihan enam komponen dengan biaya terbesar. Semua harga dari daftar harga toko (tautan di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sudah sembilan kali direvisi dan dijaga dekat batas. Sekarang 902 ribu, lebih 2 ribu (0,2 persen) karena harga QRE1113GR lokal ternyata tiga kali perkiraan. Kalau diminta pas 900 ribu: push button di RAB 4 buah, rancangan memakai 2 (tombol A dan B); mengurangi 2 buah menutup selisih 2 ribu.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mengikuti gerbang PjBL. G1 sudah lulus 2 Oktober, hari ini bagian dari G2. Sesudah dana cair: beli komponen, uji di breadboard, lalu pesan PCB paling lambat minggu 10 untuk G3. Tiga risiko yang berkaitan dengan dana dan penanganannya.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kami mohon persetujuan dana 902 ribu rupiah. Rencana sesudah dana cair ada di sisi kanan. Terima kasih, kami siap menjawab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pertama.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kedua; total elektrikal 847 ribu.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mekanik dan rekap total 902 ribu. Lintasan uji, breadboard, dan timah di luar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JUD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_A-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SI_B-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SI_TENGAH-image-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PENUTUP-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875520" y="603504"/>
            <a:ext cx="1371600" cy="457200"/>
          </a:xfrm>
          <a:prstGeom prst="rect">
            <a:avLst/>
          </a:prstGeom>
          <a:noFill/>
          <a:ln/>
        </p:spPr>
        <p:txBody>
          <a:bodyPr wrap="square" lIns="0" tIns="0" rIns="0" bIns="0" rtlCol="0" anchor="ctr"/>
          <a:lstStyle/>
          <a:p>
            <a:pPr algn="r" indent="0" marL="0">
              <a:buNone/>
            </a:pPr>
            <a:r>
              <a:rPr lang="en-US" sz="2500" dirty="0">
                <a:solidFill>
                  <a:schemeClr val="bg1"/>
                </a:solidFill>
              </a:rPr>
              <a:t>2026</a:t>
            </a:r>
            <a:endParaRPr lang="en-US" sz="2500" dirty="0"/>
          </a:p>
        </p:txBody>
      </p:sp>
      <p:sp>
        <p:nvSpPr>
          <p:cNvPr id="3" name="Text 1"/>
          <p:cNvSpPr/>
          <p:nvPr>
            <p:ph idx="101" type="title" hasCustomPrompt="1"/>
          </p:nvPr>
        </p:nvSpPr>
        <p:spPr>
          <a:xfrm>
            <a:off x="1417320" y="1810512"/>
            <a:ext cx="6309360" cy="2697480"/>
          </a:xfrm>
          <a:prstGeom prst="rect">
            <a:avLst/>
          </a:prstGeom>
          <a:noFill/>
          <a:ln/>
        </p:spPr>
        <p:txBody>
          <a:bodyPr wrap="square" rtlCol="0"/>
          <a:lstStyle>
            <a:lvl1pPr algn="l" indent="0" marL="0">
              <a:lnSpc>
                <a:spcPct val="80000"/>
              </a:lnSpc>
              <a:buNone/>
              <a:defRPr lang="en-US" sz="7400" b="1" dirty="0">
                <a:solidFill>
                  <a:schemeClr val="bg1"/>
                </a:solidFill>
              </a:defRPr>
            </a:lvl1pPr>
          </a:lstStyle>
          <a:p>
            <a:pPr algn="l" indent="0" marL="0">
              <a:lnSpc>
                <a:spcPct val="80000"/>
              </a:lnSpc>
              <a:buNone/>
            </a:pPr>
            <a:endParaRPr lang="en-US" sz="7400" dirty="0"/>
          </a:p>
        </p:txBody>
      </p:sp>
      <p:sp>
        <p:nvSpPr>
          <p:cNvPr id="4" name="Text 1"/>
          <p:cNvSpPr/>
          <p:nvPr>
            <p:ph idx="102" type="body" hasCustomPrompt="1"/>
          </p:nvPr>
        </p:nvSpPr>
        <p:spPr>
          <a:xfrm>
            <a:off x="1417320" y="4498848"/>
            <a:ext cx="5852160" cy="384048"/>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1"/>
          <p:cNvSpPr/>
          <p:nvPr>
            <p:ph idx="103" type="body" hasCustomPrompt="1"/>
          </p:nvPr>
        </p:nvSpPr>
        <p:spPr>
          <a:xfrm>
            <a:off x="1417320" y="4901184"/>
            <a:ext cx="5486400" cy="347472"/>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_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SI_B">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548640"/>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548640"/>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SI_TENGA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Text 2"/>
          <p:cNvSpPr/>
          <p:nvPr>
            <p:ph idx="102" type="title" hasCustomPrompt="1"/>
          </p:nvPr>
        </p:nvSpPr>
        <p:spPr>
          <a:xfrm>
            <a:off x="1463040" y="1024128"/>
            <a:ext cx="9262872" cy="786384"/>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5" name="Shape 2"/>
          <p:cNvSpPr/>
          <p:nvPr/>
        </p:nvSpPr>
        <p:spPr>
          <a:xfrm>
            <a:off x="3017520" y="1892808"/>
            <a:ext cx="6153912" cy="32004"/>
          </a:xfrm>
          <a:prstGeom prst="rect">
            <a:avLst/>
          </a:prstGeom>
          <a:solidFill>
            <a:schemeClr val="bg1"/>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ENUTUP">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58368"/>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58368"/>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298448" y="1938528"/>
            <a:ext cx="41148" cy="2788920"/>
          </a:xfrm>
          <a:prstGeom prst="rect">
            <a:avLst/>
          </a:prstGeom>
          <a:solidFill>
            <a:schemeClr val="bg1"/>
          </a:solidFill>
          <a:ln/>
        </p:spPr>
      </p:sp>
      <p:sp>
        <p:nvSpPr>
          <p:cNvPr id="5" name="Text 3"/>
          <p:cNvSpPr/>
          <p:nvPr>
            <p:ph idx="103" type="title" hasCustomPrompt="1"/>
          </p:nvPr>
        </p:nvSpPr>
        <p:spPr>
          <a:xfrm>
            <a:off x="1536192" y="1828800"/>
            <a:ext cx="5669280" cy="3017520"/>
          </a:xfrm>
          <a:prstGeom prst="rect">
            <a:avLst/>
          </a:prstGeom>
          <a:noFill/>
          <a:ln/>
        </p:spPr>
        <p:txBody>
          <a:bodyPr wrap="square" rtlCol="0"/>
          <a:lstStyle>
            <a:lvl1pPr algn="l" indent="0" marL="0">
              <a:lnSpc>
                <a:spcPct val="85000"/>
              </a:lnSpc>
              <a:buNone/>
              <a:defRPr lang="en-US" sz="8800" b="1" dirty="0">
                <a:solidFill>
                  <a:schemeClr val="bg1"/>
                </a:solidFill>
              </a:defRPr>
            </a:lvl1pPr>
          </a:lstStyle>
          <a:p>
            <a:pPr algn="l" indent="0" marL="0">
              <a:lnSpc>
                <a:spcPct val="85000"/>
              </a:lnSpc>
              <a:buNone/>
            </a:pPr>
            <a:endParaRPr lang="en-US" sz="8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417320" y="1810512"/>
            <a:ext cx="6309360" cy="2697480"/>
          </a:xfrm>
          <a:prstGeom prst="rect">
            <a:avLst/>
          </a:prstGeom>
          <a:noFill/>
          <a:ln/>
        </p:spPr>
        <p:txBody>
          <a:bodyPr wrap="square" lIns="0" tIns="0" rIns="0" bIns="0" rtlCol="0" anchor="t"/>
          <a:lstStyle/>
          <a:p>
            <a:pPr algn="l" indent="0" marL="0">
              <a:lnSpc>
                <a:spcPct val="80000"/>
              </a:lnSpc>
              <a:buNone/>
            </a:pPr>
            <a:r>
              <a:rPr lang="en-US" sz="7400" b="1" dirty="0">
                <a:solidFill>
                  <a:schemeClr val="bg1"/>
                </a:solidFill>
              </a:rPr>
              <a:t>LINE</a:t>
            </a:r>
            <a:endParaRPr lang="en-US" sz="7400" dirty="0"/>
          </a:p>
          <a:p>
            <a:pPr algn="l" indent="0" marL="0">
              <a:lnSpc>
                <a:spcPct val="80000"/>
              </a:lnSpc>
              <a:buNone/>
            </a:pPr>
            <a:r>
              <a:rPr lang="en-US" sz="7400" b="1" dirty="0">
                <a:solidFill>
                  <a:schemeClr val="bg1"/>
                </a:solidFill>
              </a:rPr>
              <a:t>FOLLOWER</a:t>
            </a:r>
            <a:endParaRPr lang="en-US" sz="7400" dirty="0"/>
          </a:p>
          <a:p>
            <a:pPr algn="l" indent="0" marL="0">
              <a:lnSpc>
                <a:spcPct val="80000"/>
              </a:lnSpc>
              <a:buNone/>
            </a:pPr>
            <a:r>
              <a:rPr lang="en-US" sz="7400" b="1" dirty="0">
                <a:solidFill>
                  <a:schemeClr val="bg1"/>
                </a:solidFill>
              </a:rPr>
              <a:t>MICRO</a:t>
            </a:r>
            <a:endParaRPr lang="en-US" sz="7400" dirty="0"/>
          </a:p>
        </p:txBody>
      </p:sp>
      <p:sp>
        <p:nvSpPr>
          <p:cNvPr id="3" name="Text 1"/>
          <p:cNvSpPr/>
          <p:nvPr>
            <p:ph idx="102" type="body" hasCustomPrompt="1"/>
          </p:nvPr>
        </p:nvSpPr>
        <p:spPr>
          <a:xfrm>
            <a:off x="1417320" y="4498848"/>
            <a:ext cx="5852160" cy="384048"/>
          </a:xfrm>
          <a:prstGeom prst="rect">
            <a:avLst/>
          </a:prstGeom>
          <a:noFill/>
          <a:ln/>
        </p:spPr>
        <p:txBody>
          <a:bodyPr wrap="square" lIns="0" tIns="0" rIns="0" bIns="0" rtlCol="0" anchor="ctr"/>
          <a:lstStyle/>
          <a:p>
            <a:pPr algn="l" indent="0" marL="0">
              <a:buNone/>
            </a:pPr>
            <a:r>
              <a:rPr lang="en-US" sz="2000" dirty="0">
                <a:solidFill>
                  <a:schemeClr val="bg1"/>
                </a:solidFill>
              </a:rPr>
              <a:t>Presentation by Group P01-5</a:t>
            </a:r>
            <a:endParaRPr lang="en-US" sz="2000" dirty="0"/>
          </a:p>
        </p:txBody>
      </p:sp>
      <p:sp>
        <p:nvSpPr>
          <p:cNvPr id="4" name="Text 1"/>
          <p:cNvSpPr/>
          <p:nvPr>
            <p:ph idx="103" type="body" hasCustomPrompt="1"/>
          </p:nvPr>
        </p:nvSpPr>
        <p:spPr>
          <a:xfrm>
            <a:off x="1417320" y="4901184"/>
            <a:ext cx="5486400" cy="347472"/>
          </a:xfrm>
          <a:prstGeom prst="rect">
            <a:avLst/>
          </a:prstGeom>
          <a:noFill/>
          <a:ln/>
        </p:spPr>
        <p:txBody>
          <a:bodyPr wrap="square" lIns="0" tIns="0" rIns="0" bIns="0" rtlCol="0" anchor="t"/>
          <a:lstStyle/>
          <a:p>
            <a:pPr algn="l" indent="0" marL="0">
              <a:buNone/>
            </a:pPr>
            <a:r>
              <a:rPr lang="en-US" sz="1600" dirty="0">
                <a:solidFill>
                  <a:schemeClr val="bg2"/>
                </a:solidFill>
              </a:rPr>
              <a:t>Pitching RAB · 27 Oktober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TIM KAMI</a:t>
            </a:r>
            <a:endParaRPr lang="en-US" sz="4000" dirty="0"/>
          </a:p>
        </p:txBody>
      </p:sp>
      <p:sp>
        <p:nvSpPr>
          <p:cNvPr id="3" name="Kartu anggota 1"/>
          <p:cNvSpPr/>
          <p:nvPr/>
        </p:nvSpPr>
        <p:spPr>
          <a:xfrm>
            <a:off x="1124712" y="2148840"/>
            <a:ext cx="2331720" cy="2514600"/>
          </a:xfrm>
          <a:prstGeom prst="rect">
            <a:avLst/>
          </a:prstGeom>
          <a:solidFill>
            <a:schemeClr val="accent5"/>
          </a:solidFill>
          <a:ln/>
        </p:spPr>
      </p:sp>
      <p:sp>
        <p:nvSpPr>
          <p:cNvPr id="4" name="Inisial 1 lingkaran"/>
          <p:cNvSpPr/>
          <p:nvPr/>
        </p:nvSpPr>
        <p:spPr>
          <a:xfrm>
            <a:off x="1307592" y="2350008"/>
            <a:ext cx="713232" cy="713232"/>
          </a:xfrm>
          <a:prstGeom prst="ellipse">
            <a:avLst/>
          </a:prstGeom>
          <a:solidFill>
            <a:schemeClr val="accent1"/>
          </a:solidFill>
          <a:ln/>
        </p:spPr>
      </p:sp>
      <p:sp>
        <p:nvSpPr>
          <p:cNvPr id="5" name="Inisial 1"/>
          <p:cNvSpPr txBox="1"/>
          <p:nvPr/>
        </p:nvSpPr>
        <p:spPr>
          <a:xfrm>
            <a:off x="1307592"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MS</a:t>
            </a:r>
            <a:endParaRPr lang="en-US" sz="1800" dirty="0"/>
          </a:p>
        </p:txBody>
      </p:sp>
      <p:sp>
        <p:nvSpPr>
          <p:cNvPr id="6" name="Anggota 1"/>
          <p:cNvSpPr txBox="1"/>
          <p:nvPr/>
        </p:nvSpPr>
        <p:spPr>
          <a:xfrm>
            <a:off x="1307592"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Mararevi Subagyo</a:t>
            </a:r>
            <a:endParaRPr lang="en-US" sz="1600" dirty="0"/>
          </a:p>
          <a:p>
            <a:pPr indent="0" marL="0">
              <a:spcAft>
                <a:spcPts val="800"/>
              </a:spcAft>
              <a:buNone/>
            </a:pPr>
            <a:r>
              <a:rPr lang="en-US" sz="1400" dirty="0">
                <a:solidFill>
                  <a:schemeClr val="bg2"/>
                </a:solidFill>
              </a:rPr>
              <a:t>NRP 2040241036</a:t>
            </a:r>
            <a:endParaRPr lang="en-US" sz="1600" dirty="0"/>
          </a:p>
          <a:p>
            <a:pPr indent="0" marL="0">
              <a:buNone/>
            </a:pPr>
            <a:r>
              <a:rPr lang="en-US" sz="1400" dirty="0">
                <a:solidFill>
                  <a:schemeClr val="bg1"/>
                </a:solidFill>
              </a:rPr>
              <a:t>Project Manager, [isi peran]</a:t>
            </a:r>
            <a:endParaRPr lang="en-US" sz="1600" dirty="0"/>
          </a:p>
        </p:txBody>
      </p:sp>
      <p:sp>
        <p:nvSpPr>
          <p:cNvPr id="7" name="Kartu anggota 2"/>
          <p:cNvSpPr/>
          <p:nvPr/>
        </p:nvSpPr>
        <p:spPr>
          <a:xfrm>
            <a:off x="3657600" y="2148840"/>
            <a:ext cx="2331720" cy="2514600"/>
          </a:xfrm>
          <a:prstGeom prst="rect">
            <a:avLst/>
          </a:prstGeom>
          <a:solidFill>
            <a:schemeClr val="accent5"/>
          </a:solidFill>
          <a:ln/>
        </p:spPr>
      </p:sp>
      <p:sp>
        <p:nvSpPr>
          <p:cNvPr id="8" name="Inisial 2 lingkaran"/>
          <p:cNvSpPr/>
          <p:nvPr/>
        </p:nvSpPr>
        <p:spPr>
          <a:xfrm>
            <a:off x="3840480" y="2350008"/>
            <a:ext cx="713232" cy="713232"/>
          </a:xfrm>
          <a:prstGeom prst="ellipse">
            <a:avLst/>
          </a:prstGeom>
          <a:solidFill>
            <a:schemeClr val="accent1"/>
          </a:solidFill>
          <a:ln/>
        </p:spPr>
      </p:sp>
      <p:sp>
        <p:nvSpPr>
          <p:cNvPr id="9" name="Inisial 2"/>
          <p:cNvSpPr txBox="1"/>
          <p:nvPr/>
        </p:nvSpPr>
        <p:spPr>
          <a:xfrm>
            <a:off x="3840480"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FR</a:t>
            </a:r>
            <a:endParaRPr lang="en-US" sz="1800" dirty="0"/>
          </a:p>
        </p:txBody>
      </p:sp>
      <p:sp>
        <p:nvSpPr>
          <p:cNvPr id="10" name="Anggota 2"/>
          <p:cNvSpPr txBox="1"/>
          <p:nvPr/>
        </p:nvSpPr>
        <p:spPr>
          <a:xfrm>
            <a:off x="3840480"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Fernandy Raditya Wardhana</a:t>
            </a:r>
            <a:endParaRPr lang="en-US" sz="1600" dirty="0"/>
          </a:p>
          <a:p>
            <a:pPr indent="0" marL="0">
              <a:spcAft>
                <a:spcPts val="800"/>
              </a:spcAft>
              <a:buNone/>
            </a:pPr>
            <a:r>
              <a:rPr lang="en-US" sz="1400" dirty="0">
                <a:solidFill>
                  <a:schemeClr val="bg2"/>
                </a:solidFill>
              </a:rPr>
              <a:t>NRP 2040241007</a:t>
            </a:r>
            <a:endParaRPr lang="en-US" sz="1600" dirty="0"/>
          </a:p>
          <a:p>
            <a:pPr indent="0" marL="0">
              <a:buNone/>
            </a:pPr>
            <a:r>
              <a:rPr lang="en-US" sz="1400" dirty="0">
                <a:solidFill>
                  <a:schemeClr val="bg1"/>
                </a:solidFill>
              </a:rPr>
              <a:t>[isi peran]</a:t>
            </a:r>
            <a:endParaRPr lang="en-US" sz="1600" dirty="0"/>
          </a:p>
        </p:txBody>
      </p:sp>
      <p:sp>
        <p:nvSpPr>
          <p:cNvPr id="11" name="Kartu anggota 3"/>
          <p:cNvSpPr/>
          <p:nvPr/>
        </p:nvSpPr>
        <p:spPr>
          <a:xfrm>
            <a:off x="6190488" y="2148840"/>
            <a:ext cx="2331720" cy="2514600"/>
          </a:xfrm>
          <a:prstGeom prst="rect">
            <a:avLst/>
          </a:prstGeom>
          <a:solidFill>
            <a:schemeClr val="accent5"/>
          </a:solidFill>
          <a:ln/>
        </p:spPr>
      </p:sp>
      <p:sp>
        <p:nvSpPr>
          <p:cNvPr id="12" name="Inisial 3 lingkaran"/>
          <p:cNvSpPr/>
          <p:nvPr/>
        </p:nvSpPr>
        <p:spPr>
          <a:xfrm>
            <a:off x="6373368" y="2350008"/>
            <a:ext cx="713232" cy="713232"/>
          </a:xfrm>
          <a:prstGeom prst="ellipse">
            <a:avLst/>
          </a:prstGeom>
          <a:solidFill>
            <a:schemeClr val="accent1"/>
          </a:solidFill>
          <a:ln/>
        </p:spPr>
      </p:sp>
      <p:sp>
        <p:nvSpPr>
          <p:cNvPr id="13" name="Inisial 3"/>
          <p:cNvSpPr txBox="1"/>
          <p:nvPr/>
        </p:nvSpPr>
        <p:spPr>
          <a:xfrm>
            <a:off x="6373368"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AI</a:t>
            </a:r>
            <a:endParaRPr lang="en-US" sz="1800" dirty="0"/>
          </a:p>
        </p:txBody>
      </p:sp>
      <p:sp>
        <p:nvSpPr>
          <p:cNvPr id="14" name="Anggota 3"/>
          <p:cNvSpPr txBox="1"/>
          <p:nvPr/>
        </p:nvSpPr>
        <p:spPr>
          <a:xfrm>
            <a:off x="6373368"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Achmad Iqbal Adiputra</a:t>
            </a:r>
            <a:endParaRPr lang="en-US" sz="1600" dirty="0"/>
          </a:p>
          <a:p>
            <a:pPr indent="0" marL="0">
              <a:spcAft>
                <a:spcPts val="800"/>
              </a:spcAft>
              <a:buNone/>
            </a:pPr>
            <a:r>
              <a:rPr lang="en-US" sz="1400" dirty="0">
                <a:solidFill>
                  <a:schemeClr val="bg2"/>
                </a:solidFill>
              </a:rPr>
              <a:t>NRP 2040241121</a:t>
            </a:r>
            <a:endParaRPr lang="en-US" sz="1600" dirty="0"/>
          </a:p>
          <a:p>
            <a:pPr indent="0" marL="0">
              <a:buNone/>
            </a:pPr>
            <a:r>
              <a:rPr lang="en-US" sz="1400" dirty="0">
                <a:solidFill>
                  <a:schemeClr val="bg1"/>
                </a:solidFill>
              </a:rPr>
              <a:t>[isi peran]</a:t>
            </a:r>
            <a:endParaRPr lang="en-US" sz="1600" dirty="0"/>
          </a:p>
        </p:txBody>
      </p:sp>
      <p:sp>
        <p:nvSpPr>
          <p:cNvPr id="15" name="Kartu anggota 4"/>
          <p:cNvSpPr/>
          <p:nvPr/>
        </p:nvSpPr>
        <p:spPr>
          <a:xfrm>
            <a:off x="8723376" y="2148840"/>
            <a:ext cx="2331720" cy="2514600"/>
          </a:xfrm>
          <a:prstGeom prst="rect">
            <a:avLst/>
          </a:prstGeom>
          <a:solidFill>
            <a:schemeClr val="accent5"/>
          </a:solidFill>
          <a:ln/>
        </p:spPr>
      </p:sp>
      <p:sp>
        <p:nvSpPr>
          <p:cNvPr id="16" name="Inisial 4 lingkaran"/>
          <p:cNvSpPr/>
          <p:nvPr/>
        </p:nvSpPr>
        <p:spPr>
          <a:xfrm>
            <a:off x="8906256" y="2350008"/>
            <a:ext cx="713232" cy="713232"/>
          </a:xfrm>
          <a:prstGeom prst="ellipse">
            <a:avLst/>
          </a:prstGeom>
          <a:solidFill>
            <a:schemeClr val="accent1"/>
          </a:solidFill>
          <a:ln/>
        </p:spPr>
      </p:sp>
      <p:sp>
        <p:nvSpPr>
          <p:cNvPr id="17" name="Inisial 4"/>
          <p:cNvSpPr txBox="1"/>
          <p:nvPr/>
        </p:nvSpPr>
        <p:spPr>
          <a:xfrm>
            <a:off x="8906256"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AD</a:t>
            </a:r>
            <a:endParaRPr lang="en-US" sz="1800" dirty="0"/>
          </a:p>
        </p:txBody>
      </p:sp>
      <p:sp>
        <p:nvSpPr>
          <p:cNvPr id="18" name="Anggota 4"/>
          <p:cNvSpPr txBox="1"/>
          <p:nvPr/>
        </p:nvSpPr>
        <p:spPr>
          <a:xfrm>
            <a:off x="8906256"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Adhityanoval Dewa Mahendra</a:t>
            </a:r>
            <a:endParaRPr lang="en-US" sz="1600" dirty="0"/>
          </a:p>
          <a:p>
            <a:pPr indent="0" marL="0">
              <a:spcAft>
                <a:spcPts val="800"/>
              </a:spcAft>
              <a:buNone/>
            </a:pPr>
            <a:r>
              <a:rPr lang="en-US" sz="1400" dirty="0">
                <a:solidFill>
                  <a:schemeClr val="bg2"/>
                </a:solidFill>
              </a:rPr>
              <a:t>NRP 2040241085</a:t>
            </a:r>
            <a:endParaRPr lang="en-US" sz="1600" dirty="0"/>
          </a:p>
          <a:p>
            <a:pPr indent="0" marL="0">
              <a:buNone/>
            </a:pPr>
            <a:r>
              <a:rPr lang="en-US" sz="1400" dirty="0">
                <a:solidFill>
                  <a:schemeClr val="bg1"/>
                </a:solidFill>
              </a:rPr>
              <a:t>[isi peran]</a:t>
            </a:r>
            <a:endParaRPr lang="en-US" sz="1600" dirty="0"/>
          </a:p>
        </p:txBody>
      </p:sp>
      <p:sp>
        <p:nvSpPr>
          <p:cNvPr id="19" name="Pembimbing"/>
          <p:cNvSpPr txBox="1"/>
          <p:nvPr/>
        </p:nvSpPr>
        <p:spPr>
          <a:xfrm>
            <a:off x="1124712" y="4956048"/>
            <a:ext cx="7315200" cy="365760"/>
          </a:xfrm>
          <a:prstGeom prst="rect">
            <a:avLst/>
          </a:prstGeom>
          <a:noFill/>
          <a:ln/>
        </p:spPr>
        <p:txBody>
          <a:bodyPr wrap="square" lIns="0" tIns="0" rIns="0" bIns="0" rtlCol="0" anchor="ctr"/>
          <a:lstStyle/>
          <a:p>
            <a:pPr indent="0" marL="0">
              <a:buNone/>
            </a:pPr>
            <a:r>
              <a:rPr lang="en-US" sz="1600" b="1" dirty="0">
                <a:solidFill>
                  <a:schemeClr val="bg1"/>
                </a:solidFill>
              </a:rPr>
              <a:t>Dosen pembimbing: </a:t>
            </a:r>
            <a:pPr indent="0" marL="0">
              <a:buNone/>
            </a:pPr>
            <a:r>
              <a:rPr lang="en-US" sz="1600" dirty="0">
                <a:solidFill>
                  <a:schemeClr val="bg1"/>
                </a:solidFill>
              </a:rPr>
              <a:t>Fira Aulia, S.Tr.T, M.Tr.T</a:t>
            </a:r>
            <a:endParaRPr lang="en-US" sz="1600" dirty="0"/>
          </a:p>
        </p:txBody>
      </p:sp>
      <p:sp>
        <p:nvSpPr>
          <p:cNvPr id="20" name="Titik hias 1"/>
          <p:cNvSpPr/>
          <p:nvPr/>
        </p:nvSpPr>
        <p:spPr>
          <a:xfrm>
            <a:off x="9966960" y="5074920"/>
            <a:ext cx="155448" cy="155448"/>
          </a:xfrm>
          <a:prstGeom prst="ellipse">
            <a:avLst/>
          </a:prstGeom>
          <a:solidFill>
            <a:schemeClr val="bg1"/>
          </a:solidFill>
          <a:ln/>
        </p:spPr>
      </p:sp>
      <p:sp>
        <p:nvSpPr>
          <p:cNvPr id="21" name="Titik hias 2"/>
          <p:cNvSpPr/>
          <p:nvPr/>
        </p:nvSpPr>
        <p:spPr>
          <a:xfrm>
            <a:off x="10213848" y="5074920"/>
            <a:ext cx="155448" cy="155448"/>
          </a:xfrm>
          <a:prstGeom prst="ellipse">
            <a:avLst/>
          </a:prstGeom>
          <a:solidFill>
            <a:schemeClr val="bg1"/>
          </a:solidFill>
          <a:ln/>
        </p:spPr>
      </p:sp>
      <p:sp>
        <p:nvSpPr>
          <p:cNvPr id="22" name="Titik hias 3"/>
          <p:cNvSpPr/>
          <p:nvPr/>
        </p:nvSpPr>
        <p:spPr>
          <a:xfrm>
            <a:off x="10460736" y="5074920"/>
            <a:ext cx="155448" cy="155448"/>
          </a:xfrm>
          <a:prstGeom prst="ellipse">
            <a:avLst/>
          </a:prstGeom>
          <a:solidFill>
            <a:schemeClr val="bg1"/>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LATAR BELAKANG</a:t>
            </a:r>
            <a:endParaRPr lang="en-US" sz="4000" dirty="0"/>
          </a:p>
        </p:txBody>
      </p:sp>
      <p:sp>
        <p:nvSpPr>
          <p:cNvPr id="3" name="Harga kit"/>
          <p:cNvSpPr txBox="1"/>
          <p:nvPr/>
        </p:nvSpPr>
        <p:spPr>
          <a:xfrm>
            <a:off x="1463040" y="2331720"/>
            <a:ext cx="4480560" cy="914400"/>
          </a:xfrm>
          <a:prstGeom prst="rect">
            <a:avLst/>
          </a:prstGeom>
          <a:noFill/>
          <a:ln/>
        </p:spPr>
        <p:txBody>
          <a:bodyPr wrap="square" lIns="0" tIns="0" rIns="0" bIns="0" rtlCol="0" anchor="ctr"/>
          <a:lstStyle/>
          <a:p>
            <a:pPr indent="0" marL="0">
              <a:buNone/>
            </a:pPr>
            <a:r>
              <a:rPr lang="en-US" sz="6000" b="1" dirty="0">
                <a:solidFill>
                  <a:schemeClr val="accent2"/>
                </a:solidFill>
              </a:rPr>
              <a:t>± Rp2 juta</a:t>
            </a:r>
            <a:endParaRPr lang="en-US" sz="6000" dirty="0"/>
          </a:p>
        </p:txBody>
      </p:sp>
      <p:sp>
        <p:nvSpPr>
          <p:cNvPr id="4" name="Harga kit keterangan"/>
          <p:cNvSpPr txBox="1"/>
          <p:nvPr/>
        </p:nvSpPr>
        <p:spPr>
          <a:xfrm>
            <a:off x="1463040" y="3291840"/>
            <a:ext cx="4206240" cy="685800"/>
          </a:xfrm>
          <a:prstGeom prst="rect">
            <a:avLst/>
          </a:prstGeom>
          <a:noFill/>
          <a:ln/>
        </p:spPr>
        <p:txBody>
          <a:bodyPr wrap="square" lIns="0" tIns="0" rIns="0" bIns="0" rtlCol="0" anchor="t"/>
          <a:lstStyle/>
          <a:p>
            <a:pPr indent="0" marL="0">
              <a:buNone/>
            </a:pPr>
            <a:r>
              <a:rPr lang="en-US" sz="1600" dirty="0">
                <a:solidFill>
                  <a:schemeClr val="bg1"/>
                </a:solidFill>
              </a:rPr>
              <a:t>harga satu kit line tracer edukasi Ichiduino Pro; unit kontrolnya saja Rp825.000</a:t>
            </a:r>
            <a:endParaRPr lang="en-US" sz="1600" dirty="0"/>
          </a:p>
        </p:txBody>
      </p:sp>
      <p:sp>
        <p:nvSpPr>
          <p:cNvPr id="5" name="Titik hias 1"/>
          <p:cNvSpPr/>
          <p:nvPr/>
        </p:nvSpPr>
        <p:spPr>
          <a:xfrm>
            <a:off x="1463040" y="4343400"/>
            <a:ext cx="155448" cy="155448"/>
          </a:xfrm>
          <a:prstGeom prst="ellipse">
            <a:avLst/>
          </a:prstGeom>
          <a:solidFill>
            <a:schemeClr val="bg1"/>
          </a:solidFill>
          <a:ln/>
        </p:spPr>
      </p:sp>
      <p:sp>
        <p:nvSpPr>
          <p:cNvPr id="6" name="Titik hias 2"/>
          <p:cNvSpPr/>
          <p:nvPr/>
        </p:nvSpPr>
        <p:spPr>
          <a:xfrm>
            <a:off x="1709928" y="4343400"/>
            <a:ext cx="155448" cy="155448"/>
          </a:xfrm>
          <a:prstGeom prst="ellipse">
            <a:avLst/>
          </a:prstGeom>
          <a:solidFill>
            <a:schemeClr val="bg1"/>
          </a:solidFill>
          <a:ln/>
        </p:spPr>
      </p:sp>
      <p:sp>
        <p:nvSpPr>
          <p:cNvPr id="7" name="Titik hias 3"/>
          <p:cNvSpPr/>
          <p:nvPr/>
        </p:nvSpPr>
        <p:spPr>
          <a:xfrm>
            <a:off x="1956816" y="4343400"/>
            <a:ext cx="155448" cy="155448"/>
          </a:xfrm>
          <a:prstGeom prst="ellipse">
            <a:avLst/>
          </a:prstGeom>
          <a:solidFill>
            <a:schemeClr val="bg1"/>
          </a:solidFill>
          <a:ln/>
        </p:spPr>
      </p:sp>
      <p:sp>
        <p:nvSpPr>
          <p:cNvPr id="8" name="Masalah poin"/>
          <p:cNvSpPr txBox="1"/>
          <p:nvPr/>
        </p:nvSpPr>
        <p:spPr>
          <a:xfrm>
            <a:off x="6263640" y="2331720"/>
            <a:ext cx="4434840" cy="301752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Kit edukasi di pasaran dirancang untuk kompetisi (motor 1200 RPM, LiPo 2S 400 mAh): mahal dan kurang pas sebagai media belajar anak sekolah.</a:t>
            </a:r>
            <a:endParaRPr lang="en-US" sz="1400" dirty="0"/>
          </a:p>
          <a:p>
            <a:pPr marL="203200" indent="-203200">
              <a:spcAft>
                <a:spcPts val="1200"/>
              </a:spcAft>
              <a:buSzPct val="100000"/>
              <a:buChar char="•"/>
            </a:pPr>
            <a:r>
              <a:rPr lang="en-US" sz="1400" dirty="0">
                <a:solidFill>
                  <a:schemeClr val="bg1"/>
                </a:solidFill>
              </a:rPr>
              <a:t>Arahan dosen (05/10/2026): reverse engineering produk contoh, lalu buat ulang dengan budget maksimal Rp900.000.</a:t>
            </a:r>
            <a:endParaRPr lang="en-US" sz="1400" dirty="0"/>
          </a:p>
          <a:p>
            <a:pPr marL="203200" indent="-203200">
              <a:spcAft>
                <a:spcPts val="1200"/>
              </a:spcAft>
              <a:buSzPct val="100000"/>
              <a:buChar char="•"/>
            </a:pPr>
            <a:r>
              <a:rPr lang="en-US" sz="1400" dirty="0">
                <a:solidFill>
                  <a:schemeClr val="bg1"/>
                </a:solidFill>
              </a:rPr>
              <a:t>Syarat minimum robot: mengikuti garis secara otomatis dan punya kemampuan path planning.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SOLUSI KAMI</a:t>
            </a:r>
            <a:endParaRPr lang="en-US" sz="4000" dirty="0"/>
          </a:p>
        </p:txBody>
      </p:sp>
      <p:sp>
        <p:nvSpPr>
          <p:cNvPr id="3" name="Solusi ringkas"/>
          <p:cNvSpPr txBox="1"/>
          <p:nvPr/>
        </p:nvSpPr>
        <p:spPr>
          <a:xfrm>
            <a:off x="1124712" y="2194560"/>
            <a:ext cx="4297680" cy="1143000"/>
          </a:xfrm>
          <a:prstGeom prst="rect">
            <a:avLst/>
          </a:prstGeom>
          <a:noFill/>
          <a:ln/>
        </p:spPr>
        <p:txBody>
          <a:bodyPr wrap="square" lIns="0" tIns="0" rIns="0" bIns="0" rtlCol="0" anchor="t"/>
          <a:lstStyle/>
          <a:p>
            <a:pPr indent="0" marL="0">
              <a:buNone/>
            </a:pPr>
            <a:r>
              <a:rPr lang="en-US" sz="1600" dirty="0">
                <a:solidFill>
                  <a:schemeClr val="bg1"/>
                </a:solidFill>
              </a:rPr>
              <a:t>Line Follower Micro: hasil reverse engineering Ichiduino Pro yang dirancang ulang dari nol, dari elektronik, PCB, sampai firmware dan block coding.</a:t>
            </a:r>
            <a:endParaRPr lang="en-US" sz="1600" dirty="0"/>
          </a:p>
        </p:txBody>
      </p:sp>
      <p:sp>
        <p:nvSpPr>
          <p:cNvPr id="4" name="Biaya solusi"/>
          <p:cNvSpPr txBox="1"/>
          <p:nvPr/>
        </p:nvSpPr>
        <p:spPr>
          <a:xfrm>
            <a:off x="1124712" y="3520440"/>
            <a:ext cx="4206240" cy="914400"/>
          </a:xfrm>
          <a:prstGeom prst="rect">
            <a:avLst/>
          </a:prstGeom>
          <a:noFill/>
          <a:ln/>
        </p:spPr>
        <p:txBody>
          <a:bodyPr wrap="square" lIns="0" tIns="0" rIns="0" bIns="0" rtlCol="0" anchor="t"/>
          <a:lstStyle/>
          <a:p>
            <a:pPr indent="0" marL="0">
              <a:buNone/>
            </a:pPr>
            <a:r>
              <a:rPr lang="en-US" sz="3600" b="1" dirty="0">
                <a:solidFill>
                  <a:schemeClr val="accent2"/>
                </a:solidFill>
              </a:rPr>
              <a:t>Rp902.000</a:t>
            </a:r>
            <a:endParaRPr lang="en-US" sz="3600" dirty="0"/>
          </a:p>
          <a:p>
            <a:pPr indent="0" marL="0">
              <a:buNone/>
            </a:pPr>
            <a:r>
              <a:rPr lang="en-US" sz="1400" dirty="0">
                <a:solidFill>
                  <a:schemeClr val="bg1"/>
                </a:solidFill>
              </a:rPr>
              <a:t>± 45% harga kit pembanding</a:t>
            </a:r>
            <a:endParaRPr lang="en-US" sz="3600" dirty="0"/>
          </a:p>
        </p:txBody>
      </p:sp>
      <p:sp>
        <p:nvSpPr>
          <p:cNvPr id="5" name="Target lomba"/>
          <p:cNvSpPr txBox="1"/>
          <p:nvPr/>
        </p:nvSpPr>
        <p:spPr>
          <a:xfrm>
            <a:off x="1124712" y="4617720"/>
            <a:ext cx="4206240" cy="731520"/>
          </a:xfrm>
          <a:prstGeom prst="rect">
            <a:avLst/>
          </a:prstGeom>
          <a:noFill/>
          <a:ln/>
        </p:spPr>
        <p:txBody>
          <a:bodyPr wrap="square" lIns="0" tIns="0" rIns="0" bIns="0" rtlCol="0" anchor="t"/>
          <a:lstStyle/>
          <a:p>
            <a:pPr indent="0" marL="0">
              <a:buNone/>
            </a:pPr>
            <a:r>
              <a:rPr lang="en-US" sz="1400" dirty="0">
                <a:solidFill>
                  <a:schemeClr val="bg2"/>
                </a:solidFill>
              </a:rPr>
              <a:t>Target uji lapangan: lomba IARC XII Smart Robotics, 9–10 Januari 2027 (arena grid, garis hitam 2 cm).</a:t>
            </a:r>
            <a:endParaRPr lang="en-US" sz="1400" dirty="0"/>
          </a:p>
        </p:txBody>
      </p:sp>
      <p:sp>
        <p:nvSpPr>
          <p:cNvPr id="6" name="Fitur 1 latar"/>
          <p:cNvSpPr/>
          <p:nvPr/>
        </p:nvSpPr>
        <p:spPr>
          <a:xfrm>
            <a:off x="5806440" y="2148840"/>
            <a:ext cx="2450592" cy="1536192"/>
          </a:xfrm>
          <a:prstGeom prst="rect">
            <a:avLst/>
          </a:prstGeom>
          <a:solidFill>
            <a:schemeClr val="accent1"/>
          </a:solidFill>
          <a:ln/>
        </p:spPr>
      </p:sp>
      <p:sp>
        <p:nvSpPr>
          <p:cNvPr id="7" name="Fitur 1 teks"/>
          <p:cNvSpPr txBox="1"/>
          <p:nvPr/>
        </p:nvSpPr>
        <p:spPr>
          <a:xfrm>
            <a:off x="5971032"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Ikuti garis</a:t>
            </a:r>
            <a:endParaRPr lang="en-US" sz="1600" dirty="0"/>
          </a:p>
          <a:p>
            <a:pPr indent="0" marL="0">
              <a:buNone/>
            </a:pPr>
            <a:r>
              <a:rPr lang="en-US" sz="1400" dirty="0">
                <a:solidFill>
                  <a:schemeClr val="bg1"/>
                </a:solidFill>
              </a:rPr>
              <a:t>Kendali PID dengan 12 sensor QRE1113GR</a:t>
            </a:r>
            <a:endParaRPr lang="en-US" sz="1600" dirty="0"/>
          </a:p>
        </p:txBody>
      </p:sp>
      <p:sp>
        <p:nvSpPr>
          <p:cNvPr id="8" name="Fitur 2 latar"/>
          <p:cNvSpPr/>
          <p:nvPr/>
        </p:nvSpPr>
        <p:spPr>
          <a:xfrm>
            <a:off x="8394192" y="2148840"/>
            <a:ext cx="2450592" cy="1536192"/>
          </a:xfrm>
          <a:prstGeom prst="rect">
            <a:avLst/>
          </a:prstGeom>
          <a:solidFill>
            <a:schemeClr val="accent1"/>
          </a:solidFill>
          <a:ln/>
        </p:spPr>
      </p:sp>
      <p:sp>
        <p:nvSpPr>
          <p:cNvPr id="9" name="Fitur 2 teks"/>
          <p:cNvSpPr txBox="1"/>
          <p:nvPr/>
        </p:nvSpPr>
        <p:spPr>
          <a:xfrm>
            <a:off x="8558784"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Path planning</a:t>
            </a:r>
            <a:endParaRPr lang="en-US" sz="1600" dirty="0"/>
          </a:p>
          <a:p>
            <a:pPr indent="0" marL="0">
              <a:buNone/>
            </a:pPr>
            <a:r>
              <a:rPr lang="en-US" sz="1400" dirty="0">
                <a:solidFill>
                  <a:schemeClr val="bg1"/>
                </a:solidFill>
              </a:rPr>
              <a:t>Persimpangan grid disimpan sebagai graf, robot menjalankan rute terpendek</a:t>
            </a:r>
            <a:endParaRPr lang="en-US" sz="1600" dirty="0"/>
          </a:p>
        </p:txBody>
      </p:sp>
      <p:sp>
        <p:nvSpPr>
          <p:cNvPr id="10" name="Fitur 3 latar"/>
          <p:cNvSpPr/>
          <p:nvPr/>
        </p:nvSpPr>
        <p:spPr>
          <a:xfrm>
            <a:off x="5806440" y="3822192"/>
            <a:ext cx="2450592" cy="1536192"/>
          </a:xfrm>
          <a:prstGeom prst="rect">
            <a:avLst/>
          </a:prstGeom>
          <a:solidFill>
            <a:schemeClr val="accent1"/>
          </a:solidFill>
          <a:ln/>
        </p:spPr>
      </p:sp>
      <p:sp>
        <p:nvSpPr>
          <p:cNvPr id="11" name="Fitur 3 teks"/>
          <p:cNvSpPr txBox="1"/>
          <p:nvPr/>
        </p:nvSpPr>
        <p:spPr>
          <a:xfrm>
            <a:off x="5971032"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Block coding web</a:t>
            </a:r>
            <a:endParaRPr lang="en-US" sz="1600" dirty="0"/>
          </a:p>
          <a:p>
            <a:pPr indent="0" marL="0">
              <a:buNone/>
            </a:pPr>
            <a:r>
              <a:rPr lang="en-US" sz="1400" dirty="0">
                <a:solidFill>
                  <a:schemeClr val="bg1"/>
                </a:solidFill>
              </a:rPr>
              <a:t>Diprogram lewat Blockly di browser, tanpa instalasi</a:t>
            </a:r>
            <a:endParaRPr lang="en-US" sz="1600" dirty="0"/>
          </a:p>
        </p:txBody>
      </p:sp>
      <p:sp>
        <p:nvSpPr>
          <p:cNvPr id="12" name="Fitur 4 latar"/>
          <p:cNvSpPr/>
          <p:nvPr/>
        </p:nvSpPr>
        <p:spPr>
          <a:xfrm>
            <a:off x="8394192" y="3822192"/>
            <a:ext cx="2450592" cy="1536192"/>
          </a:xfrm>
          <a:prstGeom prst="rect">
            <a:avLst/>
          </a:prstGeom>
          <a:solidFill>
            <a:schemeClr val="accent1"/>
          </a:solidFill>
          <a:ln/>
        </p:spPr>
      </p:sp>
      <p:sp>
        <p:nvSpPr>
          <p:cNvPr id="13" name="Fitur 4 teks"/>
          <p:cNvSpPr txBox="1"/>
          <p:nvPr/>
        </p:nvSpPr>
        <p:spPr>
          <a:xfrm>
            <a:off x="8558784"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Aman</a:t>
            </a:r>
            <a:endParaRPr lang="en-US" sz="1600" dirty="0"/>
          </a:p>
          <a:p>
            <a:pPr indent="0" marL="0">
              <a:buNone/>
            </a:pPr>
            <a:r>
              <a:rPr lang="en-US" sz="1400" dirty="0">
                <a:solidFill>
                  <a:schemeClr val="bg1"/>
                </a:solidFill>
              </a:rPr>
              <a:t>BMS baterai, motor mati &lt; 3,2 V/sel, berhenti ≤ 500 ms saat garis hilang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REVERSE ENGINEERING</a:t>
            </a:r>
            <a:endParaRPr lang="en-US" sz="4000" dirty="0"/>
          </a:p>
        </p:txBody>
      </p:sp>
      <p:graphicFrame>
        <p:nvGraphicFramePr>
          <p:cNvPr id="6" name="Tabel reverse engineering"/>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1737360"/>
                <a:gridCol w="2834640"/>
                <a:gridCol w="3447288"/>
                <a:gridCol w="1920240"/>
              </a:tblGrid>
              <a:tr h="329184">
                <a:tc>
                  <a:txBody>
                    <a:bodyPr/>
                    <a:lstStyle/>
                    <a:p>
                      <a:pPr indent="0" marL="0">
                        <a:buNone/>
                      </a:pPr>
                      <a:r>
                        <a:rPr lang="en-US" sz="1400" b="1" dirty="0">
                          <a:solidFill>
                            <a:schemeClr val="bg1"/>
                          </a:solidFill>
                        </a:rPr>
                        <a:t>Aspek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Ichiduino Pro (pembanding)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Line Follower Micro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Keputusan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29184">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 Rp1.999.999</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Rp902.000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55% lebih murah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Otak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ATmega2560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ESP32 240 MHz dual-core, WiFi/BT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Sensor garis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sensor optik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QRE1113GR + multiplexer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Layar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 (bar bacaan sensor)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Baterai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LiPo 2S 400 mAh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18650 + BMS + charger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 lebih awet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DC 16 mm 12 V 1200 RPM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N20 6 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Pemrograman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mBlock, Arduino IDE</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Blockly web, Arduino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Path planning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tidak disebut di brosur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grid 4 × 4, rute terpendek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ditambah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Servo,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port servo, 1 port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tidak ada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ditiadakan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SASARAN TERUKUR</a:t>
            </a:r>
            <a:endParaRPr lang="en-US" sz="4000" dirty="0"/>
          </a:p>
        </p:txBody>
      </p:sp>
      <p:sp>
        <p:nvSpPr>
          <p:cNvPr id="3" name="Sasaran 1 latar"/>
          <p:cNvSpPr/>
          <p:nvPr/>
        </p:nvSpPr>
        <p:spPr>
          <a:xfrm>
            <a:off x="1463040" y="2240280"/>
            <a:ext cx="2176272" cy="1325880"/>
          </a:xfrm>
          <a:prstGeom prst="rect">
            <a:avLst/>
          </a:prstGeom>
          <a:solidFill>
            <a:schemeClr val="accent5"/>
          </a:solidFill>
          <a:ln/>
        </p:spPr>
      </p:sp>
      <p:sp>
        <p:nvSpPr>
          <p:cNvPr id="4" name="Sasaran 1"/>
          <p:cNvSpPr txBox="1"/>
          <p:nvPr/>
        </p:nvSpPr>
        <p:spPr>
          <a:xfrm>
            <a:off x="1618488"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2 mm</a:t>
            </a:r>
            <a:endParaRPr lang="en-US" sz="2800" dirty="0"/>
          </a:p>
          <a:p>
            <a:pPr indent="0" marL="0">
              <a:buNone/>
            </a:pPr>
            <a:r>
              <a:rPr lang="en-US" sz="1400" dirty="0">
                <a:solidFill>
                  <a:schemeClr val="bg1"/>
                </a:solidFill>
              </a:rPr>
              <a:t>akurasi posisi garis</a:t>
            </a:r>
            <a:endParaRPr lang="en-US" sz="2800" dirty="0"/>
          </a:p>
        </p:txBody>
      </p:sp>
      <p:sp>
        <p:nvSpPr>
          <p:cNvPr id="5" name="Sasaran 2 latar"/>
          <p:cNvSpPr/>
          <p:nvPr/>
        </p:nvSpPr>
        <p:spPr>
          <a:xfrm>
            <a:off x="3803904" y="2240280"/>
            <a:ext cx="2176272" cy="1325880"/>
          </a:xfrm>
          <a:prstGeom prst="rect">
            <a:avLst/>
          </a:prstGeom>
          <a:solidFill>
            <a:schemeClr val="accent5"/>
          </a:solidFill>
          <a:ln/>
        </p:spPr>
      </p:sp>
      <p:sp>
        <p:nvSpPr>
          <p:cNvPr id="6" name="Sasaran 2"/>
          <p:cNvSpPr txBox="1"/>
          <p:nvPr/>
        </p:nvSpPr>
        <p:spPr>
          <a:xfrm>
            <a:off x="3959352"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0,5 m/s</a:t>
            </a:r>
            <a:endParaRPr lang="en-US" sz="2800" dirty="0"/>
          </a:p>
          <a:p>
            <a:pPr indent="0" marL="0">
              <a:buNone/>
            </a:pPr>
            <a:r>
              <a:rPr lang="en-US" sz="1400" dirty="0">
                <a:solidFill>
                  <a:schemeClr val="bg1"/>
                </a:solidFill>
              </a:rPr>
              <a:t>kecepatan rata-rata</a:t>
            </a:r>
            <a:endParaRPr lang="en-US" sz="2800" dirty="0"/>
          </a:p>
        </p:txBody>
      </p:sp>
      <p:sp>
        <p:nvSpPr>
          <p:cNvPr id="7" name="Sasaran 3 latar"/>
          <p:cNvSpPr/>
          <p:nvPr/>
        </p:nvSpPr>
        <p:spPr>
          <a:xfrm>
            <a:off x="6144768" y="2240280"/>
            <a:ext cx="2176272" cy="1325880"/>
          </a:xfrm>
          <a:prstGeom prst="rect">
            <a:avLst/>
          </a:prstGeom>
          <a:solidFill>
            <a:schemeClr val="accent5"/>
          </a:solidFill>
          <a:ln/>
        </p:spPr>
      </p:sp>
      <p:sp>
        <p:nvSpPr>
          <p:cNvPr id="8" name="Sasaran 3"/>
          <p:cNvSpPr txBox="1"/>
          <p:nvPr/>
        </p:nvSpPr>
        <p:spPr>
          <a:xfrm>
            <a:off x="6300216"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a:t>
            </a:r>
            <a:endParaRPr lang="en-US" sz="2800" dirty="0"/>
          </a:p>
          <a:p>
            <a:pPr indent="0" marL="0">
              <a:buNone/>
            </a:pPr>
            <a:r>
              <a:rPr lang="en-US" sz="1400" dirty="0">
                <a:solidFill>
                  <a:schemeClr val="bg1"/>
                </a:solidFill>
              </a:rPr>
              <a:t>simpangan baku waktu tempuh, 10 putaran</a:t>
            </a:r>
            <a:endParaRPr lang="en-US" sz="2800" dirty="0"/>
          </a:p>
        </p:txBody>
      </p:sp>
      <p:sp>
        <p:nvSpPr>
          <p:cNvPr id="9" name="Sasaran 4 latar"/>
          <p:cNvSpPr/>
          <p:nvPr/>
        </p:nvSpPr>
        <p:spPr>
          <a:xfrm>
            <a:off x="8485632" y="2240280"/>
            <a:ext cx="2176272" cy="1325880"/>
          </a:xfrm>
          <a:prstGeom prst="rect">
            <a:avLst/>
          </a:prstGeom>
          <a:solidFill>
            <a:schemeClr val="accent5"/>
          </a:solidFill>
          <a:ln/>
        </p:spPr>
      </p:sp>
      <p:sp>
        <p:nvSpPr>
          <p:cNvPr id="10" name="Sasaran 4"/>
          <p:cNvSpPr txBox="1"/>
          <p:nvPr/>
        </p:nvSpPr>
        <p:spPr>
          <a:xfrm>
            <a:off x="8641080"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95%</a:t>
            </a:r>
            <a:endParaRPr lang="en-US" sz="2800" dirty="0"/>
          </a:p>
          <a:p>
            <a:pPr indent="0" marL="0">
              <a:buNone/>
            </a:pPr>
            <a:r>
              <a:rPr lang="en-US" sz="1400" dirty="0">
                <a:solidFill>
                  <a:schemeClr val="bg1"/>
                </a:solidFill>
              </a:rPr>
              <a:t>deteksi persimpangan, ≥ 40 persimpangan</a:t>
            </a:r>
            <a:endParaRPr lang="en-US" sz="2800" dirty="0"/>
          </a:p>
        </p:txBody>
      </p:sp>
      <p:sp>
        <p:nvSpPr>
          <p:cNvPr id="11" name="Sasaran 5 latar"/>
          <p:cNvSpPr/>
          <p:nvPr/>
        </p:nvSpPr>
        <p:spPr>
          <a:xfrm>
            <a:off x="1463040" y="3721608"/>
            <a:ext cx="2176272" cy="1325880"/>
          </a:xfrm>
          <a:prstGeom prst="rect">
            <a:avLst/>
          </a:prstGeom>
          <a:solidFill>
            <a:schemeClr val="accent5"/>
          </a:solidFill>
          <a:ln/>
        </p:spPr>
      </p:sp>
      <p:sp>
        <p:nvSpPr>
          <p:cNvPr id="12" name="Sasaran 5"/>
          <p:cNvSpPr txBox="1"/>
          <p:nvPr/>
        </p:nvSpPr>
        <p:spPr>
          <a:xfrm>
            <a:off x="1618488"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10 / 10</a:t>
            </a:r>
            <a:endParaRPr lang="en-US" sz="2800" dirty="0"/>
          </a:p>
          <a:p>
            <a:pPr indent="0" marL="0">
              <a:buNone/>
            </a:pPr>
            <a:r>
              <a:rPr lang="en-US" sz="1400" dirty="0">
                <a:solidFill>
                  <a:schemeClr val="bg1"/>
                </a:solidFill>
              </a:rPr>
              <a:t>rute terpendek benar</a:t>
            </a:r>
            <a:endParaRPr lang="en-US" sz="2800" dirty="0"/>
          </a:p>
        </p:txBody>
      </p:sp>
      <p:sp>
        <p:nvSpPr>
          <p:cNvPr id="13" name="Sasaran 6 latar"/>
          <p:cNvSpPr/>
          <p:nvPr/>
        </p:nvSpPr>
        <p:spPr>
          <a:xfrm>
            <a:off x="3803904" y="3721608"/>
            <a:ext cx="2176272" cy="1325880"/>
          </a:xfrm>
          <a:prstGeom prst="rect">
            <a:avLst/>
          </a:prstGeom>
          <a:solidFill>
            <a:schemeClr val="accent5"/>
          </a:solidFill>
          <a:ln/>
        </p:spPr>
      </p:sp>
      <p:sp>
        <p:nvSpPr>
          <p:cNvPr id="14" name="Sasaran 6"/>
          <p:cNvSpPr txBox="1"/>
          <p:nvPr/>
        </p:nvSpPr>
        <p:spPr>
          <a:xfrm>
            <a:off x="3959352"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30 mm</a:t>
            </a:r>
            <a:endParaRPr lang="en-US" sz="2800" dirty="0"/>
          </a:p>
          <a:p>
            <a:pPr indent="0" marL="0">
              <a:buNone/>
            </a:pPr>
            <a:r>
              <a:rPr lang="en-US" sz="1400" dirty="0">
                <a:solidFill>
                  <a:schemeClr val="bg1"/>
                </a:solidFill>
              </a:rPr>
              <a:t>error berhenti di titik tujuan</a:t>
            </a:r>
            <a:endParaRPr lang="en-US" sz="2800" dirty="0"/>
          </a:p>
        </p:txBody>
      </p:sp>
      <p:sp>
        <p:nvSpPr>
          <p:cNvPr id="15" name="Sasaran 7 latar"/>
          <p:cNvSpPr/>
          <p:nvPr/>
        </p:nvSpPr>
        <p:spPr>
          <a:xfrm>
            <a:off x="6144768" y="3721608"/>
            <a:ext cx="2176272" cy="1325880"/>
          </a:xfrm>
          <a:prstGeom prst="rect">
            <a:avLst/>
          </a:prstGeom>
          <a:solidFill>
            <a:schemeClr val="accent5"/>
          </a:solidFill>
          <a:ln/>
        </p:spPr>
      </p:sp>
      <p:sp>
        <p:nvSpPr>
          <p:cNvPr id="16" name="Sasaran 7"/>
          <p:cNvSpPr txBox="1"/>
          <p:nvPr/>
        </p:nvSpPr>
        <p:spPr>
          <a:xfrm>
            <a:off x="6300216"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500 ms</a:t>
            </a:r>
            <a:endParaRPr lang="en-US" sz="2800" dirty="0"/>
          </a:p>
          <a:p>
            <a:pPr indent="0" marL="0">
              <a:buNone/>
            </a:pPr>
            <a:r>
              <a:rPr lang="en-US" sz="1400" dirty="0">
                <a:solidFill>
                  <a:schemeClr val="bg1"/>
                </a:solidFill>
              </a:rPr>
              <a:t>berhenti saat garis hilang</a:t>
            </a:r>
            <a:endParaRPr lang="en-US" sz="2800" dirty="0"/>
          </a:p>
        </p:txBody>
      </p:sp>
      <p:sp>
        <p:nvSpPr>
          <p:cNvPr id="17" name="Sasaran 8 latar"/>
          <p:cNvSpPr/>
          <p:nvPr/>
        </p:nvSpPr>
        <p:spPr>
          <a:xfrm>
            <a:off x="8485632" y="3721608"/>
            <a:ext cx="2176272" cy="1325880"/>
          </a:xfrm>
          <a:prstGeom prst="rect">
            <a:avLst/>
          </a:prstGeom>
          <a:solidFill>
            <a:schemeClr val="accent5"/>
          </a:solidFill>
          <a:ln/>
        </p:spPr>
      </p:sp>
      <p:sp>
        <p:nvSpPr>
          <p:cNvPr id="18" name="Sasaran 8"/>
          <p:cNvSpPr txBox="1"/>
          <p:nvPr/>
        </p:nvSpPr>
        <p:spPr>
          <a:xfrm>
            <a:off x="8641080"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&lt; 3,2 V</a:t>
            </a:r>
            <a:endParaRPr lang="en-US" sz="2800" dirty="0"/>
          </a:p>
          <a:p>
            <a:pPr indent="0" marL="0">
              <a:buNone/>
            </a:pPr>
            <a:r>
              <a:rPr lang="en-US" sz="1400" dirty="0">
                <a:solidFill>
                  <a:schemeClr val="bg1"/>
                </a:solidFill>
              </a:rPr>
              <a:t>per sel: motor mati, baterai lemah</a:t>
            </a:r>
            <a:endParaRPr lang="en-US" sz="2800" dirty="0"/>
          </a:p>
        </p:txBody>
      </p:sp>
      <p:sp>
        <p:nvSpPr>
          <p:cNvPr id="19" name="Catatan sasaran"/>
          <p:cNvSpPr txBox="1"/>
          <p:nvPr/>
        </p:nvSpPr>
        <p:spPr>
          <a:xfrm>
            <a:off x="1463040" y="5257800"/>
            <a:ext cx="9235440" cy="320040"/>
          </a:xfrm>
          <a:prstGeom prst="rect">
            <a:avLst/>
          </a:prstGeom>
          <a:noFill/>
          <a:ln/>
        </p:spPr>
        <p:txBody>
          <a:bodyPr wrap="square" lIns="0" tIns="0" rIns="0" bIns="0" rtlCol="0" anchor="ctr"/>
          <a:lstStyle/>
          <a:p>
            <a:pPr indent="0" marL="0">
              <a:buNone/>
            </a:pPr>
            <a:r>
              <a:rPr lang="en-US" sz="1400" dirty="0">
                <a:solidFill>
                  <a:schemeClr val="bg2"/>
                </a:solidFill>
              </a:rPr>
              <a:t>Tiap sasaran punya cara uji dan alat ukur bersatuan (3–10 ulangan); sasaran ke-9: total biaya ≤ Rp900.000.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ARSITEKTUR SISTEM</a:t>
            </a:r>
            <a:endParaRPr lang="en-US" sz="4000" dirty="0"/>
          </a:p>
        </p:txBody>
      </p:sp>
      <p:sp>
        <p:nvSpPr>
          <p:cNvPr id="3" name="Diagram blok bingkai"/>
          <p:cNvSpPr/>
          <p:nvPr/>
        </p:nvSpPr>
        <p:spPr>
          <a:xfrm>
            <a:off x="1124712" y="2048256"/>
            <a:ext cx="6053328" cy="3659824"/>
          </a:xfrm>
          <a:prstGeom prst="rect">
            <a:avLst/>
          </a:prstGeom>
          <a:solidFill>
            <a:schemeClr val="bg1"/>
          </a:solidFill>
          <a:ln/>
        </p:spPr>
      </p:sp>
      <p:pic>
        <p:nvPicPr>
          <p:cNvPr id="4" name="Diagram blok" descr="Diagram blok perangkat keras: input sensor, mux, tombol, baterai; ESP32; output driver, motor, encoder, OLED, buzzer; sistem daya">    </p:cNvPr>
          <p:cNvPicPr>
            <a:picLocks noChangeAspect="1"/>
          </p:cNvPicPr>
          <p:nvPr/>
        </p:nvPicPr>
        <p:blipFill>
          <a:blip r:embed="rId1"/>
          <a:stretch>
            <a:fillRect/>
          </a:stretch>
        </p:blipFill>
        <p:spPr>
          <a:xfrm>
            <a:off x="1179576" y="2103120"/>
            <a:ext cx="5943600" cy="3550096"/>
          </a:xfrm>
          <a:prstGeom prst="rect">
            <a:avLst/>
          </a:prstGeom>
        </p:spPr>
      </p:pic>
      <p:sp>
        <p:nvSpPr>
          <p:cNvPr id="5" name="Arsitektur poin"/>
          <p:cNvSpPr txBox="1"/>
          <p:nvPr/>
        </p:nvSpPr>
        <p:spPr>
          <a:xfrm>
            <a:off x="7498080" y="2103120"/>
            <a:ext cx="3611880" cy="342900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12 QRE1113GR → multiplexer CD74HC4067 → ESP32: cukup 5 pin (1 ADC + 4 pemilih kanal).</a:t>
            </a:r>
            <a:endParaRPr lang="en-US" sz="1400" dirty="0"/>
          </a:p>
          <a:p>
            <a:pPr marL="203200" indent="-203200">
              <a:spcAft>
                <a:spcPts val="1200"/>
              </a:spcAft>
              <a:buSzPct val="100000"/>
              <a:buChar char="•"/>
            </a:pPr>
            <a:r>
              <a:rPr lang="en-US" sz="1400" dirty="0">
                <a:solidFill>
                  <a:schemeClr val="bg1"/>
                </a:solidFill>
              </a:rPr>
              <a:t>ESP32 → driver TB6612FNG → 2 motor N20; encoder kembali ke ESP32.</a:t>
            </a:r>
            <a:endParaRPr lang="en-US" sz="1400" dirty="0"/>
          </a:p>
          <a:p>
            <a:pPr marL="203200" indent="-203200">
              <a:spcAft>
                <a:spcPts val="1200"/>
              </a:spcAft>
              <a:buSzPct val="100000"/>
              <a:buChar char="•"/>
            </a:pPr>
            <a:r>
              <a:rPr lang="en-US" sz="1400" dirty="0">
                <a:solidFill>
                  <a:schemeClr val="bg1"/>
                </a:solidFill>
              </a:rPr>
              <a:t>Daya: 2× 18650 → BMS 2S → saklar → buck 5 V; motor langsung dari baterai.</a:t>
            </a:r>
            <a:endParaRPr lang="en-US" sz="1400" dirty="0"/>
          </a:p>
          <a:p>
            <a:pPr marL="203200" indent="-203200">
              <a:spcAft>
                <a:spcPts val="1200"/>
              </a:spcAft>
              <a:buSzPct val="100000"/>
              <a:buChar char="•"/>
            </a:pPr>
            <a:r>
              <a:rPr lang="en-US" sz="1400" dirty="0">
                <a:solidFill>
                  <a:schemeClr val="bg1"/>
                </a:solidFill>
              </a:rPr>
              <a:t>OLED, 2 tombol, buzzer, sensor tegangan baterai. Program dari Blockly lewat Wi-Fi atau USB-C.</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KENDALI &amp; PATH PLANNING</a:t>
            </a:r>
            <a:endParaRPr lang="en-US" sz="4000" dirty="0"/>
          </a:p>
        </p:txBody>
      </p:sp>
      <p:sp>
        <p:nvSpPr>
          <p:cNvPr id="3" name="Diagram kendali bingkai"/>
          <p:cNvSpPr/>
          <p:nvPr/>
        </p:nvSpPr>
        <p:spPr>
          <a:xfrm>
            <a:off x="1124712" y="2048256"/>
            <a:ext cx="6784848" cy="2358953"/>
          </a:xfrm>
          <a:prstGeom prst="rect">
            <a:avLst/>
          </a:prstGeom>
          <a:solidFill>
            <a:schemeClr val="bg1"/>
          </a:solidFill>
          <a:ln/>
        </p:spPr>
      </p:sp>
      <p:pic>
        <p:nvPicPr>
          <p:cNvPr id="4" name="Diagram kendali" descr="Diagram blok kendali loop tertutup: setpoint, PID, driver, motor, robot, sensor, pengolahan sinyal, loop dalam encoder">    </p:cNvPr>
          <p:cNvPicPr>
            <a:picLocks noChangeAspect="1"/>
          </p:cNvPicPr>
          <p:nvPr/>
        </p:nvPicPr>
        <p:blipFill>
          <a:blip r:embed="rId1"/>
          <a:stretch>
            <a:fillRect/>
          </a:stretch>
        </p:blipFill>
        <p:spPr>
          <a:xfrm>
            <a:off x="1179576" y="2103120"/>
            <a:ext cx="6675120" cy="2249225"/>
          </a:xfrm>
          <a:prstGeom prst="rect">
            <a:avLst/>
          </a:prstGeom>
        </p:spPr>
      </p:pic>
      <p:sp>
        <p:nvSpPr>
          <p:cNvPr id="5" name="Kendali poin"/>
          <p:cNvSpPr txBox="1"/>
          <p:nvPr/>
        </p:nvSpPr>
        <p:spPr>
          <a:xfrm>
            <a:off x="1124712" y="4526280"/>
            <a:ext cx="6766560" cy="1051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bg1"/>
                </a:solidFill>
              </a:rPr>
              <a:t>Loop luar: posisi garis dari 12 sensor → PID → kecepatan motor kiri/kanan.</a:t>
            </a:r>
            <a:endParaRPr lang="en-US" sz="1400" dirty="0"/>
          </a:p>
          <a:p>
            <a:pPr marL="203200" indent="-203200">
              <a:spcAft>
                <a:spcPts val="400"/>
              </a:spcAft>
              <a:buSzPct val="100000"/>
              <a:buChar char="•"/>
            </a:pPr>
            <a:r>
              <a:rPr lang="en-US" sz="1400" dirty="0">
                <a:solidFill>
                  <a:schemeClr val="bg1"/>
                </a:solidFill>
              </a:rPr>
              <a:t>Loop dalam: encoder mengukur jarak tempuh dan sudut belok 90° (tanpa IMU).</a:t>
            </a:r>
            <a:endParaRPr lang="en-US" sz="1400" dirty="0"/>
          </a:p>
          <a:p>
            <a:pPr marL="203200" indent="-203200">
              <a:spcAft>
                <a:spcPts val="400"/>
              </a:spcAft>
              <a:buSzPct val="100000"/>
              <a:buChar char="•"/>
            </a:pPr>
            <a:r>
              <a:rPr lang="en-US" sz="1400" dirty="0">
                <a:solidFill>
                  <a:schemeClr val="bg1"/>
                </a:solidFill>
              </a:rPr>
              <a:t>Tiap persimpangan grid = simpul graf; rute terpendek dicari dengan BFS/Dijkstra.</a:t>
            </a:r>
            <a:endParaRPr lang="en-US" sz="1400" dirty="0"/>
          </a:p>
        </p:txBody>
      </p:sp>
      <p:sp>
        <p:nvSpPr>
          <p:cNvPr id="6" name="Grid baris 1"/>
          <p:cNvSpPr/>
          <p:nvPr/>
        </p:nvSpPr>
        <p:spPr>
          <a:xfrm>
            <a:off x="8458200" y="2240280"/>
            <a:ext cx="2029968" cy="0"/>
          </a:xfrm>
          <a:prstGeom prst="line">
            <a:avLst/>
          </a:prstGeom>
          <a:noFill/>
          <a:ln w="25400">
            <a:solidFill>
              <a:schemeClr val="accent3"/>
            </a:solidFill>
            <a:prstDash val="solid"/>
          </a:ln>
        </p:spPr>
      </p:sp>
      <p:sp>
        <p:nvSpPr>
          <p:cNvPr id="7" name="Grid kolom 1"/>
          <p:cNvSpPr/>
          <p:nvPr/>
        </p:nvSpPr>
        <p:spPr>
          <a:xfrm>
            <a:off x="8458200" y="2240280"/>
            <a:ext cx="0" cy="2029968"/>
          </a:xfrm>
          <a:prstGeom prst="line">
            <a:avLst/>
          </a:prstGeom>
          <a:noFill/>
          <a:ln w="25400">
            <a:solidFill>
              <a:schemeClr val="accent3"/>
            </a:solidFill>
            <a:prstDash val="solid"/>
          </a:ln>
        </p:spPr>
      </p:sp>
      <p:sp>
        <p:nvSpPr>
          <p:cNvPr id="8" name="Grid baris 2"/>
          <p:cNvSpPr/>
          <p:nvPr/>
        </p:nvSpPr>
        <p:spPr>
          <a:xfrm>
            <a:off x="8458200" y="2916936"/>
            <a:ext cx="2029968" cy="0"/>
          </a:xfrm>
          <a:prstGeom prst="line">
            <a:avLst/>
          </a:prstGeom>
          <a:noFill/>
          <a:ln w="25400">
            <a:solidFill>
              <a:schemeClr val="accent3"/>
            </a:solidFill>
            <a:prstDash val="solid"/>
          </a:ln>
        </p:spPr>
      </p:sp>
      <p:sp>
        <p:nvSpPr>
          <p:cNvPr id="9" name="Grid kolom 2"/>
          <p:cNvSpPr/>
          <p:nvPr/>
        </p:nvSpPr>
        <p:spPr>
          <a:xfrm>
            <a:off x="9134856" y="2240280"/>
            <a:ext cx="0" cy="2029968"/>
          </a:xfrm>
          <a:prstGeom prst="line">
            <a:avLst/>
          </a:prstGeom>
          <a:noFill/>
          <a:ln w="25400">
            <a:solidFill>
              <a:schemeClr val="accent3"/>
            </a:solidFill>
            <a:prstDash val="solid"/>
          </a:ln>
        </p:spPr>
      </p:sp>
      <p:sp>
        <p:nvSpPr>
          <p:cNvPr id="10" name="Grid baris 3"/>
          <p:cNvSpPr/>
          <p:nvPr/>
        </p:nvSpPr>
        <p:spPr>
          <a:xfrm>
            <a:off x="8458200" y="3593592"/>
            <a:ext cx="2029968" cy="0"/>
          </a:xfrm>
          <a:prstGeom prst="line">
            <a:avLst/>
          </a:prstGeom>
          <a:noFill/>
          <a:ln w="25400">
            <a:solidFill>
              <a:schemeClr val="accent3"/>
            </a:solidFill>
            <a:prstDash val="solid"/>
          </a:ln>
        </p:spPr>
      </p:sp>
      <p:sp>
        <p:nvSpPr>
          <p:cNvPr id="11" name="Grid kolom 3"/>
          <p:cNvSpPr/>
          <p:nvPr/>
        </p:nvSpPr>
        <p:spPr>
          <a:xfrm>
            <a:off x="9811512" y="2240280"/>
            <a:ext cx="0" cy="2029968"/>
          </a:xfrm>
          <a:prstGeom prst="line">
            <a:avLst/>
          </a:prstGeom>
          <a:noFill/>
          <a:ln w="25400">
            <a:solidFill>
              <a:schemeClr val="accent3"/>
            </a:solidFill>
            <a:prstDash val="solid"/>
          </a:ln>
        </p:spPr>
      </p:sp>
      <p:sp>
        <p:nvSpPr>
          <p:cNvPr id="12" name="Grid baris 4"/>
          <p:cNvSpPr/>
          <p:nvPr/>
        </p:nvSpPr>
        <p:spPr>
          <a:xfrm>
            <a:off x="8458200" y="4270248"/>
            <a:ext cx="2029968" cy="0"/>
          </a:xfrm>
          <a:prstGeom prst="line">
            <a:avLst/>
          </a:prstGeom>
          <a:noFill/>
          <a:ln w="25400">
            <a:solidFill>
              <a:schemeClr val="accent3"/>
            </a:solidFill>
            <a:prstDash val="solid"/>
          </a:ln>
        </p:spPr>
      </p:sp>
      <p:sp>
        <p:nvSpPr>
          <p:cNvPr id="13" name="Grid kolom 4"/>
          <p:cNvSpPr/>
          <p:nvPr/>
        </p:nvSpPr>
        <p:spPr>
          <a:xfrm>
            <a:off x="10488168" y="2240280"/>
            <a:ext cx="0" cy="2029968"/>
          </a:xfrm>
          <a:prstGeom prst="line">
            <a:avLst/>
          </a:prstGeom>
          <a:noFill/>
          <a:ln w="25400">
            <a:solidFill>
              <a:schemeClr val="accent3"/>
            </a:solidFill>
            <a:prstDash val="solid"/>
          </a:ln>
        </p:spPr>
      </p:sp>
      <p:sp>
        <p:nvSpPr>
          <p:cNvPr id="14" name="Rute 1"/>
          <p:cNvSpPr/>
          <p:nvPr/>
        </p:nvSpPr>
        <p:spPr>
          <a:xfrm>
            <a:off x="8458200" y="4270248"/>
            <a:ext cx="676656" cy="0"/>
          </a:xfrm>
          <a:prstGeom prst="line">
            <a:avLst/>
          </a:prstGeom>
          <a:noFill/>
          <a:ln w="63500">
            <a:solidFill>
              <a:schemeClr val="accent2"/>
            </a:solidFill>
            <a:prstDash val="solid"/>
          </a:ln>
        </p:spPr>
      </p:sp>
      <p:sp>
        <p:nvSpPr>
          <p:cNvPr id="15" name="Rute 2"/>
          <p:cNvSpPr/>
          <p:nvPr/>
        </p:nvSpPr>
        <p:spPr>
          <a:xfrm>
            <a:off x="9134856" y="3593592"/>
            <a:ext cx="0" cy="676656"/>
          </a:xfrm>
          <a:prstGeom prst="line">
            <a:avLst/>
          </a:prstGeom>
          <a:noFill/>
          <a:ln w="63500">
            <a:solidFill>
              <a:schemeClr val="accent2"/>
            </a:solidFill>
            <a:prstDash val="solid"/>
          </a:ln>
        </p:spPr>
      </p:sp>
      <p:sp>
        <p:nvSpPr>
          <p:cNvPr id="16" name="Rute 3"/>
          <p:cNvSpPr/>
          <p:nvPr/>
        </p:nvSpPr>
        <p:spPr>
          <a:xfrm>
            <a:off x="9134856" y="3593592"/>
            <a:ext cx="676656" cy="0"/>
          </a:xfrm>
          <a:prstGeom prst="line">
            <a:avLst/>
          </a:prstGeom>
          <a:noFill/>
          <a:ln w="63500">
            <a:solidFill>
              <a:schemeClr val="accent2"/>
            </a:solidFill>
            <a:prstDash val="solid"/>
          </a:ln>
        </p:spPr>
      </p:sp>
      <p:sp>
        <p:nvSpPr>
          <p:cNvPr id="17" name="Rute 4"/>
          <p:cNvSpPr/>
          <p:nvPr/>
        </p:nvSpPr>
        <p:spPr>
          <a:xfrm>
            <a:off x="9811512" y="2916936"/>
            <a:ext cx="0" cy="676656"/>
          </a:xfrm>
          <a:prstGeom prst="line">
            <a:avLst/>
          </a:prstGeom>
          <a:noFill/>
          <a:ln w="63500">
            <a:solidFill>
              <a:schemeClr val="accent2"/>
            </a:solidFill>
            <a:prstDash val="solid"/>
          </a:ln>
        </p:spPr>
      </p:sp>
      <p:sp>
        <p:nvSpPr>
          <p:cNvPr id="18" name="Rute 5"/>
          <p:cNvSpPr/>
          <p:nvPr/>
        </p:nvSpPr>
        <p:spPr>
          <a:xfrm>
            <a:off x="9811512" y="2916936"/>
            <a:ext cx="676656" cy="0"/>
          </a:xfrm>
          <a:prstGeom prst="line">
            <a:avLst/>
          </a:prstGeom>
          <a:noFill/>
          <a:ln w="63500">
            <a:solidFill>
              <a:schemeClr val="accent2"/>
            </a:solidFill>
            <a:prstDash val="solid"/>
          </a:ln>
        </p:spPr>
      </p:sp>
      <p:sp>
        <p:nvSpPr>
          <p:cNvPr id="19" name="Rute 6"/>
          <p:cNvSpPr/>
          <p:nvPr/>
        </p:nvSpPr>
        <p:spPr>
          <a:xfrm>
            <a:off x="10488168" y="2240280"/>
            <a:ext cx="0" cy="676656"/>
          </a:xfrm>
          <a:prstGeom prst="line">
            <a:avLst/>
          </a:prstGeom>
          <a:noFill/>
          <a:ln w="63500">
            <a:solidFill>
              <a:schemeClr val="accent2"/>
            </a:solidFill>
            <a:prstDash val="solid"/>
          </a:ln>
        </p:spPr>
      </p:sp>
      <p:sp>
        <p:nvSpPr>
          <p:cNvPr id="20" name="Simpul 0-0"/>
          <p:cNvSpPr/>
          <p:nvPr/>
        </p:nvSpPr>
        <p:spPr>
          <a:xfrm>
            <a:off x="8385048" y="2167128"/>
            <a:ext cx="146304" cy="146304"/>
          </a:xfrm>
          <a:prstGeom prst="ellipse">
            <a:avLst/>
          </a:prstGeom>
          <a:solidFill>
            <a:schemeClr val="bg1"/>
          </a:solidFill>
          <a:ln/>
        </p:spPr>
      </p:sp>
      <p:sp>
        <p:nvSpPr>
          <p:cNvPr id="21" name="Simpul 0-1"/>
          <p:cNvSpPr/>
          <p:nvPr/>
        </p:nvSpPr>
        <p:spPr>
          <a:xfrm>
            <a:off x="8385048" y="2843784"/>
            <a:ext cx="146304" cy="146304"/>
          </a:xfrm>
          <a:prstGeom prst="ellipse">
            <a:avLst/>
          </a:prstGeom>
          <a:solidFill>
            <a:schemeClr val="bg1"/>
          </a:solidFill>
          <a:ln/>
        </p:spPr>
      </p:sp>
      <p:sp>
        <p:nvSpPr>
          <p:cNvPr id="22" name="Simpul 0-2"/>
          <p:cNvSpPr/>
          <p:nvPr/>
        </p:nvSpPr>
        <p:spPr>
          <a:xfrm>
            <a:off x="8385048" y="3520440"/>
            <a:ext cx="146304" cy="146304"/>
          </a:xfrm>
          <a:prstGeom prst="ellipse">
            <a:avLst/>
          </a:prstGeom>
          <a:solidFill>
            <a:schemeClr val="bg1"/>
          </a:solidFill>
          <a:ln/>
        </p:spPr>
      </p:sp>
      <p:sp>
        <p:nvSpPr>
          <p:cNvPr id="23" name="Simpul 0-3"/>
          <p:cNvSpPr/>
          <p:nvPr/>
        </p:nvSpPr>
        <p:spPr>
          <a:xfrm>
            <a:off x="8385048" y="4197096"/>
            <a:ext cx="146304" cy="146304"/>
          </a:xfrm>
          <a:prstGeom prst="ellipse">
            <a:avLst/>
          </a:prstGeom>
          <a:solidFill>
            <a:schemeClr val="bg1"/>
          </a:solidFill>
          <a:ln/>
        </p:spPr>
      </p:sp>
      <p:sp>
        <p:nvSpPr>
          <p:cNvPr id="24" name="Simpul 1-0"/>
          <p:cNvSpPr/>
          <p:nvPr/>
        </p:nvSpPr>
        <p:spPr>
          <a:xfrm>
            <a:off x="9061704" y="2167128"/>
            <a:ext cx="146304" cy="146304"/>
          </a:xfrm>
          <a:prstGeom prst="ellipse">
            <a:avLst/>
          </a:prstGeom>
          <a:solidFill>
            <a:schemeClr val="bg1"/>
          </a:solidFill>
          <a:ln/>
        </p:spPr>
      </p:sp>
      <p:sp>
        <p:nvSpPr>
          <p:cNvPr id="25" name="Simpul 1-1"/>
          <p:cNvSpPr/>
          <p:nvPr/>
        </p:nvSpPr>
        <p:spPr>
          <a:xfrm>
            <a:off x="9061704" y="2843784"/>
            <a:ext cx="146304" cy="146304"/>
          </a:xfrm>
          <a:prstGeom prst="ellipse">
            <a:avLst/>
          </a:prstGeom>
          <a:solidFill>
            <a:schemeClr val="bg1"/>
          </a:solidFill>
          <a:ln/>
        </p:spPr>
      </p:sp>
      <p:sp>
        <p:nvSpPr>
          <p:cNvPr id="26" name="Simpul 1-2"/>
          <p:cNvSpPr/>
          <p:nvPr/>
        </p:nvSpPr>
        <p:spPr>
          <a:xfrm>
            <a:off x="9061704" y="3520440"/>
            <a:ext cx="146304" cy="146304"/>
          </a:xfrm>
          <a:prstGeom prst="ellipse">
            <a:avLst/>
          </a:prstGeom>
          <a:solidFill>
            <a:schemeClr val="bg1"/>
          </a:solidFill>
          <a:ln/>
        </p:spPr>
      </p:sp>
      <p:sp>
        <p:nvSpPr>
          <p:cNvPr id="27" name="Simpul 1-3"/>
          <p:cNvSpPr/>
          <p:nvPr/>
        </p:nvSpPr>
        <p:spPr>
          <a:xfrm>
            <a:off x="9061704" y="4197096"/>
            <a:ext cx="146304" cy="146304"/>
          </a:xfrm>
          <a:prstGeom prst="ellipse">
            <a:avLst/>
          </a:prstGeom>
          <a:solidFill>
            <a:schemeClr val="bg1"/>
          </a:solidFill>
          <a:ln/>
        </p:spPr>
      </p:sp>
      <p:sp>
        <p:nvSpPr>
          <p:cNvPr id="28" name="Simpul 2-0"/>
          <p:cNvSpPr/>
          <p:nvPr/>
        </p:nvSpPr>
        <p:spPr>
          <a:xfrm>
            <a:off x="9738360" y="2167128"/>
            <a:ext cx="146304" cy="146304"/>
          </a:xfrm>
          <a:prstGeom prst="ellipse">
            <a:avLst/>
          </a:prstGeom>
          <a:solidFill>
            <a:schemeClr val="bg1"/>
          </a:solidFill>
          <a:ln/>
        </p:spPr>
      </p:sp>
      <p:sp>
        <p:nvSpPr>
          <p:cNvPr id="29" name="Simpul 2-1"/>
          <p:cNvSpPr/>
          <p:nvPr/>
        </p:nvSpPr>
        <p:spPr>
          <a:xfrm>
            <a:off x="9738360" y="2843784"/>
            <a:ext cx="146304" cy="146304"/>
          </a:xfrm>
          <a:prstGeom prst="ellipse">
            <a:avLst/>
          </a:prstGeom>
          <a:solidFill>
            <a:schemeClr val="bg1"/>
          </a:solidFill>
          <a:ln/>
        </p:spPr>
      </p:sp>
      <p:sp>
        <p:nvSpPr>
          <p:cNvPr id="30" name="Simpul 2-2"/>
          <p:cNvSpPr/>
          <p:nvPr/>
        </p:nvSpPr>
        <p:spPr>
          <a:xfrm>
            <a:off x="9738360" y="3520440"/>
            <a:ext cx="146304" cy="146304"/>
          </a:xfrm>
          <a:prstGeom prst="ellipse">
            <a:avLst/>
          </a:prstGeom>
          <a:solidFill>
            <a:schemeClr val="bg1"/>
          </a:solidFill>
          <a:ln/>
        </p:spPr>
      </p:sp>
      <p:sp>
        <p:nvSpPr>
          <p:cNvPr id="31" name="Simpul 2-3"/>
          <p:cNvSpPr/>
          <p:nvPr/>
        </p:nvSpPr>
        <p:spPr>
          <a:xfrm>
            <a:off x="9738360" y="4197096"/>
            <a:ext cx="146304" cy="146304"/>
          </a:xfrm>
          <a:prstGeom prst="ellipse">
            <a:avLst/>
          </a:prstGeom>
          <a:solidFill>
            <a:schemeClr val="bg1"/>
          </a:solidFill>
          <a:ln/>
        </p:spPr>
      </p:sp>
      <p:sp>
        <p:nvSpPr>
          <p:cNvPr id="32" name="Simpul 3-0"/>
          <p:cNvSpPr/>
          <p:nvPr/>
        </p:nvSpPr>
        <p:spPr>
          <a:xfrm>
            <a:off x="10415016" y="2167128"/>
            <a:ext cx="146304" cy="146304"/>
          </a:xfrm>
          <a:prstGeom prst="ellipse">
            <a:avLst/>
          </a:prstGeom>
          <a:solidFill>
            <a:schemeClr val="bg1"/>
          </a:solidFill>
          <a:ln/>
        </p:spPr>
      </p:sp>
      <p:sp>
        <p:nvSpPr>
          <p:cNvPr id="33" name="Simpul 3-1"/>
          <p:cNvSpPr/>
          <p:nvPr/>
        </p:nvSpPr>
        <p:spPr>
          <a:xfrm>
            <a:off x="10415016" y="2843784"/>
            <a:ext cx="146304" cy="146304"/>
          </a:xfrm>
          <a:prstGeom prst="ellipse">
            <a:avLst/>
          </a:prstGeom>
          <a:solidFill>
            <a:schemeClr val="bg1"/>
          </a:solidFill>
          <a:ln/>
        </p:spPr>
      </p:sp>
      <p:sp>
        <p:nvSpPr>
          <p:cNvPr id="34" name="Simpul 3-2"/>
          <p:cNvSpPr/>
          <p:nvPr/>
        </p:nvSpPr>
        <p:spPr>
          <a:xfrm>
            <a:off x="10415016" y="3520440"/>
            <a:ext cx="146304" cy="146304"/>
          </a:xfrm>
          <a:prstGeom prst="ellipse">
            <a:avLst/>
          </a:prstGeom>
          <a:solidFill>
            <a:schemeClr val="bg1"/>
          </a:solidFill>
          <a:ln/>
        </p:spPr>
      </p:sp>
      <p:sp>
        <p:nvSpPr>
          <p:cNvPr id="35" name="Simpul 3-3"/>
          <p:cNvSpPr/>
          <p:nvPr/>
        </p:nvSpPr>
        <p:spPr>
          <a:xfrm>
            <a:off x="10415016" y="4197096"/>
            <a:ext cx="146304" cy="146304"/>
          </a:xfrm>
          <a:prstGeom prst="ellipse">
            <a:avLst/>
          </a:prstGeom>
          <a:solidFill>
            <a:schemeClr val="bg1"/>
          </a:solidFill>
          <a:ln/>
        </p:spPr>
      </p:sp>
      <p:sp>
        <p:nvSpPr>
          <p:cNvPr id="36" name="Titik S lingkaran"/>
          <p:cNvSpPr/>
          <p:nvPr/>
        </p:nvSpPr>
        <p:spPr>
          <a:xfrm>
            <a:off x="8275320" y="4087368"/>
            <a:ext cx="365760" cy="365760"/>
          </a:xfrm>
          <a:prstGeom prst="ellipse">
            <a:avLst/>
          </a:prstGeom>
          <a:solidFill>
            <a:schemeClr val="accent2"/>
          </a:solidFill>
          <a:ln/>
        </p:spPr>
      </p:sp>
      <p:sp>
        <p:nvSpPr>
          <p:cNvPr id="37" name="Titik S"/>
          <p:cNvSpPr txBox="1"/>
          <p:nvPr/>
        </p:nvSpPr>
        <p:spPr>
          <a:xfrm>
            <a:off x="8275320" y="4087368"/>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S</a:t>
            </a:r>
            <a:endParaRPr lang="en-US" sz="1400" dirty="0"/>
          </a:p>
        </p:txBody>
      </p:sp>
      <p:sp>
        <p:nvSpPr>
          <p:cNvPr id="38" name="Titik T lingkaran"/>
          <p:cNvSpPr/>
          <p:nvPr/>
        </p:nvSpPr>
        <p:spPr>
          <a:xfrm>
            <a:off x="10305288" y="2057400"/>
            <a:ext cx="365760" cy="365760"/>
          </a:xfrm>
          <a:prstGeom prst="ellipse">
            <a:avLst/>
          </a:prstGeom>
          <a:solidFill>
            <a:schemeClr val="accent2"/>
          </a:solidFill>
          <a:ln/>
        </p:spPr>
      </p:sp>
      <p:sp>
        <p:nvSpPr>
          <p:cNvPr id="39" name="Titik T"/>
          <p:cNvSpPr txBox="1"/>
          <p:nvPr/>
        </p:nvSpPr>
        <p:spPr>
          <a:xfrm>
            <a:off x="10305288" y="2057400"/>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T</a:t>
            </a:r>
            <a:endParaRPr lang="en-US" sz="1400" dirty="0"/>
          </a:p>
        </p:txBody>
      </p:sp>
      <p:sp>
        <p:nvSpPr>
          <p:cNvPr id="40" name="Grid keterangan"/>
          <p:cNvSpPr txBox="1"/>
          <p:nvPr/>
        </p:nvSpPr>
        <p:spPr>
          <a:xfrm>
            <a:off x="8183880" y="4526280"/>
            <a:ext cx="2651760" cy="594360"/>
          </a:xfrm>
          <a:prstGeom prst="rect">
            <a:avLst/>
          </a:prstGeom>
          <a:noFill/>
          <a:ln/>
        </p:spPr>
        <p:txBody>
          <a:bodyPr wrap="square" lIns="0" tIns="0" rIns="0" bIns="0" rtlCol="0" anchor="t"/>
          <a:lstStyle/>
          <a:p>
            <a:pPr indent="0" marL="0">
              <a:buNone/>
            </a:pPr>
            <a:r>
              <a:rPr lang="en-US" sz="1400" dirty="0">
                <a:solidFill>
                  <a:schemeClr val="bg2"/>
                </a:solidFill>
              </a:rPr>
              <a:t>Grid 4 × 4 persimpangan, jarak 30 cm</a:t>
            </a:r>
            <a:endParaRPr lang="en-US" sz="1400" dirty="0"/>
          </a:p>
          <a:p>
            <a:pPr indent="0" marL="0">
              <a:buNone/>
            </a:pPr>
            <a:r>
              <a:rPr lang="en-US" sz="1400" dirty="0">
                <a:solidFill>
                  <a:schemeClr val="bg2"/>
                </a:solidFill>
              </a:rPr>
              <a:t>S = awal, T = tujuan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PCB</a:t>
            </a:r>
            <a:endParaRPr lang="en-US" sz="4000" dirty="0"/>
          </a:p>
        </p:txBody>
      </p:sp>
      <p:pic>
        <p:nvPicPr>
          <p:cNvPr id="3" name="PCB sensor" descr="Render PCB sensor rev B tampak bawah: 12 sensor QRE1113GR di pita melengkung bentuk jangkar">    </p:cNvPr>
          <p:cNvPicPr>
            <a:picLocks noChangeAspect="1"/>
          </p:cNvPicPr>
          <p:nvPr/>
        </p:nvPicPr>
        <p:blipFill>
          <a:blip r:embed="rId1"/>
          <a:stretch>
            <a:fillRect/>
          </a:stretch>
        </p:blipFill>
        <p:spPr>
          <a:xfrm>
            <a:off x="1124712" y="1965960"/>
            <a:ext cx="3707939" cy="2057400"/>
          </a:xfrm>
          <a:prstGeom prst="rect">
            <a:avLst/>
          </a:prstGeom>
        </p:spPr>
      </p:pic>
      <p:pic>
        <p:nvPicPr>
          <p:cNvPr id="4" name="PCB utama" descr="Render PCB utama bentuk mobil F1, tampak miring">    </p:cNvPr>
          <p:cNvPicPr>
            <a:picLocks noChangeAspect="1"/>
          </p:cNvPicPr>
          <p:nvPr/>
        </p:nvPicPr>
        <p:blipFill>
          <a:blip r:embed="rId2"/>
          <a:stretch>
            <a:fillRect/>
          </a:stretch>
        </p:blipFill>
        <p:spPr>
          <a:xfrm>
            <a:off x="7589520" y="1965960"/>
            <a:ext cx="2138351" cy="2057400"/>
          </a:xfrm>
          <a:prstGeom prst="rect">
            <a:avLst/>
          </a:prstGeom>
        </p:spPr>
      </p:pic>
      <p:sp>
        <p:nvSpPr>
          <p:cNvPr id="5" name="PCB sensor keterangan"/>
          <p:cNvSpPr txBox="1"/>
          <p:nvPr/>
        </p:nvSpPr>
        <p:spPr>
          <a:xfrm>
            <a:off x="1124712" y="4590288"/>
            <a:ext cx="493776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sensor rev B · 95 × 51 mm</a:t>
            </a:r>
            <a:endParaRPr lang="en-US" sz="1600" dirty="0"/>
          </a:p>
          <a:p>
            <a:pPr indent="0" marL="0">
              <a:buNone/>
            </a:pPr>
            <a:r>
              <a:rPr lang="en-US" sz="1400" dirty="0">
                <a:solidFill>
                  <a:schemeClr val="bg1"/>
                </a:solidFill>
              </a:rPr>
              <a:t>12 QRE1113GR jarak 8 mm, mux SOIC-24, JST XH 8 pin</a:t>
            </a:r>
            <a:endParaRPr lang="en-US" sz="1600" dirty="0"/>
          </a:p>
        </p:txBody>
      </p:sp>
      <p:sp>
        <p:nvSpPr>
          <p:cNvPr id="6" name="PCB sensor status latar"/>
          <p:cNvSpPr/>
          <p:nvPr/>
        </p:nvSpPr>
        <p:spPr>
          <a:xfrm>
            <a:off x="1124712" y="4114800"/>
            <a:ext cx="2450592" cy="365760"/>
          </a:xfrm>
          <a:prstGeom prst="roundRect">
            <a:avLst>
              <a:gd name="adj" fmla="val 50000"/>
            </a:avLst>
          </a:prstGeom>
          <a:solidFill>
            <a:schemeClr val="accent1"/>
          </a:solidFill>
          <a:ln/>
        </p:spPr>
      </p:sp>
      <p:sp>
        <p:nvSpPr>
          <p:cNvPr id="7" name="PCB sensor status"/>
          <p:cNvSpPr txBox="1"/>
          <p:nvPr/>
        </p:nvSpPr>
        <p:spPr>
          <a:xfrm>
            <a:off x="1124712" y="4114800"/>
            <a:ext cx="2450592" cy="365760"/>
          </a:xfrm>
          <a:prstGeom prst="rect">
            <a:avLst/>
          </a:prstGeom>
          <a:noFill/>
          <a:ln/>
        </p:spPr>
        <p:txBody>
          <a:bodyPr wrap="square" lIns="0" tIns="0" rIns="0" bIns="0" rtlCol="0" anchor="ctr"/>
          <a:lstStyle/>
          <a:p>
            <a:pPr algn="ctr" indent="0" marL="0">
              <a:buNone/>
            </a:pPr>
            <a:r>
              <a:rPr lang="en-US" sz="1400" b="1" dirty="0">
                <a:solidFill>
                  <a:schemeClr val="bg1"/>
                </a:solidFill>
              </a:rPr>
              <a:t>DRC 0 error · siap cetak</a:t>
            </a:r>
            <a:endParaRPr lang="en-US" sz="1400" dirty="0"/>
          </a:p>
        </p:txBody>
      </p:sp>
      <p:sp>
        <p:nvSpPr>
          <p:cNvPr id="8" name="PCB utama keterangan"/>
          <p:cNvSpPr txBox="1"/>
          <p:nvPr/>
        </p:nvSpPr>
        <p:spPr>
          <a:xfrm>
            <a:off x="6400800" y="4590288"/>
            <a:ext cx="466344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utama · 100 × 127 mm, bentuk mobil F1</a:t>
            </a:r>
            <a:endParaRPr lang="en-US" sz="1600" dirty="0"/>
          </a:p>
          <a:p>
            <a:pPr indent="0" marL="0">
              <a:buNone/>
            </a:pPr>
            <a:r>
              <a:rPr lang="en-US" sz="1400" dirty="0">
                <a:solidFill>
                  <a:schemeClr val="bg1"/>
                </a:solidFill>
              </a:rPr>
              <a:t>ESP32, TB6612, buck 5 V, OLED, tombol, buzzer</a:t>
            </a:r>
            <a:endParaRPr lang="en-US" sz="1600" dirty="0"/>
          </a:p>
        </p:txBody>
      </p:sp>
      <p:sp>
        <p:nvSpPr>
          <p:cNvPr id="9" name="PCB utama status latar"/>
          <p:cNvSpPr/>
          <p:nvPr/>
        </p:nvSpPr>
        <p:spPr>
          <a:xfrm>
            <a:off x="6400800" y="4114800"/>
            <a:ext cx="3406140" cy="365760"/>
          </a:xfrm>
          <a:prstGeom prst="roundRect">
            <a:avLst>
              <a:gd name="adj" fmla="val 50000"/>
            </a:avLst>
          </a:prstGeom>
          <a:solidFill>
            <a:schemeClr val="accent1"/>
          </a:solidFill>
          <a:ln/>
        </p:spPr>
      </p:sp>
      <p:sp>
        <p:nvSpPr>
          <p:cNvPr id="10" name="PCB utama status"/>
          <p:cNvSpPr txBox="1"/>
          <p:nvPr/>
        </p:nvSpPr>
        <p:spPr>
          <a:xfrm>
            <a:off x="6400800" y="4114800"/>
            <a:ext cx="3406140" cy="365760"/>
          </a:xfrm>
          <a:prstGeom prst="rect">
            <a:avLst/>
          </a:prstGeom>
          <a:noFill/>
          <a:ln/>
        </p:spPr>
        <p:txBody>
          <a:bodyPr wrap="square" lIns="0" tIns="0" rIns="0" bIns="0" rtlCol="0" anchor="ctr"/>
          <a:lstStyle/>
          <a:p>
            <a:pPr algn="ctr" indent="0" marL="0">
              <a:buNone/>
            </a:pPr>
            <a:r>
              <a:rPr lang="en-US" sz="1400" b="1" dirty="0">
                <a:solidFill>
                  <a:schemeClr val="bg1"/>
                </a:solidFill>
              </a:rPr>
              <a:t>Routing selesai · sisa 11 error DRC</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MEKANIK</a:t>
            </a:r>
            <a:endParaRPr lang="en-US" sz="4000" dirty="0"/>
          </a:p>
        </p:txBody>
      </p:sp>
      <p:sp>
        <p:nvSpPr>
          <p:cNvPr id="3" name="Model 3D iso bingkai"/>
          <p:cNvSpPr/>
          <p:nvPr/>
        </p:nvSpPr>
        <p:spPr>
          <a:xfrm>
            <a:off x="1124712" y="2048256"/>
            <a:ext cx="5047488" cy="3636699"/>
          </a:xfrm>
          <a:prstGeom prst="rect">
            <a:avLst/>
          </a:prstGeom>
          <a:solidFill>
            <a:schemeClr val="bg1"/>
          </a:solidFill>
          <a:ln/>
        </p:spPr>
      </p:sp>
      <p:pic>
        <p:nvPicPr>
          <p:cNvPr id="4" name="Model 3D iso" descr="Model 3D robot v16 tampak miring di atas garis hitam">    </p:cNvPr>
          <p:cNvPicPr>
            <a:picLocks noChangeAspect="1"/>
          </p:cNvPicPr>
          <p:nvPr/>
        </p:nvPicPr>
        <p:blipFill>
          <a:blip r:embed="rId1"/>
          <a:stretch>
            <a:fillRect/>
          </a:stretch>
        </p:blipFill>
        <p:spPr>
          <a:xfrm>
            <a:off x="1179576" y="2103120"/>
            <a:ext cx="4937760" cy="3526971"/>
          </a:xfrm>
          <a:prstGeom prst="rect">
            <a:avLst/>
          </a:prstGeom>
        </p:spPr>
      </p:pic>
      <p:sp>
        <p:nvSpPr>
          <p:cNvPr id="5" name="Model 3D samping bingkai"/>
          <p:cNvSpPr/>
          <p:nvPr/>
        </p:nvSpPr>
        <p:spPr>
          <a:xfrm>
            <a:off x="6574536" y="2048256"/>
            <a:ext cx="2075688" cy="1513985"/>
          </a:xfrm>
          <a:prstGeom prst="rect">
            <a:avLst/>
          </a:prstGeom>
          <a:solidFill>
            <a:schemeClr val="bg1"/>
          </a:solidFill>
          <a:ln/>
        </p:spPr>
      </p:sp>
      <p:pic>
        <p:nvPicPr>
          <p:cNvPr id="6" name="Model 3D samping" descr="Model 3D robot tampak samping">    </p:cNvPr>
          <p:cNvPicPr>
            <a:picLocks noChangeAspect="1"/>
          </p:cNvPicPr>
          <p:nvPr/>
        </p:nvPicPr>
        <p:blipFill>
          <a:blip r:embed="rId2"/>
          <a:stretch>
            <a:fillRect/>
          </a:stretch>
        </p:blipFill>
        <p:spPr>
          <a:xfrm>
            <a:off x="6629400" y="2103120"/>
            <a:ext cx="1965960" cy="1404257"/>
          </a:xfrm>
          <a:prstGeom prst="rect">
            <a:avLst/>
          </a:prstGeom>
        </p:spPr>
      </p:pic>
      <p:sp>
        <p:nvSpPr>
          <p:cNvPr id="7" name="Model 3D belakang bingkai"/>
          <p:cNvSpPr/>
          <p:nvPr/>
        </p:nvSpPr>
        <p:spPr>
          <a:xfrm>
            <a:off x="8723376" y="2048256"/>
            <a:ext cx="2075688" cy="1513985"/>
          </a:xfrm>
          <a:prstGeom prst="rect">
            <a:avLst/>
          </a:prstGeom>
          <a:solidFill>
            <a:schemeClr val="bg1"/>
          </a:solidFill>
          <a:ln/>
        </p:spPr>
      </p:sp>
      <p:pic>
        <p:nvPicPr>
          <p:cNvPr id="8" name="Model 3D belakang" descr="Model 3D robot tampak belakang miring">    </p:cNvPr>
          <p:cNvPicPr>
            <a:picLocks noChangeAspect="1"/>
          </p:cNvPicPr>
          <p:nvPr/>
        </p:nvPicPr>
        <p:blipFill>
          <a:blip r:embed="rId3"/>
          <a:stretch>
            <a:fillRect/>
          </a:stretch>
        </p:blipFill>
        <p:spPr>
          <a:xfrm>
            <a:off x="8778240" y="2103120"/>
            <a:ext cx="1965960" cy="1404257"/>
          </a:xfrm>
          <a:prstGeom prst="rect">
            <a:avLst/>
          </a:prstGeom>
        </p:spPr>
      </p:pic>
      <p:sp>
        <p:nvSpPr>
          <p:cNvPr id="9" name="Mekanik poin"/>
          <p:cNvSpPr txBox="1"/>
          <p:nvPr/>
        </p:nvSpPr>
        <p:spPr>
          <a:xfrm>
            <a:off x="6574536" y="3611880"/>
            <a:ext cx="4206240" cy="164592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bg1"/>
                </a:solidFill>
              </a:rPr>
              <a:t>± 116 × 165 × 62 mm, bentuk rendah seperti kit pembanding.</a:t>
            </a:r>
            <a:endParaRPr lang="en-US" sz="1400" dirty="0"/>
          </a:p>
          <a:p>
            <a:pPr marL="203200" indent="-203200">
              <a:spcAft>
                <a:spcPts val="400"/>
              </a:spcAft>
              <a:buSzPct val="100000"/>
              <a:buChar char="•"/>
            </a:pPr>
            <a:r>
              <a:rPr lang="en-US" sz="1400" dirty="0">
                <a:solidFill>
                  <a:schemeClr val="bg1"/>
                </a:solidFill>
              </a:rPr>
              <a:t>PCB jadi sasis; semua komponen dan baterai di atas, muka sensor ± 3 mm dari lantai.</a:t>
            </a:r>
            <a:endParaRPr lang="en-US" sz="1400" dirty="0"/>
          </a:p>
          <a:p>
            <a:pPr marL="203200" indent="-203200">
              <a:spcAft>
                <a:spcPts val="400"/>
              </a:spcAft>
              <a:buSzPct val="100000"/>
              <a:buChar char="•"/>
            </a:pPr>
            <a:r>
              <a:rPr lang="en-US" sz="1400" dirty="0">
                <a:solidFill>
                  <a:schemeClr val="bg1"/>
                </a:solidFill>
              </a:rPr>
              <a:t>Body 3D print (cover, bumper, dudukan, sayap) belum di RAB: menunggu info printer lab.</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RENCANA ANGGARAN BIAYA</a:t>
            </a:r>
            <a:endParaRPr lang="en-US" sz="4000" dirty="0"/>
          </a:p>
        </p:txBody>
      </p:sp>
      <p:sp>
        <p:nvSpPr>
          <p:cNvPr id="3" name="Total RAB"/>
          <p:cNvSpPr txBox="1"/>
          <p:nvPr/>
        </p:nvSpPr>
        <p:spPr>
          <a:xfrm>
            <a:off x="1124712" y="2148840"/>
            <a:ext cx="4206240" cy="1234440"/>
          </a:xfrm>
          <a:prstGeom prst="rect">
            <a:avLst/>
          </a:prstGeom>
          <a:noFill/>
          <a:ln/>
        </p:spPr>
        <p:txBody>
          <a:bodyPr wrap="square" lIns="0" tIns="0" rIns="0" bIns="0" rtlCol="0" anchor="t"/>
          <a:lstStyle/>
          <a:p>
            <a:pPr indent="0" marL="0">
              <a:buNone/>
            </a:pPr>
            <a:r>
              <a:rPr lang="en-US" sz="4800" b="1" dirty="0">
                <a:solidFill>
                  <a:schemeClr val="accent2"/>
                </a:solidFill>
              </a:rPr>
              <a:t>Rp902.000</a:t>
            </a:r>
            <a:endParaRPr lang="en-US" sz="4800" dirty="0"/>
          </a:p>
          <a:p>
            <a:pPr indent="0" marL="0">
              <a:buNone/>
            </a:pPr>
            <a:r>
              <a:rPr lang="en-US" sz="1600" dirty="0">
                <a:solidFill>
                  <a:schemeClr val="bg1"/>
                </a:solidFill>
              </a:rPr>
              <a:t>Elektrikal Rp847.000 + Mekanik Rp55.000</a:t>
            </a:r>
            <a:endParaRPr lang="en-US" sz="4800" dirty="0"/>
          </a:p>
        </p:txBody>
      </p:sp>
      <p:sp>
        <p:nvSpPr>
          <p:cNvPr id="4" name="RAB poin"/>
          <p:cNvSpPr txBox="1"/>
          <p:nvPr/>
        </p:nvSpPr>
        <p:spPr>
          <a:xfrm>
            <a:off x="1124712" y="3611880"/>
            <a:ext cx="4206240" cy="19659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Porsi terbesar: fabrikasi 2 PCB (Rp200.000) dan 12 sensor QRE1113GR (Rp180.000).</a:t>
            </a:r>
            <a:endParaRPr lang="en-US" sz="1400" dirty="0"/>
          </a:p>
          <a:p>
            <a:pPr marL="203200" indent="-203200">
              <a:spcAft>
                <a:spcPts val="800"/>
              </a:spcAft>
              <a:buSzPct val="100000"/>
              <a:buChar char="•"/>
            </a:pPr>
            <a:r>
              <a:rPr lang="en-US" sz="1400" dirty="0">
                <a:solidFill>
                  <a:schemeClr val="bg1"/>
                </a:solidFill>
              </a:rPr>
              <a:t>Di luar RAB: lintasan uji, breadboard dan timah (pinjam lab), software gratis (Blockly, Arduino, KiCad).</a:t>
            </a:r>
            <a:endParaRPr lang="en-US" sz="1400" dirty="0"/>
          </a:p>
          <a:p>
            <a:pPr marL="203200" indent="-203200">
              <a:spcAft>
                <a:spcPts val="800"/>
              </a:spcAft>
              <a:buSzPct val="100000"/>
              <a:buChar char="•"/>
            </a:pPr>
            <a:r>
              <a:rPr lang="en-US" sz="1400" dirty="0">
                <a:solidFill>
                  <a:schemeClr val="bg1"/>
                </a:solidFill>
              </a:rPr>
              <a:t>Kit Ichiduino Pro hanya pembanding, tidak dianggarkan ulang.</a:t>
            </a:r>
            <a:endParaRPr lang="en-US" sz="1400" dirty="0"/>
          </a:p>
        </p:txBody>
      </p:sp>
      <p:graphicFrame>
        <p:nvGraphicFramePr>
          <p:cNvPr id="5" name="Grafik RAB per kelompok" descr="Grafik batang biaya per kelompok: PCB dan konektor 240 ribu, sensor garis 218 ribu, penggerak 170 ribu, daya dan baterai 136 ribu, otak dan antarmuka 118 ribu, mekanik lain 20 ribu"/>
          <p:cNvGraphicFramePr/>
          <p:nvPr/>
        </p:nvGraphicFramePr>
        <p:xfrm>
          <a:off x="5669280" y="2011680"/>
          <a:ext cx="5440680" cy="3611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ALASAN KOMPONEN UTAMA</a:t>
            </a:r>
            <a:endParaRPr lang="en-US" sz="4000" dirty="0"/>
          </a:p>
        </p:txBody>
      </p:sp>
      <p:sp>
        <p:nvSpPr>
          <p:cNvPr id="3" name="Komponen 1 latar"/>
          <p:cNvSpPr/>
          <p:nvPr/>
        </p:nvSpPr>
        <p:spPr>
          <a:xfrm>
            <a:off x="1124712" y="2103120"/>
            <a:ext cx="3127248" cy="1609344"/>
          </a:xfrm>
          <a:prstGeom prst="rect">
            <a:avLst/>
          </a:prstGeom>
          <a:solidFill>
            <a:schemeClr val="accent1"/>
          </a:solidFill>
          <a:ln/>
        </p:spPr>
      </p:sp>
      <p:sp>
        <p:nvSpPr>
          <p:cNvPr id="4" name="Komponen 1 teks"/>
          <p:cNvSpPr txBox="1"/>
          <p:nvPr/>
        </p:nvSpPr>
        <p:spPr>
          <a:xfrm>
            <a:off x="128930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ESP32 DevKit · Rp76.000</a:t>
            </a:r>
            <a:endParaRPr lang="en-US" sz="1600" dirty="0"/>
          </a:p>
          <a:p>
            <a:pPr indent="0" marL="0">
              <a:buNone/>
            </a:pPr>
            <a:r>
              <a:rPr lang="en-US" sz="1400" dirty="0">
                <a:solidFill>
                  <a:schemeClr val="bg1"/>
                </a:solidFill>
              </a:rPr>
              <a:t>240 MHz dual-core + WiFi untuk Blockly; ESP32-S3 &gt; Rp130.000</a:t>
            </a:r>
            <a:endParaRPr lang="en-US" sz="1600" dirty="0"/>
          </a:p>
        </p:txBody>
      </p:sp>
      <p:sp>
        <p:nvSpPr>
          <p:cNvPr id="5" name="Komponen 2 latar"/>
          <p:cNvSpPr/>
          <p:nvPr/>
        </p:nvSpPr>
        <p:spPr>
          <a:xfrm>
            <a:off x="4416552" y="2103120"/>
            <a:ext cx="3127248" cy="1609344"/>
          </a:xfrm>
          <a:prstGeom prst="rect">
            <a:avLst/>
          </a:prstGeom>
          <a:solidFill>
            <a:schemeClr val="accent1"/>
          </a:solidFill>
          <a:ln/>
        </p:spPr>
      </p:sp>
      <p:sp>
        <p:nvSpPr>
          <p:cNvPr id="6" name="Komponen 2 teks"/>
          <p:cNvSpPr txBox="1"/>
          <p:nvPr/>
        </p:nvSpPr>
        <p:spPr>
          <a:xfrm>
            <a:off x="458114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12× QRE1113GR · Rp180.000</a:t>
            </a:r>
            <a:endParaRPr lang="en-US" sz="1600" dirty="0"/>
          </a:p>
          <a:p>
            <a:pPr indent="0" marL="0">
              <a:buNone/>
            </a:pPr>
            <a:r>
              <a:rPr lang="en-US" sz="1400" dirty="0">
                <a:solidFill>
                  <a:schemeClr val="bg1"/>
                </a:solidFill>
              </a:rPr>
              <a:t>LED IR + fototransistor satu kemasan bersekat: papan tipis, sensor ± 3 mm dari lantai</a:t>
            </a:r>
            <a:endParaRPr lang="en-US" sz="1600" dirty="0"/>
          </a:p>
        </p:txBody>
      </p:sp>
      <p:sp>
        <p:nvSpPr>
          <p:cNvPr id="7" name="Komponen 3 latar"/>
          <p:cNvSpPr/>
          <p:nvPr/>
        </p:nvSpPr>
        <p:spPr>
          <a:xfrm>
            <a:off x="7708392" y="2103120"/>
            <a:ext cx="3127248" cy="1609344"/>
          </a:xfrm>
          <a:prstGeom prst="rect">
            <a:avLst/>
          </a:prstGeom>
          <a:solidFill>
            <a:schemeClr val="accent1"/>
          </a:solidFill>
          <a:ln/>
        </p:spPr>
      </p:sp>
      <p:sp>
        <p:nvSpPr>
          <p:cNvPr id="8" name="Komponen 3 teks"/>
          <p:cNvSpPr txBox="1"/>
          <p:nvPr/>
        </p:nvSpPr>
        <p:spPr>
          <a:xfrm>
            <a:off x="787298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N20 + encoder · Rp110.000</a:t>
            </a:r>
            <a:endParaRPr lang="en-US" sz="1600" dirty="0"/>
          </a:p>
          <a:p>
            <a:pPr indent="0" marL="0">
              <a:buNone/>
            </a:pPr>
            <a:r>
              <a:rPr lang="en-US" sz="1400" dirty="0">
                <a:solidFill>
                  <a:schemeClr val="bg1"/>
                </a:solidFill>
              </a:rPr>
              <a:t>v maks 0,89 m/s (sasaran ≥ 0,5 m/s); encoder untuk belok 90° dan jarak tempuh</a:t>
            </a:r>
            <a:endParaRPr lang="en-US" sz="1600" dirty="0"/>
          </a:p>
        </p:txBody>
      </p:sp>
      <p:sp>
        <p:nvSpPr>
          <p:cNvPr id="9" name="Komponen 4 latar"/>
          <p:cNvSpPr/>
          <p:nvPr/>
        </p:nvSpPr>
        <p:spPr>
          <a:xfrm>
            <a:off x="1124712" y="3858768"/>
            <a:ext cx="3127248" cy="1609344"/>
          </a:xfrm>
          <a:prstGeom prst="rect">
            <a:avLst/>
          </a:prstGeom>
          <a:solidFill>
            <a:schemeClr val="accent1"/>
          </a:solidFill>
          <a:ln/>
        </p:spPr>
      </p:sp>
      <p:sp>
        <p:nvSpPr>
          <p:cNvPr id="10" name="Komponen 4 teks"/>
          <p:cNvSpPr txBox="1"/>
          <p:nvPr/>
        </p:nvSpPr>
        <p:spPr>
          <a:xfrm>
            <a:off x="128930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TB6612FNG · Rp25.000</a:t>
            </a:r>
            <a:endParaRPr lang="en-US" sz="1600" dirty="0"/>
          </a:p>
          <a:p>
            <a:pPr indent="0" marL="0">
              <a:buNone/>
            </a:pPr>
            <a:r>
              <a:rPr lang="en-US" sz="1400" dirty="0">
                <a:solidFill>
                  <a:schemeClr val="bg1"/>
                </a:solidFill>
              </a:rPr>
              <a:t>Tegangan jatuh jauh lebih kecil dari L298N, sehingga tidak panas</a:t>
            </a:r>
            <a:endParaRPr lang="en-US" sz="1600" dirty="0"/>
          </a:p>
        </p:txBody>
      </p:sp>
      <p:sp>
        <p:nvSpPr>
          <p:cNvPr id="11" name="Komponen 5 latar"/>
          <p:cNvSpPr/>
          <p:nvPr/>
        </p:nvSpPr>
        <p:spPr>
          <a:xfrm>
            <a:off x="4416552" y="3858768"/>
            <a:ext cx="3127248" cy="1609344"/>
          </a:xfrm>
          <a:prstGeom prst="rect">
            <a:avLst/>
          </a:prstGeom>
          <a:solidFill>
            <a:schemeClr val="accent1"/>
          </a:solidFill>
          <a:ln/>
        </p:spPr>
      </p:sp>
      <p:sp>
        <p:nvSpPr>
          <p:cNvPr id="12" name="Komponen 5 teks"/>
          <p:cNvSpPr txBox="1"/>
          <p:nvPr/>
        </p:nvSpPr>
        <p:spPr>
          <a:xfrm>
            <a:off x="458114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18650 + BMS + charger · Rp115.000</a:t>
            </a:r>
            <a:endParaRPr lang="en-US" sz="1600" dirty="0"/>
          </a:p>
          <a:p>
            <a:pPr indent="0" marL="0">
              <a:buNone/>
            </a:pPr>
            <a:r>
              <a:rPr lang="en-US" sz="1400" dirty="0">
                <a:solidFill>
                  <a:schemeClr val="bg1"/>
                </a:solidFill>
              </a:rPr>
              <a:t>± 3 jam pemakaian, dilindungi BMS, diisi lewat USB-C</a:t>
            </a:r>
            <a:endParaRPr lang="en-US" sz="1600" dirty="0"/>
          </a:p>
        </p:txBody>
      </p:sp>
      <p:sp>
        <p:nvSpPr>
          <p:cNvPr id="13" name="Komponen 6 latar"/>
          <p:cNvSpPr/>
          <p:nvPr/>
        </p:nvSpPr>
        <p:spPr>
          <a:xfrm>
            <a:off x="7708392" y="3858768"/>
            <a:ext cx="3127248" cy="1609344"/>
          </a:xfrm>
          <a:prstGeom prst="rect">
            <a:avLst/>
          </a:prstGeom>
          <a:solidFill>
            <a:schemeClr val="accent1"/>
          </a:solidFill>
          <a:ln/>
        </p:spPr>
      </p:sp>
      <p:sp>
        <p:nvSpPr>
          <p:cNvPr id="14" name="Komponen 6 teks"/>
          <p:cNvSpPr txBox="1"/>
          <p:nvPr/>
        </p:nvSpPr>
        <p:spPr>
          <a:xfrm>
            <a:off x="787298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Fabrikasi 2 PCB · Rp200.000</a:t>
            </a:r>
            <a:endParaRPr lang="en-US" sz="1600" dirty="0"/>
          </a:p>
          <a:p>
            <a:pPr indent="0" marL="0">
              <a:buNone/>
            </a:pPr>
            <a:r>
              <a:rPr lang="en-US" sz="1400" dirty="0">
                <a:solidFill>
                  <a:schemeClr val="bg1"/>
                </a:solidFill>
              </a:rPr>
              <a:t>Papan custom menggantikan kabel breadboard: rapi dan awet dipakai siswa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RIWAYAT RAB &amp; EFISIENSI</a:t>
            </a:r>
            <a:endParaRPr lang="en-US" sz="4000" dirty="0"/>
          </a:p>
        </p:txBody>
      </p:sp>
      <p:graphicFrame>
        <p:nvGraphicFramePr>
          <p:cNvPr id="3" name="Grafik riwayat RAB" descr="Grafik garis total RAB per revisi dari 845 sampai 902 ribu rupiah, dengan garis batas 900 ribu"/>
          <p:cNvGraphicFramePr/>
          <p:nvPr/>
        </p:nvGraphicFramePr>
        <p:xfrm>
          <a:off x="1051560" y="2011680"/>
          <a:ext cx="6400800" cy="3611880"/>
        </p:xfrm>
        <a:graphic xmlns:a="http://schemas.openxmlformats.org/drawingml/2006/main">
          <a:graphicData uri="http://schemas.openxmlformats.org/drawingml/2006/chart">
            <c:chart xmlns:c="http://schemas.openxmlformats.org/drawingml/2006/chart" r:id="rId1"/>
          </a:graphicData>
        </a:graphic>
      </p:graphicFrame>
      <p:sp>
        <p:nvSpPr>
          <p:cNvPr id="4" name="Selisih anggaran"/>
          <p:cNvSpPr txBox="1"/>
          <p:nvPr/>
        </p:nvSpPr>
        <p:spPr>
          <a:xfrm>
            <a:off x="7726680" y="2103120"/>
            <a:ext cx="3383280" cy="1143000"/>
          </a:xfrm>
          <a:prstGeom prst="rect">
            <a:avLst/>
          </a:prstGeom>
          <a:noFill/>
          <a:ln/>
        </p:spPr>
        <p:txBody>
          <a:bodyPr wrap="square" lIns="0" tIns="0" rIns="0" bIns="0" rtlCol="0" anchor="t"/>
          <a:lstStyle/>
          <a:p>
            <a:pPr indent="0" marL="0">
              <a:buNone/>
            </a:pPr>
            <a:r>
              <a:rPr lang="en-US" sz="4000" b="1" dirty="0">
                <a:solidFill>
                  <a:schemeClr val="accent2"/>
                </a:solidFill>
              </a:rPr>
              <a:t>+Rp2.000</a:t>
            </a:r>
            <a:endParaRPr lang="en-US" sz="4000" dirty="0"/>
          </a:p>
          <a:p>
            <a:pPr indent="0" marL="0">
              <a:buNone/>
            </a:pPr>
            <a:r>
              <a:rPr lang="en-US" sz="1600" dirty="0">
                <a:solidFill>
                  <a:schemeClr val="bg1"/>
                </a:solidFill>
              </a:rPr>
              <a:t>(0,2%) di atas batas Rp900.000</a:t>
            </a:r>
            <a:endParaRPr lang="en-US" sz="4000" dirty="0"/>
          </a:p>
        </p:txBody>
      </p:sp>
      <p:sp>
        <p:nvSpPr>
          <p:cNvPr id="5" name="Selisih poin"/>
          <p:cNvSpPr txBox="1"/>
          <p:nvPr/>
        </p:nvSpPr>
        <p:spPr>
          <a:xfrm>
            <a:off x="7726680" y="3429000"/>
            <a:ext cx="3383280" cy="21945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Penyebab: QRE1113GR lokal Rp15.000/pcs, 3× perkiraan awal (+Rp105.000).</a:t>
            </a:r>
            <a:endParaRPr lang="en-US" sz="1400" dirty="0"/>
          </a:p>
          <a:p>
            <a:pPr marL="203200" indent="-203200">
              <a:spcAft>
                <a:spcPts val="800"/>
              </a:spcAft>
              <a:buSzPct val="100000"/>
              <a:buChar char="•"/>
            </a:pPr>
            <a:r>
              <a:rPr lang="en-US" sz="1400" dirty="0">
                <a:solidFill>
                  <a:schemeClr val="bg1"/>
                </a:solidFill>
              </a:rPr>
              <a:t>Sudah dihemat: MCP23017 + LED indikator dihapus, skid nilon pengganti ball caster, breadboard dan timah pinjam lab (−Rp85.000).</a:t>
            </a:r>
            <a:endParaRPr lang="en-US" sz="1400" dirty="0"/>
          </a:p>
          <a:p>
            <a:pPr marL="203200" indent="-203200">
              <a:spcAft>
                <a:spcPts val="800"/>
              </a:spcAft>
              <a:buSzPct val="100000"/>
              <a:buChar char="•"/>
            </a:pPr>
            <a:r>
              <a:rPr lang="en-US" sz="1400" dirty="0">
                <a:solidFill>
                  <a:schemeClr val="bg1"/>
                </a:solidFill>
              </a:rPr>
              <a:t>12 sensor dipertahankan supaya setara kit pembanding.</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JADWAL &amp; RISIKO</a:t>
            </a:r>
            <a:endParaRPr lang="en-US" sz="4000" dirty="0"/>
          </a:p>
        </p:txBody>
      </p:sp>
      <p:sp>
        <p:nvSpPr>
          <p:cNvPr id="3" name="Garis waktu"/>
          <p:cNvSpPr/>
          <p:nvPr/>
        </p:nvSpPr>
        <p:spPr>
          <a:xfrm>
            <a:off x="1920240" y="2514600"/>
            <a:ext cx="8366760" cy="0"/>
          </a:xfrm>
          <a:prstGeom prst="line">
            <a:avLst/>
          </a:prstGeom>
          <a:noFill/>
          <a:ln w="38100">
            <a:solidFill>
              <a:schemeClr val="accent3"/>
            </a:solidFill>
            <a:prstDash val="solid"/>
          </a:ln>
        </p:spPr>
      </p:sp>
      <p:sp>
        <p:nvSpPr>
          <p:cNvPr id="4" name="Gerbang G1 lingkaran"/>
          <p:cNvSpPr/>
          <p:nvPr/>
        </p:nvSpPr>
        <p:spPr>
          <a:xfrm>
            <a:off x="1673352" y="2267712"/>
            <a:ext cx="493776" cy="493776"/>
          </a:xfrm>
          <a:prstGeom prst="ellipse">
            <a:avLst/>
          </a:prstGeom>
          <a:solidFill>
            <a:schemeClr val="accent2"/>
          </a:solidFill>
          <a:ln/>
        </p:spPr>
      </p:sp>
      <p:sp>
        <p:nvSpPr>
          <p:cNvPr id="5" name="Gerbang G1"/>
          <p:cNvSpPr txBox="1"/>
          <p:nvPr/>
        </p:nvSpPr>
        <p:spPr>
          <a:xfrm>
            <a:off x="1508760"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G1</a:t>
            </a:r>
            <a:endParaRPr lang="en-US" sz="1400" dirty="0"/>
          </a:p>
        </p:txBody>
      </p:sp>
      <p:sp>
        <p:nvSpPr>
          <p:cNvPr id="6" name="Gerbang G1 keterangan"/>
          <p:cNvSpPr txBox="1"/>
          <p:nvPr/>
        </p:nvSpPr>
        <p:spPr>
          <a:xfrm>
            <a:off x="114300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Penetapan</a:t>
            </a:r>
            <a:endParaRPr lang="en-US" sz="1300" dirty="0"/>
          </a:p>
          <a:p>
            <a:pPr algn="ctr" indent="0" marL="0">
              <a:buNone/>
            </a:pPr>
            <a:r>
              <a:rPr lang="en-US" sz="1300" dirty="0">
                <a:solidFill>
                  <a:schemeClr val="bg2"/>
                </a:solidFill>
              </a:rPr>
              <a:t>minggu 1–2</a:t>
            </a:r>
            <a:endParaRPr lang="en-US" sz="1300" dirty="0"/>
          </a:p>
          <a:p>
            <a:pPr algn="ctr" indent="0" marL="0">
              <a:buNone/>
            </a:pPr>
            <a:r>
              <a:rPr lang="en-US" sz="1300" b="1" dirty="0">
                <a:solidFill>
                  <a:schemeClr val="accent2"/>
                </a:solidFill>
              </a:rPr>
              <a:t>lulus 02/10</a:t>
            </a:r>
            <a:endParaRPr lang="en-US" sz="1300" dirty="0"/>
          </a:p>
        </p:txBody>
      </p:sp>
      <p:sp>
        <p:nvSpPr>
          <p:cNvPr id="7" name="Gerbang G2 lingkaran"/>
          <p:cNvSpPr/>
          <p:nvPr/>
        </p:nvSpPr>
        <p:spPr>
          <a:xfrm>
            <a:off x="3346704" y="2267712"/>
            <a:ext cx="493776" cy="493776"/>
          </a:xfrm>
          <a:prstGeom prst="ellipse">
            <a:avLst/>
          </a:prstGeom>
          <a:solidFill>
            <a:schemeClr val="accent2"/>
          </a:solidFill>
          <a:ln/>
        </p:spPr>
      </p:sp>
      <p:sp>
        <p:nvSpPr>
          <p:cNvPr id="8" name="Gerbang G2"/>
          <p:cNvSpPr txBox="1"/>
          <p:nvPr/>
        </p:nvSpPr>
        <p:spPr>
          <a:xfrm>
            <a:off x="3182112"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G2</a:t>
            </a:r>
            <a:endParaRPr lang="en-US" sz="1400" dirty="0"/>
          </a:p>
        </p:txBody>
      </p:sp>
      <p:sp>
        <p:nvSpPr>
          <p:cNvPr id="9" name="Gerbang G2 keterangan"/>
          <p:cNvSpPr txBox="1"/>
          <p:nvPr/>
        </p:nvSpPr>
        <p:spPr>
          <a:xfrm>
            <a:off x="2816352"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Rancangan + RAB</a:t>
            </a:r>
            <a:endParaRPr lang="en-US" sz="1300" dirty="0"/>
          </a:p>
          <a:p>
            <a:pPr algn="ctr" indent="0" marL="0">
              <a:buNone/>
            </a:pPr>
            <a:r>
              <a:rPr lang="en-US" sz="1300" dirty="0">
                <a:solidFill>
                  <a:schemeClr val="bg2"/>
                </a:solidFill>
              </a:rPr>
              <a:t>minggu 3–6</a:t>
            </a:r>
            <a:endParaRPr lang="en-US" sz="1300" dirty="0"/>
          </a:p>
          <a:p>
            <a:pPr algn="ctr" indent="0" marL="0">
              <a:buNone/>
            </a:pPr>
            <a:r>
              <a:rPr lang="en-US" sz="1300" b="1" dirty="0">
                <a:solidFill>
                  <a:schemeClr val="accent2"/>
                </a:solidFill>
              </a:rPr>
              <a:t>hari ini</a:t>
            </a:r>
            <a:endParaRPr lang="en-US" sz="1300" dirty="0"/>
          </a:p>
        </p:txBody>
      </p:sp>
      <p:sp>
        <p:nvSpPr>
          <p:cNvPr id="10" name="Gerbang FMEA lingkaran"/>
          <p:cNvSpPr/>
          <p:nvPr/>
        </p:nvSpPr>
        <p:spPr>
          <a:xfrm>
            <a:off x="5020056" y="2267712"/>
            <a:ext cx="493776" cy="493776"/>
          </a:xfrm>
          <a:prstGeom prst="ellipse">
            <a:avLst/>
          </a:prstGeom>
          <a:solidFill>
            <a:schemeClr val="accent1"/>
          </a:solidFill>
          <a:ln/>
        </p:spPr>
      </p:sp>
      <p:sp>
        <p:nvSpPr>
          <p:cNvPr id="11" name="Gerbang FMEA"/>
          <p:cNvSpPr txBox="1"/>
          <p:nvPr/>
        </p:nvSpPr>
        <p:spPr>
          <a:xfrm>
            <a:off x="4855464" y="2267712"/>
            <a:ext cx="822960" cy="493776"/>
          </a:xfrm>
          <a:prstGeom prst="rect">
            <a:avLst/>
          </a:prstGeom>
          <a:noFill/>
          <a:ln/>
        </p:spPr>
        <p:txBody>
          <a:bodyPr wrap="square" lIns="0" tIns="0" rIns="0" bIns="0" rtlCol="0" anchor="ctr"/>
          <a:lstStyle/>
          <a:p>
            <a:pPr algn="ctr" indent="0" marL="0">
              <a:buNone/>
            </a:pPr>
            <a:r>
              <a:rPr lang="en-US" sz="1100" b="1" dirty="0">
                <a:solidFill>
                  <a:schemeClr val="bg1"/>
                </a:solidFill>
              </a:rPr>
              <a:t>FMEA</a:t>
            </a:r>
            <a:endParaRPr lang="en-US" sz="1100" dirty="0"/>
          </a:p>
        </p:txBody>
      </p:sp>
      <p:sp>
        <p:nvSpPr>
          <p:cNvPr id="12" name="Gerbang FMEA keterangan"/>
          <p:cNvSpPr txBox="1"/>
          <p:nvPr/>
        </p:nvSpPr>
        <p:spPr>
          <a:xfrm>
            <a:off x="4489704"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Analisis bahaya</a:t>
            </a:r>
            <a:endParaRPr lang="en-US" sz="1300" dirty="0"/>
          </a:p>
          <a:p>
            <a:pPr algn="ctr" indent="0" marL="0">
              <a:buNone/>
            </a:pPr>
            <a:r>
              <a:rPr lang="en-US" sz="1300" dirty="0">
                <a:solidFill>
                  <a:schemeClr val="bg2"/>
                </a:solidFill>
              </a:rPr>
              <a:t>minggu 7–8</a:t>
            </a:r>
            <a:endParaRPr lang="en-US" sz="1300" dirty="0"/>
          </a:p>
        </p:txBody>
      </p:sp>
      <p:sp>
        <p:nvSpPr>
          <p:cNvPr id="13" name="Gerbang G3 lingkaran"/>
          <p:cNvSpPr/>
          <p:nvPr/>
        </p:nvSpPr>
        <p:spPr>
          <a:xfrm>
            <a:off x="6693408" y="2267712"/>
            <a:ext cx="493776" cy="493776"/>
          </a:xfrm>
          <a:prstGeom prst="ellipse">
            <a:avLst/>
          </a:prstGeom>
          <a:solidFill>
            <a:schemeClr val="accent1"/>
          </a:solidFill>
          <a:ln/>
        </p:spPr>
      </p:sp>
      <p:sp>
        <p:nvSpPr>
          <p:cNvPr id="14" name="Gerbang G3"/>
          <p:cNvSpPr txBox="1"/>
          <p:nvPr/>
        </p:nvSpPr>
        <p:spPr>
          <a:xfrm>
            <a:off x="6528816"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G3</a:t>
            </a:r>
            <a:endParaRPr lang="en-US" sz="1400" dirty="0"/>
          </a:p>
        </p:txBody>
      </p:sp>
      <p:sp>
        <p:nvSpPr>
          <p:cNvPr id="15" name="Gerbang G3 keterangan"/>
          <p:cNvSpPr txBox="1"/>
          <p:nvPr/>
        </p:nvSpPr>
        <p:spPr>
          <a:xfrm>
            <a:off x="6163056"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Prototipe jalan 3×, PCB dipesan</a:t>
            </a:r>
            <a:endParaRPr lang="en-US" sz="1300" dirty="0"/>
          </a:p>
          <a:p>
            <a:pPr algn="ctr" indent="0" marL="0">
              <a:buNone/>
            </a:pPr>
            <a:r>
              <a:rPr lang="en-US" sz="1300" dirty="0">
                <a:solidFill>
                  <a:schemeClr val="bg2"/>
                </a:solidFill>
              </a:rPr>
              <a:t>≤ minggu 10</a:t>
            </a:r>
            <a:endParaRPr lang="en-US" sz="1300" dirty="0"/>
          </a:p>
        </p:txBody>
      </p:sp>
      <p:sp>
        <p:nvSpPr>
          <p:cNvPr id="16" name="Gerbang G4 lingkaran"/>
          <p:cNvSpPr/>
          <p:nvPr/>
        </p:nvSpPr>
        <p:spPr>
          <a:xfrm>
            <a:off x="8366760" y="2267712"/>
            <a:ext cx="493776" cy="493776"/>
          </a:xfrm>
          <a:prstGeom prst="ellipse">
            <a:avLst/>
          </a:prstGeom>
          <a:solidFill>
            <a:schemeClr val="accent1"/>
          </a:solidFill>
          <a:ln/>
        </p:spPr>
      </p:sp>
      <p:sp>
        <p:nvSpPr>
          <p:cNvPr id="17" name="Gerbang G4"/>
          <p:cNvSpPr txBox="1"/>
          <p:nvPr/>
        </p:nvSpPr>
        <p:spPr>
          <a:xfrm>
            <a:off x="8202168"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8" name="Gerbang G4 keterangan"/>
          <p:cNvSpPr txBox="1"/>
          <p:nvPr/>
        </p:nvSpPr>
        <p:spPr>
          <a:xfrm>
            <a:off x="7836408"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Pembuktian + uji siswa</a:t>
            </a:r>
            <a:endParaRPr lang="en-US" sz="1300" dirty="0"/>
          </a:p>
          <a:p>
            <a:pPr algn="ctr" indent="0" marL="0">
              <a:buNone/>
            </a:pPr>
            <a:r>
              <a:rPr lang="en-US" sz="1300" dirty="0">
                <a:solidFill>
                  <a:schemeClr val="bg2"/>
                </a:solidFill>
              </a:rPr>
              <a:t>minggu 11–14</a:t>
            </a:r>
            <a:endParaRPr lang="en-US" sz="1300" dirty="0"/>
          </a:p>
        </p:txBody>
      </p:sp>
      <p:sp>
        <p:nvSpPr>
          <p:cNvPr id="19" name="Gerbang G5 lingkaran"/>
          <p:cNvSpPr/>
          <p:nvPr/>
        </p:nvSpPr>
        <p:spPr>
          <a:xfrm>
            <a:off x="10040112" y="2267712"/>
            <a:ext cx="493776" cy="493776"/>
          </a:xfrm>
          <a:prstGeom prst="ellipse">
            <a:avLst/>
          </a:prstGeom>
          <a:solidFill>
            <a:schemeClr val="accent1"/>
          </a:solidFill>
          <a:ln/>
        </p:spPr>
      </p:sp>
      <p:sp>
        <p:nvSpPr>
          <p:cNvPr id="20" name="Gerbang G5"/>
          <p:cNvSpPr txBox="1"/>
          <p:nvPr/>
        </p:nvSpPr>
        <p:spPr>
          <a:xfrm>
            <a:off x="9875520"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G5</a:t>
            </a:r>
            <a:endParaRPr lang="en-US" sz="1400" dirty="0"/>
          </a:p>
        </p:txBody>
      </p:sp>
      <p:sp>
        <p:nvSpPr>
          <p:cNvPr id="21" name="Gerbang G5 keterangan"/>
          <p:cNvSpPr txBox="1"/>
          <p:nvPr/>
        </p:nvSpPr>
        <p:spPr>
          <a:xfrm>
            <a:off x="950976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Serah terima</a:t>
            </a:r>
            <a:endParaRPr lang="en-US" sz="1300" dirty="0"/>
          </a:p>
          <a:p>
            <a:pPr algn="ctr" indent="0" marL="0">
              <a:buNone/>
            </a:pPr>
            <a:r>
              <a:rPr lang="en-US" sz="1300" dirty="0">
                <a:solidFill>
                  <a:schemeClr val="bg2"/>
                </a:solidFill>
              </a:rPr>
              <a:t>minggu 15–16</a:t>
            </a:r>
            <a:endParaRPr lang="en-US" sz="1300" dirty="0"/>
          </a:p>
        </p:txBody>
      </p:sp>
      <p:sp>
        <p:nvSpPr>
          <p:cNvPr id="22" name="Risiko 1 latar"/>
          <p:cNvSpPr/>
          <p:nvPr/>
        </p:nvSpPr>
        <p:spPr>
          <a:xfrm>
            <a:off x="1463040" y="4069080"/>
            <a:ext cx="2971800" cy="1325880"/>
          </a:xfrm>
          <a:prstGeom prst="rect">
            <a:avLst/>
          </a:prstGeom>
          <a:solidFill>
            <a:schemeClr val="accent1"/>
          </a:solidFill>
          <a:ln/>
        </p:spPr>
      </p:sp>
      <p:sp>
        <p:nvSpPr>
          <p:cNvPr id="23" name="Risiko 1 teks"/>
          <p:cNvSpPr txBox="1"/>
          <p:nvPr/>
        </p:nvSpPr>
        <p:spPr>
          <a:xfrm>
            <a:off x="162763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PCB salah desain / terlambat</a:t>
            </a:r>
            <a:endParaRPr lang="en-US" sz="1600" dirty="0"/>
          </a:p>
          <a:p>
            <a:pPr indent="0" marL="0">
              <a:buNone/>
            </a:pPr>
            <a:r>
              <a:rPr lang="en-US" sz="1400" dirty="0">
                <a:solidFill>
                  <a:schemeClr val="bg1"/>
                </a:solidFill>
              </a:rPr>
              <a:t>Prototipe breadboard dulu, PCB dipesan paling lambat minggu 10</a:t>
            </a:r>
            <a:endParaRPr lang="en-US" sz="1600" dirty="0"/>
          </a:p>
        </p:txBody>
      </p:sp>
      <p:sp>
        <p:nvSpPr>
          <p:cNvPr id="24" name="Risiko 2 latar"/>
          <p:cNvSpPr/>
          <p:nvPr/>
        </p:nvSpPr>
        <p:spPr>
          <a:xfrm>
            <a:off x="4617720" y="4069080"/>
            <a:ext cx="2971800" cy="1325880"/>
          </a:xfrm>
          <a:prstGeom prst="rect">
            <a:avLst/>
          </a:prstGeom>
          <a:solidFill>
            <a:schemeClr val="accent1"/>
          </a:solidFill>
          <a:ln/>
        </p:spPr>
      </p:sp>
      <p:sp>
        <p:nvSpPr>
          <p:cNvPr id="25" name="Risiko 2 teks"/>
          <p:cNvSpPr txBox="1"/>
          <p:nvPr/>
        </p:nvSpPr>
        <p:spPr>
          <a:xfrm>
            <a:off x="478231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Biaya melebihi batas</a:t>
            </a:r>
            <a:endParaRPr lang="en-US" sz="1600" dirty="0"/>
          </a:p>
          <a:p>
            <a:pPr indent="0" marL="0">
              <a:buNone/>
            </a:pPr>
            <a:r>
              <a:rPr lang="en-US" sz="1400" dirty="0">
                <a:solidFill>
                  <a:schemeClr val="bg1"/>
                </a:solidFill>
              </a:rPr>
              <a:t>RAB dipantau tiap pembelian, harga disertai tautan toko</a:t>
            </a:r>
            <a:endParaRPr lang="en-US" sz="1600" dirty="0"/>
          </a:p>
        </p:txBody>
      </p:sp>
      <p:sp>
        <p:nvSpPr>
          <p:cNvPr id="26" name="Risiko 3 latar"/>
          <p:cNvSpPr/>
          <p:nvPr/>
        </p:nvSpPr>
        <p:spPr>
          <a:xfrm>
            <a:off x="7772400" y="4069080"/>
            <a:ext cx="2971800" cy="1325880"/>
          </a:xfrm>
          <a:prstGeom prst="rect">
            <a:avLst/>
          </a:prstGeom>
          <a:solidFill>
            <a:schemeClr val="accent1"/>
          </a:solidFill>
          <a:ln/>
        </p:spPr>
      </p:sp>
      <p:sp>
        <p:nvSpPr>
          <p:cNvPr id="27" name="Risiko 3 teks"/>
          <p:cNvSpPr txBox="1"/>
          <p:nvPr/>
        </p:nvSpPr>
        <p:spPr>
          <a:xfrm>
            <a:off x="793699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QRE tanpa cadangan</a:t>
            </a:r>
            <a:endParaRPr lang="en-US" sz="1600" dirty="0"/>
          </a:p>
          <a:p>
            <a:pPr indent="0" marL="0">
              <a:buNone/>
            </a:pPr>
            <a:r>
              <a:rPr lang="en-US" sz="1400" dirty="0">
                <a:solidFill>
                  <a:schemeClr val="bg1"/>
                </a:solidFill>
              </a:rPr>
              <a:t>Tiap sensor diuji di breadboard sebelum disolder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1536192" y="1828800"/>
            <a:ext cx="5669280" cy="3017520"/>
          </a:xfrm>
          <a:prstGeom prst="rect">
            <a:avLst/>
          </a:prstGeom>
          <a:noFill/>
          <a:ln/>
        </p:spPr>
        <p:txBody>
          <a:bodyPr wrap="square" lIns="0" tIns="0" rIns="0" bIns="0" rtlCol="0" anchor="ctr"/>
          <a:lstStyle/>
          <a:p>
            <a:pPr algn="l" indent="0" marL="0">
              <a:lnSpc>
                <a:spcPct val="85000"/>
              </a:lnSpc>
              <a:buNone/>
            </a:pPr>
            <a:r>
              <a:rPr lang="en-US" sz="8800" b="1" dirty="0">
                <a:solidFill>
                  <a:schemeClr val="bg1"/>
                </a:solidFill>
              </a:rPr>
              <a:t>TERIMA</a:t>
            </a:r>
            <a:endParaRPr lang="en-US" sz="8800" dirty="0"/>
          </a:p>
          <a:p>
            <a:pPr algn="l" indent="0" marL="0">
              <a:lnSpc>
                <a:spcPct val="85000"/>
              </a:lnSpc>
              <a:buNone/>
            </a:pPr>
            <a:r>
              <a:rPr lang="en-US" sz="8800" b="1" dirty="0">
                <a:solidFill>
                  <a:schemeClr val="bg1"/>
                </a:solidFill>
              </a:rPr>
              <a:t>KASIH</a:t>
            </a:r>
            <a:endParaRPr lang="en-US" sz="8800" dirty="0"/>
          </a:p>
        </p:txBody>
      </p:sp>
      <p:sp>
        <p:nvSpPr>
          <p:cNvPr id="3" name="Permohonan dana"/>
          <p:cNvSpPr txBox="1"/>
          <p:nvPr/>
        </p:nvSpPr>
        <p:spPr>
          <a:xfrm>
            <a:off x="7315200" y="1783080"/>
            <a:ext cx="3840480" cy="1234440"/>
          </a:xfrm>
          <a:prstGeom prst="rect">
            <a:avLst/>
          </a:prstGeom>
          <a:noFill/>
          <a:ln/>
        </p:spPr>
        <p:txBody>
          <a:bodyPr wrap="square" lIns="0" tIns="0" rIns="0" bIns="0" rtlCol="0" anchor="t"/>
          <a:lstStyle/>
          <a:p>
            <a:pPr indent="0" marL="0">
              <a:buNone/>
            </a:pPr>
            <a:r>
              <a:rPr lang="en-US" sz="1800" dirty="0">
                <a:solidFill>
                  <a:schemeClr val="bg1"/>
                </a:solidFill>
              </a:rPr>
              <a:t>Mohon persetujuan dana</a:t>
            </a:r>
            <a:endParaRPr lang="en-US" sz="1800" dirty="0"/>
          </a:p>
          <a:p>
            <a:pPr indent="0" marL="0">
              <a:buNone/>
            </a:pPr>
            <a:r>
              <a:rPr lang="en-US" sz="4800" b="1" dirty="0">
                <a:solidFill>
                  <a:schemeClr val="accent2"/>
                </a:solidFill>
              </a:rPr>
              <a:t>Rp902.000</a:t>
            </a:r>
            <a:endParaRPr lang="en-US" sz="1800" dirty="0"/>
          </a:p>
        </p:txBody>
      </p:sp>
      <p:sp>
        <p:nvSpPr>
          <p:cNvPr id="4" name="Permohonan keterangan"/>
          <p:cNvSpPr txBox="1"/>
          <p:nvPr/>
        </p:nvSpPr>
        <p:spPr>
          <a:xfrm>
            <a:off x="7315200" y="3090672"/>
            <a:ext cx="3749040" cy="548640"/>
          </a:xfrm>
          <a:prstGeom prst="rect">
            <a:avLst/>
          </a:prstGeom>
          <a:noFill/>
          <a:ln/>
        </p:spPr>
        <p:txBody>
          <a:bodyPr wrap="square" lIns="0" tIns="0" rIns="0" bIns="0" rtlCol="0" anchor="t"/>
          <a:lstStyle/>
          <a:p>
            <a:pPr indent="0" marL="0">
              <a:buNone/>
            </a:pPr>
            <a:r>
              <a:rPr lang="en-US" sz="1400" dirty="0">
                <a:solidFill>
                  <a:schemeClr val="bg1"/>
                </a:solidFill>
              </a:rPr>
              <a:t>untuk pembelian komponen dan fabrikasi 2 PCB. Sesudah dana cair:</a:t>
            </a:r>
            <a:endParaRPr lang="en-US" sz="1400" dirty="0"/>
          </a:p>
        </p:txBody>
      </p:sp>
      <p:sp>
        <p:nvSpPr>
          <p:cNvPr id="5" name="Langkah sesudah dana"/>
          <p:cNvSpPr txBox="1"/>
          <p:nvPr/>
        </p:nvSpPr>
        <p:spPr>
          <a:xfrm>
            <a:off x="7315200" y="3703320"/>
            <a:ext cx="3749040" cy="15544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bg1"/>
                </a:solidFill>
              </a:rPr>
              <a:t>Beli komponen</a:t>
            </a:r>
            <a:endParaRPr lang="en-US" sz="1600" dirty="0"/>
          </a:p>
          <a:p>
            <a:pPr marL="342900" indent="-342900">
              <a:spcAft>
                <a:spcPts val="600"/>
              </a:spcAft>
              <a:buSzPct val="100000"/>
              <a:buFont typeface="+mj-lt"/>
              <a:buAutoNum type="arabicPeriod" startAt="1"/>
            </a:pPr>
            <a:r>
              <a:rPr lang="en-US" sz="1600" dirty="0">
                <a:solidFill>
                  <a:schemeClr val="bg1"/>
                </a:solidFill>
              </a:rPr>
              <a:t>Uji rangkaian di breadboard</a:t>
            </a:r>
            <a:endParaRPr lang="en-US" sz="1600" dirty="0"/>
          </a:p>
          <a:p>
            <a:pPr marL="342900" indent="-342900">
              <a:spcAft>
                <a:spcPts val="600"/>
              </a:spcAft>
              <a:buSzPct val="100000"/>
              <a:buFont typeface="+mj-lt"/>
              <a:buAutoNum type="arabicPeriod" startAt="1"/>
            </a:pPr>
            <a:r>
              <a:rPr lang="en-US" sz="1600" dirty="0">
                <a:solidFill>
                  <a:schemeClr val="bg1"/>
                </a:solidFill>
              </a:rPr>
              <a:t>Pesan PCB sensor + PCB utama</a:t>
            </a:r>
            <a:endParaRPr lang="en-US" sz="1600" dirty="0"/>
          </a:p>
          <a:p>
            <a:pPr marL="342900" indent="-342900">
              <a:spcAft>
                <a:spcPts val="600"/>
              </a:spcAft>
              <a:buSzPct val="100000"/>
              <a:buFont typeface="+mj-lt"/>
              <a:buAutoNum type="arabicPeriod" startAt="1"/>
            </a:pPr>
            <a:r>
              <a:rPr lang="en-US" sz="1600" dirty="0">
                <a:solidFill>
                  <a:schemeClr val="bg1"/>
                </a:solidFill>
              </a:rPr>
              <a:t>Firmware dan prototipe untuk G3</a:t>
            </a:r>
            <a:endParaRPr lang="en-US" sz="1600" dirty="0"/>
          </a:p>
        </p:txBody>
      </p:sp>
      <p:sp>
        <p:nvSpPr>
          <p:cNvPr id="6" name="Titik hias 1"/>
          <p:cNvSpPr/>
          <p:nvPr/>
        </p:nvSpPr>
        <p:spPr>
          <a:xfrm>
            <a:off x="4572000" y="5074920"/>
            <a:ext cx="155448" cy="155448"/>
          </a:xfrm>
          <a:prstGeom prst="ellipse">
            <a:avLst/>
          </a:prstGeom>
          <a:solidFill>
            <a:schemeClr val="bg1"/>
          </a:solidFill>
          <a:ln/>
        </p:spPr>
      </p:sp>
      <p:sp>
        <p:nvSpPr>
          <p:cNvPr id="7" name="Titik hias 2"/>
          <p:cNvSpPr/>
          <p:nvPr/>
        </p:nvSpPr>
        <p:spPr>
          <a:xfrm>
            <a:off x="4818888" y="5074920"/>
            <a:ext cx="155448" cy="155448"/>
          </a:xfrm>
          <a:prstGeom prst="ellipse">
            <a:avLst/>
          </a:prstGeom>
          <a:solidFill>
            <a:schemeClr val="bg1"/>
          </a:solidFill>
          <a:ln/>
        </p:spPr>
      </p:sp>
      <p:sp>
        <p:nvSpPr>
          <p:cNvPr id="8" name="Titik hias 3"/>
          <p:cNvSpPr/>
          <p:nvPr/>
        </p:nvSpPr>
        <p:spPr>
          <a:xfrm>
            <a:off x="5065776" y="5074920"/>
            <a:ext cx="155448" cy="155448"/>
          </a:xfrm>
          <a:prstGeom prst="ellipse">
            <a:avLst/>
          </a:prstGeom>
          <a:solidFill>
            <a:schemeClr val="bg1"/>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A · RAB ELEKTRIKAL (1/2)</a:t>
            </a:r>
            <a:endParaRPr lang="en-US" sz="4000" dirty="0"/>
          </a:p>
        </p:txBody>
      </p:sp>
      <p:graphicFrame>
        <p:nvGraphicFramePr>
          <p:cNvPr id="17" name="Tabel RAB elektrikal 1"/>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ESP32 DevKit WiFi Bluetooth CH340 Type-C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OLED 0,96" 128×64 I2C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Sensor reflektif QRE1113GR SMD (toko lokal)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IC multiplexer CD74HC4067 SOIC-24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driver motor TB6612FNG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Motor N20 6V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Push button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Resistor SMD 0805 (220 Ω,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30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Resistor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Buzzer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Subtotal halaman ini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Rp471.000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B · RAB ELEKTRIKAL (2/2)</a:t>
            </a:r>
            <a:endParaRPr lang="en-US" sz="4000" dirty="0"/>
          </a:p>
        </p:txBody>
      </p:sp>
      <p:graphicFrame>
        <p:nvGraphicFramePr>
          <p:cNvPr id="18" name="Tabel RAB elektrikal 2"/>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Baterai Li-ion 18650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Holder baterai 2× 18650 (seri)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BMS 2S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Modul charger 2S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Buck converter 5 V (MP1584)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Saklar on/off</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PH2.0 6 pin + header (encoder 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Komponen pendukung (header, socket, kapasitor, dioda)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XH 8 pin + kabel (perkiraan)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Fabrikasi PCB (2 papan) + ongkir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elektrikal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Rp847.000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C · RAB MEKANIK &amp; REKAP</a:t>
            </a:r>
            <a:endParaRPr lang="en-US" sz="4000" dirty="0"/>
          </a:p>
        </p:txBody>
      </p:sp>
      <p:graphicFrame>
        <p:nvGraphicFramePr>
          <p:cNvPr id="19" name="Tabel RAB mekanik"/>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Roda N20 Ø34 mm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Bracket motor N20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Skid nilon (baut, spacer, mur nilon)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Baut, mur, spacer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mekanik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
        <p:nvSpPr>
          <p:cNvPr id="4" name="Rekap Elektrikal latar"/>
          <p:cNvSpPr/>
          <p:nvPr/>
        </p:nvSpPr>
        <p:spPr>
          <a:xfrm>
            <a:off x="1124712" y="4160520"/>
            <a:ext cx="3154680" cy="1188720"/>
          </a:xfrm>
          <a:prstGeom prst="rect">
            <a:avLst/>
          </a:prstGeom>
          <a:solidFill>
            <a:schemeClr val="accent5"/>
          </a:solidFill>
          <a:ln/>
        </p:spPr>
      </p:sp>
      <p:sp>
        <p:nvSpPr>
          <p:cNvPr id="5" name="Rekap Elektrikal"/>
          <p:cNvSpPr txBox="1"/>
          <p:nvPr/>
        </p:nvSpPr>
        <p:spPr>
          <a:xfrm>
            <a:off x="130759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Elektrikal</a:t>
            </a:r>
            <a:endParaRPr lang="en-US" sz="1400" dirty="0"/>
          </a:p>
          <a:p>
            <a:pPr indent="0" marL="0">
              <a:buNone/>
            </a:pPr>
            <a:r>
              <a:rPr lang="en-US" sz="3000" b="1" dirty="0">
                <a:solidFill>
                  <a:schemeClr val="accent2"/>
                </a:solidFill>
              </a:rPr>
              <a:t>Rp847.000</a:t>
            </a:r>
            <a:endParaRPr lang="en-US" sz="1400" dirty="0"/>
          </a:p>
        </p:txBody>
      </p:sp>
      <p:sp>
        <p:nvSpPr>
          <p:cNvPr id="6" name="Rekap Mekanik latar"/>
          <p:cNvSpPr/>
          <p:nvPr/>
        </p:nvSpPr>
        <p:spPr>
          <a:xfrm>
            <a:off x="4507992" y="4160520"/>
            <a:ext cx="3154680" cy="1188720"/>
          </a:xfrm>
          <a:prstGeom prst="rect">
            <a:avLst/>
          </a:prstGeom>
          <a:solidFill>
            <a:schemeClr val="accent5"/>
          </a:solidFill>
          <a:ln/>
        </p:spPr>
      </p:sp>
      <p:sp>
        <p:nvSpPr>
          <p:cNvPr id="7" name="Rekap Mekanik"/>
          <p:cNvSpPr txBox="1"/>
          <p:nvPr/>
        </p:nvSpPr>
        <p:spPr>
          <a:xfrm>
            <a:off x="469087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Mekanik</a:t>
            </a:r>
            <a:endParaRPr lang="en-US" sz="1400" dirty="0"/>
          </a:p>
          <a:p>
            <a:pPr indent="0" marL="0">
              <a:buNone/>
            </a:pPr>
            <a:r>
              <a:rPr lang="en-US" sz="3000" b="1" dirty="0">
                <a:solidFill>
                  <a:schemeClr val="accent2"/>
                </a:solidFill>
              </a:rPr>
              <a:t>Rp55.000</a:t>
            </a:r>
            <a:endParaRPr lang="en-US" sz="1400" dirty="0"/>
          </a:p>
        </p:txBody>
      </p:sp>
      <p:sp>
        <p:nvSpPr>
          <p:cNvPr id="8" name="Rekap Total RAB latar"/>
          <p:cNvSpPr/>
          <p:nvPr/>
        </p:nvSpPr>
        <p:spPr>
          <a:xfrm>
            <a:off x="7891272" y="4160520"/>
            <a:ext cx="3154680" cy="1188720"/>
          </a:xfrm>
          <a:prstGeom prst="rect">
            <a:avLst/>
          </a:prstGeom>
          <a:solidFill>
            <a:schemeClr val="accent1"/>
          </a:solidFill>
          <a:ln/>
        </p:spPr>
      </p:sp>
      <p:sp>
        <p:nvSpPr>
          <p:cNvPr id="9" name="Rekap Total RAB"/>
          <p:cNvSpPr txBox="1"/>
          <p:nvPr/>
        </p:nvSpPr>
        <p:spPr>
          <a:xfrm>
            <a:off x="807415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Total RAB</a:t>
            </a:r>
            <a:endParaRPr lang="en-US" sz="1400" dirty="0"/>
          </a:p>
          <a:p>
            <a:pPr indent="0" marL="0">
              <a:buNone/>
            </a:pPr>
            <a:r>
              <a:rPr lang="en-US" sz="3000" b="1" dirty="0">
                <a:solidFill>
                  <a:schemeClr val="bg1"/>
                </a:solidFill>
              </a:rPr>
              <a:t>Rp902.000</a:t>
            </a:r>
            <a:endParaRPr lang="en-US" sz="1400" dirty="0"/>
          </a:p>
        </p:txBody>
      </p:sp>
    </p:spTree>
  </p:cSld>
  <p:clrMapOvr>
    <a:masterClrMapping/>
  </p:clrMapOvr>
</p:sld>
</file>

<file path=ppt/theme/theme1.xml><?xml version="1.0" encoding="utf-8"?>
<a:theme xmlns:a="http://schemas.openxmlformats.org/drawingml/2006/main" name="LFM Navy">
  <a:themeElements>
    <a:clrScheme name="LFM Navy">
      <a:dk1>
        <a:srgbClr val="0D1D33"/>
      </a:dk1>
      <a:lt1>
        <a:srgbClr val="FFFFFF"/>
      </a:lt1>
      <a:dk2>
        <a:srgbClr val="14273C"/>
      </a:dk2>
      <a:lt2>
        <a:srgbClr val="BFD3E6"/>
      </a:lt2>
      <a:accent1>
        <a:srgbClr val="4A6F92"/>
      </a:accent1>
      <a:accent2>
        <a:srgbClr val="9CC7EE"/>
      </a:accent2>
      <a:accent3>
        <a:srgbClr val="6386A6"/>
      </a:accent3>
      <a:accent4>
        <a:srgbClr val="1F5981"/>
      </a:accent4>
      <a:accent5>
        <a:srgbClr val="1A3152"/>
      </a:accent5>
      <a:accent6>
        <a:srgbClr val="E57373"/>
      </a:accent6>
      <a:hlink>
        <a:srgbClr val="9CC7EE"/>
      </a:hlink>
      <a:folHlink>
        <a:srgbClr val="BFD3E6"/>
      </a:folHlink>
    </a:clrScheme>
    <a:fontScheme name="LFM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Micro: Pitching RAB</dc:title>
  <dc:subject>PjBL Semester 5 DTEO FV ITS</dc:subject>
  <dc:creator>Kelompok P01-5</dc:creator>
  <cp:lastModifiedBy>Kelompok P01-5</cp:lastModifiedBy>
  <cp:revision>1</cp:revision>
  <dcterms:created xsi:type="dcterms:W3CDTF">2026-10-26T05:18:36Z</dcterms:created>
  <dcterms:modified xsi:type="dcterms:W3CDTF">2026-10-26T05:18:36Z</dcterms:modified>
</cp:coreProperties>
</file>